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Poppins Bold" charset="1" panose="00000800000000000000"/>
      <p:regular r:id="rId20"/>
    </p:embeddedFont>
    <p:embeddedFont>
      <p:font typeface="Poppins" charset="1" panose="00000500000000000000"/>
      <p:regular r:id="rId21"/>
    </p:embeddedFont>
    <p:embeddedFont>
      <p:font typeface="Bricolage Grotesque" charset="1" panose="020B0605040402000204"/>
      <p:regular r:id="rId22"/>
    </p:embeddedFont>
    <p:embeddedFont>
      <p:font typeface="Bricolage Grotesque Bold" charset="1" panose="020B0605040402000204"/>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9.jpeg" Type="http://schemas.openxmlformats.org/officeDocument/2006/relationships/image"/><Relationship Id="rId5" Target="../media/image10.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15.png" Type="http://schemas.openxmlformats.org/officeDocument/2006/relationships/image"/><Relationship Id="rId7" Target="../media/image16.svg" Type="http://schemas.openxmlformats.org/officeDocument/2006/relationships/image"/><Relationship Id="rId8" Target="../media/image17.png" Type="http://schemas.openxmlformats.org/officeDocument/2006/relationships/image"/><Relationship Id="rId9" Target="../media/image18.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20.png" Type="http://schemas.openxmlformats.org/officeDocument/2006/relationships/image"/><Relationship Id="rId4" Target="../media/image21.png" Type="http://schemas.openxmlformats.org/officeDocument/2006/relationships/image"/><Relationship Id="rId5" Target="../media/image22.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24.svg" Type="http://schemas.openxmlformats.org/officeDocument/2006/relationships/image"/><Relationship Id="rId4" Target="../media/image25.png" Type="http://schemas.openxmlformats.org/officeDocument/2006/relationships/image"/><Relationship Id="rId5" Target="../media/image26.svg" Type="http://schemas.openxmlformats.org/officeDocument/2006/relationships/image"/><Relationship Id="rId6" Target="../media/image27.png" Type="http://schemas.openxmlformats.org/officeDocument/2006/relationships/image"/><Relationship Id="rId7" Target="../media/image28.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png" Type="http://schemas.openxmlformats.org/officeDocument/2006/relationships/image"/><Relationship Id="rId3" Target="../media/image30.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1.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2415882" cy="10287000"/>
            <a:chOff x="0" y="0"/>
            <a:chExt cx="636282" cy="2709333"/>
          </a:xfrm>
        </p:grpSpPr>
        <p:sp>
          <p:nvSpPr>
            <p:cNvPr name="Freeform 3" id="3"/>
            <p:cNvSpPr/>
            <p:nvPr/>
          </p:nvSpPr>
          <p:spPr>
            <a:xfrm flipH="false" flipV="false" rot="0">
              <a:off x="0" y="0"/>
              <a:ext cx="636282" cy="2709333"/>
            </a:xfrm>
            <a:custGeom>
              <a:avLst/>
              <a:gdLst/>
              <a:ahLst/>
              <a:cxnLst/>
              <a:rect r="r" b="b" t="t" l="l"/>
              <a:pathLst>
                <a:path h="2709333" w="636282">
                  <a:moveTo>
                    <a:pt x="0" y="0"/>
                  </a:moveTo>
                  <a:lnTo>
                    <a:pt x="636282" y="0"/>
                  </a:lnTo>
                  <a:lnTo>
                    <a:pt x="636282" y="2709333"/>
                  </a:lnTo>
                  <a:lnTo>
                    <a:pt x="0" y="2709333"/>
                  </a:ln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4" id="4"/>
            <p:cNvSpPr txBox="true"/>
            <p:nvPr/>
          </p:nvSpPr>
          <p:spPr>
            <a:xfrm>
              <a:off x="0" y="-57150"/>
              <a:ext cx="636282" cy="2766483"/>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0">
            <a:off x="9650950" y="1028700"/>
            <a:ext cx="9241467" cy="9258300"/>
          </a:xfrm>
          <a:custGeom>
            <a:avLst/>
            <a:gdLst/>
            <a:ahLst/>
            <a:cxnLst/>
            <a:rect r="r" b="b" t="t" l="l"/>
            <a:pathLst>
              <a:path h="9258300" w="9241467">
                <a:moveTo>
                  <a:pt x="0" y="0"/>
                </a:moveTo>
                <a:lnTo>
                  <a:pt x="9241467" y="0"/>
                </a:lnTo>
                <a:lnTo>
                  <a:pt x="9241467" y="9258300"/>
                </a:lnTo>
                <a:lnTo>
                  <a:pt x="0" y="92583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3320099" y="7330105"/>
            <a:ext cx="2772573" cy="1641261"/>
            <a:chOff x="0" y="0"/>
            <a:chExt cx="3696764" cy="2188348"/>
          </a:xfrm>
        </p:grpSpPr>
        <p:grpSp>
          <p:nvGrpSpPr>
            <p:cNvPr name="Group 7" id="7"/>
            <p:cNvGrpSpPr/>
            <p:nvPr/>
          </p:nvGrpSpPr>
          <p:grpSpPr>
            <a:xfrm rot="0">
              <a:off x="0" y="385418"/>
              <a:ext cx="134591" cy="134591"/>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9" id="9"/>
              <p:cNvSpPr txBox="true"/>
              <p:nvPr/>
            </p:nvSpPr>
            <p:spPr>
              <a:xfrm>
                <a:off x="76200" y="104775"/>
                <a:ext cx="660400" cy="631825"/>
              </a:xfrm>
              <a:prstGeom prst="rect">
                <a:avLst/>
              </a:prstGeom>
            </p:spPr>
            <p:txBody>
              <a:bodyPr anchor="ctr" rtlCol="false" tIns="50800" lIns="50800" bIns="50800" rIns="50800"/>
              <a:lstStyle/>
              <a:p>
                <a:pPr algn="ctr">
                  <a:lnSpc>
                    <a:spcPts val="1308"/>
                  </a:lnSpc>
                </a:pPr>
              </a:p>
            </p:txBody>
          </p:sp>
        </p:grpSp>
        <p:sp>
          <p:nvSpPr>
            <p:cNvPr name="TextBox 10" id="10"/>
            <p:cNvSpPr txBox="true"/>
            <p:nvPr/>
          </p:nvSpPr>
          <p:spPr>
            <a:xfrm rot="0">
              <a:off x="506484" y="47625"/>
              <a:ext cx="2749098" cy="381382"/>
            </a:xfrm>
            <a:prstGeom prst="rect">
              <a:avLst/>
            </a:prstGeom>
          </p:spPr>
          <p:txBody>
            <a:bodyPr anchor="t" rtlCol="false" tIns="0" lIns="0" bIns="0" rIns="0">
              <a:spAutoFit/>
            </a:bodyPr>
            <a:lstStyle/>
            <a:p>
              <a:pPr algn="l">
                <a:lnSpc>
                  <a:spcPts val="1871"/>
                </a:lnSpc>
              </a:pPr>
              <a:r>
                <a:rPr lang="en-US" b="true" sz="2150">
                  <a:gradFill>
                    <a:gsLst>
                      <a:gs pos="0">
                        <a:srgbClr val="293E9C">
                          <a:alpha val="100000"/>
                        </a:srgbClr>
                      </a:gs>
                      <a:gs pos="100000">
                        <a:srgbClr val="3A58E4">
                          <a:alpha val="100000"/>
                        </a:srgbClr>
                      </a:gs>
                    </a:gsLst>
                    <a:path path="circle">
                      <a:fillToRect l="0" r="100000" t="0" b="100000"/>
                    </a:path>
                    <a:tileRect r="0" l="-100000" b="0" t="-100000"/>
                  </a:gradFill>
                  <a:latin typeface="Poppins Bold"/>
                  <a:ea typeface="Poppins Bold"/>
                  <a:cs typeface="Poppins Bold"/>
                  <a:sym typeface="Poppins Bold"/>
                </a:rPr>
                <a:t>PRESENTED BY</a:t>
              </a:r>
            </a:p>
          </p:txBody>
        </p:sp>
        <p:sp>
          <p:nvSpPr>
            <p:cNvPr name="TextBox 11" id="11"/>
            <p:cNvSpPr txBox="true"/>
            <p:nvPr/>
          </p:nvSpPr>
          <p:spPr>
            <a:xfrm rot="0">
              <a:off x="506484" y="536670"/>
              <a:ext cx="3190280" cy="381382"/>
            </a:xfrm>
            <a:prstGeom prst="rect">
              <a:avLst/>
            </a:prstGeom>
          </p:spPr>
          <p:txBody>
            <a:bodyPr anchor="t" rtlCol="false" tIns="0" lIns="0" bIns="0" rIns="0">
              <a:spAutoFit/>
            </a:bodyPr>
            <a:lstStyle/>
            <a:p>
              <a:pPr algn="l">
                <a:lnSpc>
                  <a:spcPts val="1871"/>
                </a:lnSpc>
              </a:pPr>
              <a:r>
                <a:rPr lang="en-US" sz="2150">
                  <a:gradFill>
                    <a:gsLst>
                      <a:gs pos="0">
                        <a:srgbClr val="293E9C">
                          <a:alpha val="100000"/>
                        </a:srgbClr>
                      </a:gs>
                      <a:gs pos="100000">
                        <a:srgbClr val="3A58E4">
                          <a:alpha val="100000"/>
                        </a:srgbClr>
                      </a:gs>
                    </a:gsLst>
                    <a:path path="circle">
                      <a:fillToRect l="0" r="100000" t="0" b="100000"/>
                    </a:path>
                    <a:tileRect r="0" l="-100000" b="0" t="-100000"/>
                  </a:gradFill>
                  <a:latin typeface="Poppins"/>
                  <a:ea typeface="Poppins"/>
                  <a:cs typeface="Poppins"/>
                  <a:sym typeface="Poppins"/>
                </a:rPr>
                <a:t>SYED OMER</a:t>
              </a:r>
            </a:p>
          </p:txBody>
        </p:sp>
        <p:sp>
          <p:nvSpPr>
            <p:cNvPr name="TextBox 12" id="12"/>
            <p:cNvSpPr txBox="true"/>
            <p:nvPr/>
          </p:nvSpPr>
          <p:spPr>
            <a:xfrm rot="0">
              <a:off x="506484" y="1323462"/>
              <a:ext cx="2749098" cy="381382"/>
            </a:xfrm>
            <a:prstGeom prst="rect">
              <a:avLst/>
            </a:prstGeom>
          </p:spPr>
          <p:txBody>
            <a:bodyPr anchor="t" rtlCol="false" tIns="0" lIns="0" bIns="0" rIns="0">
              <a:spAutoFit/>
            </a:bodyPr>
            <a:lstStyle/>
            <a:p>
              <a:pPr algn="l">
                <a:lnSpc>
                  <a:spcPts val="1871"/>
                </a:lnSpc>
              </a:pPr>
              <a:r>
                <a:rPr lang="en-US" b="true" sz="2150">
                  <a:gradFill>
                    <a:gsLst>
                      <a:gs pos="0">
                        <a:srgbClr val="293E9C">
                          <a:alpha val="100000"/>
                        </a:srgbClr>
                      </a:gs>
                      <a:gs pos="100000">
                        <a:srgbClr val="3A58E4">
                          <a:alpha val="100000"/>
                        </a:srgbClr>
                      </a:gs>
                    </a:gsLst>
                    <a:path path="circle">
                      <a:fillToRect l="0" r="100000" t="0" b="100000"/>
                    </a:path>
                    <a:tileRect r="0" l="-100000" b="0" t="-100000"/>
                  </a:gradFill>
                  <a:latin typeface="Poppins Bold"/>
                  <a:ea typeface="Poppins Bold"/>
                  <a:cs typeface="Poppins Bold"/>
                  <a:sym typeface="Poppins Bold"/>
                </a:rPr>
                <a:t>DEPARTMENT</a:t>
              </a:r>
            </a:p>
          </p:txBody>
        </p:sp>
        <p:sp>
          <p:nvSpPr>
            <p:cNvPr name="TextBox 13" id="13"/>
            <p:cNvSpPr txBox="true"/>
            <p:nvPr/>
          </p:nvSpPr>
          <p:spPr>
            <a:xfrm rot="0">
              <a:off x="506484" y="1806966"/>
              <a:ext cx="3190280" cy="381382"/>
            </a:xfrm>
            <a:prstGeom prst="rect">
              <a:avLst/>
            </a:prstGeom>
          </p:spPr>
          <p:txBody>
            <a:bodyPr anchor="t" rtlCol="false" tIns="0" lIns="0" bIns="0" rIns="0">
              <a:spAutoFit/>
            </a:bodyPr>
            <a:lstStyle/>
            <a:p>
              <a:pPr algn="l">
                <a:lnSpc>
                  <a:spcPts val="1871"/>
                </a:lnSpc>
              </a:pPr>
              <a:r>
                <a:rPr lang="en-US" sz="2150">
                  <a:gradFill>
                    <a:gsLst>
                      <a:gs pos="0">
                        <a:srgbClr val="293E9C">
                          <a:alpha val="100000"/>
                        </a:srgbClr>
                      </a:gs>
                      <a:gs pos="100000">
                        <a:srgbClr val="3A58E4">
                          <a:alpha val="100000"/>
                        </a:srgbClr>
                      </a:gs>
                    </a:gsLst>
                    <a:path path="circle">
                      <a:fillToRect l="0" r="100000" t="0" b="100000"/>
                    </a:path>
                    <a:tileRect r="0" l="-100000" b="0" t="-100000"/>
                  </a:gradFill>
                  <a:latin typeface="Poppins"/>
                  <a:ea typeface="Poppins"/>
                  <a:cs typeface="Poppins"/>
                  <a:sym typeface="Poppins"/>
                </a:rPr>
                <a:t>Data Analytics</a:t>
              </a:r>
            </a:p>
          </p:txBody>
        </p:sp>
        <p:grpSp>
          <p:nvGrpSpPr>
            <p:cNvPr name="Group 14" id="14"/>
            <p:cNvGrpSpPr/>
            <p:nvPr/>
          </p:nvGrpSpPr>
          <p:grpSpPr>
            <a:xfrm rot="0">
              <a:off x="0" y="1661082"/>
              <a:ext cx="134591" cy="134591"/>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16" id="16"/>
              <p:cNvSpPr txBox="true"/>
              <p:nvPr/>
            </p:nvSpPr>
            <p:spPr>
              <a:xfrm>
                <a:off x="76200" y="104775"/>
                <a:ext cx="660400" cy="631825"/>
              </a:xfrm>
              <a:prstGeom prst="rect">
                <a:avLst/>
              </a:prstGeom>
            </p:spPr>
            <p:txBody>
              <a:bodyPr anchor="ctr" rtlCol="false" tIns="50800" lIns="50800" bIns="50800" rIns="50800"/>
              <a:lstStyle/>
              <a:p>
                <a:pPr algn="ctr">
                  <a:lnSpc>
                    <a:spcPts val="1308"/>
                  </a:lnSpc>
                </a:pPr>
              </a:p>
            </p:txBody>
          </p:sp>
        </p:grpSp>
      </p:grpSp>
      <p:sp>
        <p:nvSpPr>
          <p:cNvPr name="Freeform 17" id="17"/>
          <p:cNvSpPr/>
          <p:nvPr/>
        </p:nvSpPr>
        <p:spPr>
          <a:xfrm flipH="false" flipV="false" rot="0">
            <a:off x="320816" y="1624779"/>
            <a:ext cx="1793786" cy="1565486"/>
          </a:xfrm>
          <a:custGeom>
            <a:avLst/>
            <a:gdLst/>
            <a:ahLst/>
            <a:cxnLst/>
            <a:rect r="r" b="b" t="t" l="l"/>
            <a:pathLst>
              <a:path h="1565486" w="1793786">
                <a:moveTo>
                  <a:pt x="0" y="0"/>
                </a:moveTo>
                <a:lnTo>
                  <a:pt x="1793787" y="0"/>
                </a:lnTo>
                <a:lnTo>
                  <a:pt x="1793787" y="1565486"/>
                </a:lnTo>
                <a:lnTo>
                  <a:pt x="0" y="15654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8" id="18"/>
          <p:cNvSpPr txBox="true"/>
          <p:nvPr/>
        </p:nvSpPr>
        <p:spPr>
          <a:xfrm rot="0">
            <a:off x="3320099" y="1805754"/>
            <a:ext cx="5996813" cy="3413760"/>
          </a:xfrm>
          <a:prstGeom prst="rect">
            <a:avLst/>
          </a:prstGeom>
        </p:spPr>
        <p:txBody>
          <a:bodyPr anchor="t" rtlCol="false" tIns="0" lIns="0" bIns="0" rIns="0">
            <a:spAutoFit/>
          </a:bodyPr>
          <a:lstStyle/>
          <a:p>
            <a:pPr algn="l">
              <a:lnSpc>
                <a:spcPts val="8820"/>
              </a:lnSpc>
            </a:pPr>
            <a:r>
              <a:rPr lang="en-US" sz="9000" spc="-576">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RemoteOk Job Market Analysis</a:t>
            </a:r>
          </a:p>
        </p:txBody>
      </p:sp>
      <p:sp>
        <p:nvSpPr>
          <p:cNvPr name="TextBox 19" id="19"/>
          <p:cNvSpPr txBox="true"/>
          <p:nvPr/>
        </p:nvSpPr>
        <p:spPr>
          <a:xfrm rot="0">
            <a:off x="3320099" y="5923425"/>
            <a:ext cx="5696631" cy="747955"/>
          </a:xfrm>
          <a:prstGeom prst="rect">
            <a:avLst/>
          </a:prstGeom>
        </p:spPr>
        <p:txBody>
          <a:bodyPr anchor="t" rtlCol="false" tIns="0" lIns="0" bIns="0" rIns="0">
            <a:spAutoFit/>
          </a:bodyPr>
          <a:lstStyle/>
          <a:p>
            <a:pPr algn="just">
              <a:lnSpc>
                <a:spcPts val="2969"/>
              </a:lnSpc>
            </a:pPr>
            <a:r>
              <a:rPr lang="en-US" sz="2319" spc="-6">
                <a:solidFill>
                  <a:srgbClr val="3A58E4"/>
                </a:solidFill>
                <a:latin typeface="Poppins"/>
                <a:ea typeface="Poppins"/>
                <a:cs typeface="Poppins"/>
                <a:sym typeface="Poppins"/>
              </a:rPr>
              <a:t>An End-to-End Data Analytics Project Using Python, Pandas, and Tableau</a:t>
            </a:r>
          </a:p>
        </p:txBody>
      </p:sp>
      <p:sp>
        <p:nvSpPr>
          <p:cNvPr name="TextBox 20" id="20"/>
          <p:cNvSpPr txBox="true"/>
          <p:nvPr/>
        </p:nvSpPr>
        <p:spPr>
          <a:xfrm rot="0">
            <a:off x="370508" y="3604412"/>
            <a:ext cx="1704171" cy="342158"/>
          </a:xfrm>
          <a:prstGeom prst="rect">
            <a:avLst/>
          </a:prstGeom>
        </p:spPr>
        <p:txBody>
          <a:bodyPr anchor="t" rtlCol="false" tIns="0" lIns="0" bIns="0" rIns="0">
            <a:spAutoFit/>
          </a:bodyPr>
          <a:lstStyle/>
          <a:p>
            <a:pPr algn="ctr">
              <a:lnSpc>
                <a:spcPts val="2421"/>
              </a:lnSpc>
            </a:pPr>
            <a:r>
              <a:rPr lang="en-US" b="true" sz="2262">
                <a:solidFill>
                  <a:srgbClr val="FFFFFF"/>
                </a:solidFill>
                <a:latin typeface="Poppins Bold"/>
                <a:ea typeface="Poppins Bold"/>
                <a:cs typeface="Poppins Bold"/>
                <a:sym typeface="Poppins Bold"/>
              </a:rPr>
              <a:t>EVOASTRA</a:t>
            </a:r>
          </a:p>
        </p:txBody>
      </p:sp>
      <p:sp>
        <p:nvSpPr>
          <p:cNvPr name="TextBox 21" id="21"/>
          <p:cNvSpPr txBox="true"/>
          <p:nvPr/>
        </p:nvSpPr>
        <p:spPr>
          <a:xfrm rot="0">
            <a:off x="365624" y="4061347"/>
            <a:ext cx="1704171" cy="342158"/>
          </a:xfrm>
          <a:prstGeom prst="rect">
            <a:avLst/>
          </a:prstGeom>
        </p:spPr>
        <p:txBody>
          <a:bodyPr anchor="t" rtlCol="false" tIns="0" lIns="0" bIns="0" rIns="0">
            <a:spAutoFit/>
          </a:bodyPr>
          <a:lstStyle/>
          <a:p>
            <a:pPr algn="ctr">
              <a:lnSpc>
                <a:spcPts val="2421"/>
              </a:lnSpc>
            </a:pPr>
            <a:r>
              <a:rPr lang="en-US" sz="2262">
                <a:solidFill>
                  <a:srgbClr val="FFFFFF"/>
                </a:solidFill>
                <a:latin typeface="Poppins"/>
                <a:ea typeface="Poppins"/>
                <a:cs typeface="Poppins"/>
                <a:sym typeface="Poppins"/>
              </a:rPr>
              <a:t>VENTURES</a:t>
            </a:r>
          </a:p>
        </p:txBody>
      </p:sp>
      <p:grpSp>
        <p:nvGrpSpPr>
          <p:cNvPr name="Group 22" id="22"/>
          <p:cNvGrpSpPr/>
          <p:nvPr/>
        </p:nvGrpSpPr>
        <p:grpSpPr>
          <a:xfrm rot="0">
            <a:off x="360740" y="8287049"/>
            <a:ext cx="1713939" cy="684317"/>
            <a:chOff x="0" y="0"/>
            <a:chExt cx="2285252" cy="912422"/>
          </a:xfrm>
        </p:grpSpPr>
        <p:sp>
          <p:nvSpPr>
            <p:cNvPr name="TextBox 23" id="23"/>
            <p:cNvSpPr txBox="true"/>
            <p:nvPr/>
          </p:nvSpPr>
          <p:spPr>
            <a:xfrm rot="0">
              <a:off x="0" y="0"/>
              <a:ext cx="2272228" cy="456211"/>
            </a:xfrm>
            <a:prstGeom prst="rect">
              <a:avLst/>
            </a:prstGeom>
          </p:spPr>
          <p:txBody>
            <a:bodyPr anchor="t" rtlCol="false" tIns="0" lIns="0" bIns="0" rIns="0">
              <a:spAutoFit/>
            </a:bodyPr>
            <a:lstStyle/>
            <a:p>
              <a:pPr algn="ctr">
                <a:lnSpc>
                  <a:spcPts val="2421"/>
                </a:lnSpc>
              </a:pPr>
              <a:r>
                <a:rPr lang="en-US" b="true" sz="2262">
                  <a:solidFill>
                    <a:srgbClr val="FFFFFF"/>
                  </a:solidFill>
                  <a:latin typeface="Poppins Bold"/>
                  <a:ea typeface="Poppins Bold"/>
                  <a:cs typeface="Poppins Bold"/>
                  <a:sym typeface="Poppins Bold"/>
                </a:rPr>
                <a:t>2036</a:t>
              </a:r>
            </a:p>
          </p:txBody>
        </p:sp>
        <p:sp>
          <p:nvSpPr>
            <p:cNvPr name="TextBox 24" id="24"/>
            <p:cNvSpPr txBox="true"/>
            <p:nvPr/>
          </p:nvSpPr>
          <p:spPr>
            <a:xfrm rot="0">
              <a:off x="13024" y="456211"/>
              <a:ext cx="2272228" cy="456211"/>
            </a:xfrm>
            <a:prstGeom prst="rect">
              <a:avLst/>
            </a:prstGeom>
          </p:spPr>
          <p:txBody>
            <a:bodyPr anchor="t" rtlCol="false" tIns="0" lIns="0" bIns="0" rIns="0">
              <a:spAutoFit/>
            </a:bodyPr>
            <a:lstStyle/>
            <a:p>
              <a:pPr algn="ctr">
                <a:lnSpc>
                  <a:spcPts val="2421"/>
                </a:lnSpc>
              </a:pPr>
              <a:r>
                <a:rPr lang="en-US" sz="2262">
                  <a:solidFill>
                    <a:srgbClr val="FFFFFF"/>
                  </a:solidFill>
                  <a:latin typeface="Poppins"/>
                  <a:ea typeface="Poppins"/>
                  <a:cs typeface="Poppins"/>
                  <a:sym typeface="Poppins"/>
                </a:rPr>
                <a:t>Insights</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33665" y="4717124"/>
            <a:ext cx="3625123" cy="3862190"/>
          </a:xfrm>
          <a:prstGeom prst="rect">
            <a:avLst/>
          </a:prstGeom>
        </p:spPr>
        <p:txBody>
          <a:bodyPr anchor="t" rtlCol="false" tIns="0" lIns="0" bIns="0" rIns="0">
            <a:spAutoFit/>
          </a:bodyPr>
          <a:lstStyle/>
          <a:p>
            <a:pPr algn="l" marL="542174" indent="-271087" lvl="1">
              <a:lnSpc>
                <a:spcPts val="6278"/>
              </a:lnSpc>
              <a:buFont typeface="Arial"/>
              <a:buChar char="•"/>
            </a:pPr>
            <a:r>
              <a:rPr lang="en-US" sz="2511" spc="-160">
                <a:solidFill>
                  <a:srgbClr val="3A58E4"/>
                </a:solidFill>
                <a:latin typeface="Poppins"/>
                <a:ea typeface="Poppins"/>
                <a:cs typeface="Poppins"/>
                <a:sym typeface="Poppins"/>
              </a:rPr>
              <a:t>Project Overview</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project Objectives</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Data Collection</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Methodology</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Dashboard KPIs</a:t>
            </a:r>
          </a:p>
        </p:txBody>
      </p:sp>
      <p:sp>
        <p:nvSpPr>
          <p:cNvPr name="AutoShape 3" id="3"/>
          <p:cNvSpPr/>
          <p:nvPr/>
        </p:nvSpPr>
        <p:spPr>
          <a:xfrm>
            <a:off x="4188847" y="5233301"/>
            <a:ext cx="3866216" cy="0"/>
          </a:xfrm>
          <a:prstGeom prst="line">
            <a:avLst/>
          </a:prstGeom>
          <a:ln cap="rnd" w="9525">
            <a:solidFill>
              <a:srgbClr val="3A58E4"/>
            </a:solidFill>
            <a:prstDash val="solid"/>
            <a:headEnd type="none" len="sm" w="sm"/>
            <a:tailEnd type="none" len="sm" w="sm"/>
          </a:ln>
        </p:spPr>
      </p:sp>
      <p:sp>
        <p:nvSpPr>
          <p:cNvPr name="AutoShape 4" id="4"/>
          <p:cNvSpPr/>
          <p:nvPr/>
        </p:nvSpPr>
        <p:spPr>
          <a:xfrm>
            <a:off x="4188847" y="6026742"/>
            <a:ext cx="3866216" cy="0"/>
          </a:xfrm>
          <a:prstGeom prst="line">
            <a:avLst/>
          </a:prstGeom>
          <a:ln cap="rnd" w="9525">
            <a:solidFill>
              <a:srgbClr val="3A58E4"/>
            </a:solidFill>
            <a:prstDash val="solid"/>
            <a:headEnd type="none" len="sm" w="sm"/>
            <a:tailEnd type="none" len="sm" w="sm"/>
          </a:ln>
        </p:spPr>
      </p:sp>
      <p:sp>
        <p:nvSpPr>
          <p:cNvPr name="AutoShape 5" id="5"/>
          <p:cNvSpPr/>
          <p:nvPr/>
        </p:nvSpPr>
        <p:spPr>
          <a:xfrm>
            <a:off x="3875499" y="6820183"/>
            <a:ext cx="4179564" cy="0"/>
          </a:xfrm>
          <a:prstGeom prst="line">
            <a:avLst/>
          </a:prstGeom>
          <a:ln cap="rnd" w="9525">
            <a:solidFill>
              <a:srgbClr val="3A58E4"/>
            </a:solidFill>
            <a:prstDash val="solid"/>
            <a:headEnd type="none" len="sm" w="sm"/>
            <a:tailEnd type="none" len="sm" w="sm"/>
          </a:ln>
        </p:spPr>
      </p:sp>
      <p:sp>
        <p:nvSpPr>
          <p:cNvPr name="AutoShape 6" id="6"/>
          <p:cNvSpPr/>
          <p:nvPr/>
        </p:nvSpPr>
        <p:spPr>
          <a:xfrm>
            <a:off x="4355079" y="7611677"/>
            <a:ext cx="3699984" cy="0"/>
          </a:xfrm>
          <a:prstGeom prst="line">
            <a:avLst/>
          </a:prstGeom>
          <a:ln cap="rnd" w="9525">
            <a:solidFill>
              <a:srgbClr val="3A58E4"/>
            </a:solidFill>
            <a:prstDash val="solid"/>
            <a:headEnd type="none" len="sm" w="sm"/>
            <a:tailEnd type="none" len="sm" w="sm"/>
          </a:ln>
        </p:spPr>
      </p:sp>
      <p:sp>
        <p:nvSpPr>
          <p:cNvPr name="AutoShape 7" id="7"/>
          <p:cNvSpPr/>
          <p:nvPr/>
        </p:nvSpPr>
        <p:spPr>
          <a:xfrm>
            <a:off x="4883376" y="8403541"/>
            <a:ext cx="3171687" cy="0"/>
          </a:xfrm>
          <a:prstGeom prst="line">
            <a:avLst/>
          </a:prstGeom>
          <a:ln cap="rnd" w="9525">
            <a:solidFill>
              <a:srgbClr val="3A58E4"/>
            </a:solidFill>
            <a:prstDash val="solid"/>
            <a:headEnd type="none" len="sm" w="sm"/>
            <a:tailEnd type="none" len="sm" w="sm"/>
          </a:ln>
        </p:spPr>
      </p:sp>
      <p:sp>
        <p:nvSpPr>
          <p:cNvPr name="TextBox 8" id="8"/>
          <p:cNvSpPr txBox="true"/>
          <p:nvPr/>
        </p:nvSpPr>
        <p:spPr>
          <a:xfrm rot="0">
            <a:off x="9452665" y="4717124"/>
            <a:ext cx="4729856" cy="3862190"/>
          </a:xfrm>
          <a:prstGeom prst="rect">
            <a:avLst/>
          </a:prstGeom>
        </p:spPr>
        <p:txBody>
          <a:bodyPr anchor="t" rtlCol="false" tIns="0" lIns="0" bIns="0" rIns="0">
            <a:spAutoFit/>
          </a:bodyPr>
          <a:lstStyle/>
          <a:p>
            <a:pPr algn="l" marL="542174" indent="-271087" lvl="1">
              <a:lnSpc>
                <a:spcPts val="6278"/>
              </a:lnSpc>
              <a:buFont typeface="Arial"/>
              <a:buChar char="•"/>
            </a:pPr>
            <a:r>
              <a:rPr lang="en-US" sz="2511" spc="-160">
                <a:solidFill>
                  <a:srgbClr val="3A58E4"/>
                </a:solidFill>
                <a:latin typeface="Poppins"/>
                <a:ea typeface="Poppins"/>
                <a:cs typeface="Poppins"/>
                <a:sym typeface="Poppins"/>
              </a:rPr>
              <a:t>Dashboard Overview</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Key Insights </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Data Quality Assessments</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Future Enhancements</a:t>
            </a:r>
          </a:p>
          <a:p>
            <a:pPr algn="l" marL="542174" indent="-271087" lvl="1">
              <a:lnSpc>
                <a:spcPts val="6278"/>
              </a:lnSpc>
              <a:buFont typeface="Arial"/>
              <a:buChar char="•"/>
            </a:pPr>
            <a:r>
              <a:rPr lang="en-US" sz="2511" spc="-160">
                <a:solidFill>
                  <a:srgbClr val="3A58E4"/>
                </a:solidFill>
                <a:latin typeface="Poppins"/>
                <a:ea typeface="Poppins"/>
                <a:cs typeface="Poppins"/>
                <a:sym typeface="Poppins"/>
              </a:rPr>
              <a:t>Conclusion Q&amp;A</a:t>
            </a:r>
          </a:p>
        </p:txBody>
      </p:sp>
      <p:sp>
        <p:nvSpPr>
          <p:cNvPr name="AutoShape 9" id="9"/>
          <p:cNvSpPr/>
          <p:nvPr/>
        </p:nvSpPr>
        <p:spPr>
          <a:xfrm flipV="true">
            <a:off x="13733801" y="5233301"/>
            <a:ext cx="2840263" cy="0"/>
          </a:xfrm>
          <a:prstGeom prst="line">
            <a:avLst/>
          </a:prstGeom>
          <a:ln cap="rnd" w="9525">
            <a:solidFill>
              <a:srgbClr val="3A58E4"/>
            </a:solidFill>
            <a:prstDash val="solid"/>
            <a:headEnd type="none" len="sm" w="sm"/>
            <a:tailEnd type="none" len="sm" w="sm"/>
          </a:ln>
        </p:spPr>
      </p:sp>
      <p:sp>
        <p:nvSpPr>
          <p:cNvPr name="AutoShape 10" id="10"/>
          <p:cNvSpPr/>
          <p:nvPr/>
        </p:nvSpPr>
        <p:spPr>
          <a:xfrm flipV="true">
            <a:off x="13077788" y="6026742"/>
            <a:ext cx="3496276" cy="0"/>
          </a:xfrm>
          <a:prstGeom prst="line">
            <a:avLst/>
          </a:prstGeom>
          <a:ln cap="rnd" w="9525">
            <a:solidFill>
              <a:srgbClr val="3A58E4"/>
            </a:solidFill>
            <a:prstDash val="solid"/>
            <a:headEnd type="none" len="sm" w="sm"/>
            <a:tailEnd type="none" len="sm" w="sm"/>
          </a:ln>
        </p:spPr>
      </p:sp>
      <p:sp>
        <p:nvSpPr>
          <p:cNvPr name="AutoShape 11" id="11"/>
          <p:cNvSpPr/>
          <p:nvPr/>
        </p:nvSpPr>
        <p:spPr>
          <a:xfrm>
            <a:off x="14307250" y="6820183"/>
            <a:ext cx="2266814" cy="0"/>
          </a:xfrm>
          <a:prstGeom prst="line">
            <a:avLst/>
          </a:prstGeom>
          <a:ln cap="rnd" w="9525">
            <a:solidFill>
              <a:srgbClr val="3A58E4"/>
            </a:solidFill>
            <a:prstDash val="solid"/>
            <a:headEnd type="none" len="sm" w="sm"/>
            <a:tailEnd type="none" len="sm" w="sm"/>
          </a:ln>
        </p:spPr>
      </p:sp>
      <p:sp>
        <p:nvSpPr>
          <p:cNvPr name="AutoShape 12" id="12"/>
          <p:cNvSpPr/>
          <p:nvPr/>
        </p:nvSpPr>
        <p:spPr>
          <a:xfrm>
            <a:off x="13974972" y="7611677"/>
            <a:ext cx="2599092" cy="0"/>
          </a:xfrm>
          <a:prstGeom prst="line">
            <a:avLst/>
          </a:prstGeom>
          <a:ln cap="rnd" w="9525">
            <a:solidFill>
              <a:srgbClr val="3A58E4"/>
            </a:solidFill>
            <a:prstDash val="solid"/>
            <a:headEnd type="none" len="sm" w="sm"/>
            <a:tailEnd type="none" len="sm" w="sm"/>
          </a:ln>
        </p:spPr>
      </p:sp>
      <p:sp>
        <p:nvSpPr>
          <p:cNvPr name="AutoShape 13" id="13"/>
          <p:cNvSpPr/>
          <p:nvPr/>
        </p:nvSpPr>
        <p:spPr>
          <a:xfrm>
            <a:off x="13077788" y="8403541"/>
            <a:ext cx="3496276" cy="0"/>
          </a:xfrm>
          <a:prstGeom prst="line">
            <a:avLst/>
          </a:prstGeom>
          <a:ln cap="rnd" w="9525">
            <a:solidFill>
              <a:srgbClr val="3A58E4"/>
            </a:solidFill>
            <a:prstDash val="solid"/>
            <a:headEnd type="none" len="sm" w="sm"/>
            <a:tailEnd type="none" len="sm" w="sm"/>
          </a:ln>
        </p:spPr>
      </p:sp>
      <p:grpSp>
        <p:nvGrpSpPr>
          <p:cNvPr name="Group 14" id="14"/>
          <p:cNvGrpSpPr/>
          <p:nvPr/>
        </p:nvGrpSpPr>
        <p:grpSpPr>
          <a:xfrm rot="0">
            <a:off x="4208579" y="3332271"/>
            <a:ext cx="9766393" cy="358892"/>
            <a:chOff x="0" y="0"/>
            <a:chExt cx="13021857" cy="478523"/>
          </a:xfrm>
        </p:grpSpPr>
        <p:sp>
          <p:nvSpPr>
            <p:cNvPr name="TextBox 15" id="15"/>
            <p:cNvSpPr txBox="true"/>
            <p:nvPr/>
          </p:nvSpPr>
          <p:spPr>
            <a:xfrm rot="0">
              <a:off x="0" y="-76200"/>
              <a:ext cx="13021857" cy="554723"/>
            </a:xfrm>
            <a:prstGeom prst="rect">
              <a:avLst/>
            </a:prstGeom>
          </p:spPr>
          <p:txBody>
            <a:bodyPr anchor="t" rtlCol="false" tIns="0" lIns="0" bIns="0" rIns="0">
              <a:spAutoFit/>
            </a:bodyPr>
            <a:lstStyle/>
            <a:p>
              <a:pPr algn="ctr">
                <a:lnSpc>
                  <a:spcPts val="3318"/>
                </a:lnSpc>
              </a:pPr>
              <a:r>
                <a:rPr lang="en-US"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a:ea typeface="Poppins"/>
                  <a:cs typeface="Poppins"/>
                  <a:sym typeface="Poppins"/>
                </a:rPr>
                <a:t>project Presentation Outline</a:t>
              </a:r>
            </a:p>
          </p:txBody>
        </p:sp>
        <p:sp>
          <p:nvSpPr>
            <p:cNvPr name="Freeform 16" id="16"/>
            <p:cNvSpPr/>
            <p:nvPr/>
          </p:nvSpPr>
          <p:spPr>
            <a:xfrm flipH="false" flipV="false" rot="-8687136">
              <a:off x="9477297" y="44820"/>
              <a:ext cx="252200" cy="304858"/>
            </a:xfrm>
            <a:custGeom>
              <a:avLst/>
              <a:gdLst/>
              <a:ahLst/>
              <a:cxnLst/>
              <a:rect r="r" b="b" t="t" l="l"/>
              <a:pathLst>
                <a:path h="304858" w="252200">
                  <a:moveTo>
                    <a:pt x="0" y="0"/>
                  </a:moveTo>
                  <a:lnTo>
                    <a:pt x="252201" y="0"/>
                  </a:lnTo>
                  <a:lnTo>
                    <a:pt x="252201" y="304857"/>
                  </a:lnTo>
                  <a:lnTo>
                    <a:pt x="0" y="30485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
        <p:nvSpPr>
          <p:cNvPr name="AutoShape 17" id="17"/>
          <p:cNvSpPr/>
          <p:nvPr/>
        </p:nvSpPr>
        <p:spPr>
          <a:xfrm>
            <a:off x="4311679" y="3700688"/>
            <a:ext cx="9870843" cy="0"/>
          </a:xfrm>
          <a:prstGeom prst="line">
            <a:avLst/>
          </a:prstGeom>
          <a:ln cap="rnd" w="19050">
            <a:solidFill>
              <a:srgbClr val="3A58E4"/>
            </a:solidFill>
            <a:prstDash val="solid"/>
            <a:headEnd type="none" len="sm" w="sm"/>
            <a:tailEnd type="none" len="sm" w="sm"/>
          </a:ln>
        </p:spPr>
      </p:sp>
      <p:sp>
        <p:nvSpPr>
          <p:cNvPr name="TextBox 18" id="18"/>
          <p:cNvSpPr txBox="true"/>
          <p:nvPr/>
        </p:nvSpPr>
        <p:spPr>
          <a:xfrm rot="0">
            <a:off x="3626085" y="1448438"/>
            <a:ext cx="11035829" cy="1465884"/>
          </a:xfrm>
          <a:prstGeom prst="rect">
            <a:avLst/>
          </a:prstGeom>
        </p:spPr>
        <p:txBody>
          <a:bodyPr anchor="t" rtlCol="false" tIns="0" lIns="0" bIns="0" rIns="0">
            <a:spAutoFit/>
          </a:bodyPr>
          <a:lstStyle/>
          <a:p>
            <a:pPr algn="ctr">
              <a:lnSpc>
                <a:spcPts val="10991"/>
              </a:lnSpc>
            </a:pPr>
            <a:r>
              <a:rPr lang="en-US" sz="11215" spc="-71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Today’s Agenda</a:t>
            </a:r>
          </a:p>
        </p:txBody>
      </p:sp>
    </p:spTree>
  </p:cSld>
  <p:clrMapOvr>
    <a:masterClrMapping/>
  </p:clrMapOvr>
  <p:transition spd="med">
    <p:push dir="l"/>
  </p:transition>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028700"/>
            <a:ext cx="5445624" cy="2699444"/>
            <a:chOff x="0" y="0"/>
            <a:chExt cx="7260833" cy="3599258"/>
          </a:xfrm>
        </p:grpSpPr>
        <p:sp>
          <p:nvSpPr>
            <p:cNvPr name="TextBox 3" id="3"/>
            <p:cNvSpPr txBox="true"/>
            <p:nvPr/>
          </p:nvSpPr>
          <p:spPr>
            <a:xfrm rot="0">
              <a:off x="304088" y="200025"/>
              <a:ext cx="6956745" cy="3399233"/>
            </a:xfrm>
            <a:prstGeom prst="rect">
              <a:avLst/>
            </a:prstGeom>
          </p:spPr>
          <p:txBody>
            <a:bodyPr anchor="t" rtlCol="false" tIns="0" lIns="0" bIns="0" rIns="0">
              <a:spAutoFit/>
            </a:bodyPr>
            <a:lstStyle/>
            <a:p>
              <a:pPr algn="l">
                <a:lnSpc>
                  <a:spcPts val="9603"/>
                </a:lnSpc>
              </a:pPr>
              <a:r>
                <a:rPr lang="en-US" sz="9799" spc="-62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Project Overview</a:t>
              </a:r>
            </a:p>
          </p:txBody>
        </p:sp>
        <p:grpSp>
          <p:nvGrpSpPr>
            <p:cNvPr name="Group 4" id="4"/>
            <p:cNvGrpSpPr/>
            <p:nvPr/>
          </p:nvGrpSpPr>
          <p:grpSpPr>
            <a:xfrm rot="0">
              <a:off x="0" y="439184"/>
              <a:ext cx="63500" cy="2720890"/>
              <a:chOff x="0" y="0"/>
              <a:chExt cx="12543" cy="537460"/>
            </a:xfrm>
          </p:grpSpPr>
          <p:sp>
            <p:nvSpPr>
              <p:cNvPr name="Freeform 5" id="5"/>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6" id="6"/>
              <p:cNvSpPr txBox="true"/>
              <p:nvPr/>
            </p:nvSpPr>
            <p:spPr>
              <a:xfrm>
                <a:off x="0" y="-38100"/>
                <a:ext cx="12543" cy="575560"/>
              </a:xfrm>
              <a:prstGeom prst="rect">
                <a:avLst/>
              </a:prstGeom>
            </p:spPr>
            <p:txBody>
              <a:bodyPr anchor="ctr" rtlCol="false" tIns="50800" lIns="50800" bIns="50800" rIns="50800"/>
              <a:lstStyle/>
              <a:p>
                <a:pPr algn="ctr">
                  <a:lnSpc>
                    <a:spcPts val="2659"/>
                  </a:lnSpc>
                  <a:spcBef>
                    <a:spcPct val="0"/>
                  </a:spcBef>
                </a:pPr>
              </a:p>
            </p:txBody>
          </p:sp>
        </p:grpSp>
      </p:grpSp>
      <p:grpSp>
        <p:nvGrpSpPr>
          <p:cNvPr name="Group 7" id="7"/>
          <p:cNvGrpSpPr/>
          <p:nvPr/>
        </p:nvGrpSpPr>
        <p:grpSpPr>
          <a:xfrm rot="0">
            <a:off x="1028700" y="4312874"/>
            <a:ext cx="8201025" cy="379246"/>
            <a:chOff x="0" y="0"/>
            <a:chExt cx="10934700" cy="505662"/>
          </a:xfrm>
        </p:grpSpPr>
        <p:sp>
          <p:nvSpPr>
            <p:cNvPr name="TextBox 8" id="8"/>
            <p:cNvSpPr txBox="true"/>
            <p:nvPr/>
          </p:nvSpPr>
          <p:spPr>
            <a:xfrm rot="0">
              <a:off x="0" y="-49061"/>
              <a:ext cx="10820400" cy="554723"/>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OVERVIEW OF PROJECT SCOPE AND BUSINESS PURPOSE</a:t>
              </a:r>
            </a:p>
          </p:txBody>
        </p:sp>
        <p:sp>
          <p:nvSpPr>
            <p:cNvPr name="Freeform 9" id="9"/>
            <p:cNvSpPr/>
            <p:nvPr/>
          </p:nvSpPr>
          <p:spPr>
            <a:xfrm flipH="false" flipV="false" rot="-8687136">
              <a:off x="10617680" y="44820"/>
              <a:ext cx="252200" cy="304858"/>
            </a:xfrm>
            <a:custGeom>
              <a:avLst/>
              <a:gdLst/>
              <a:ahLst/>
              <a:cxnLst/>
              <a:rect r="r" b="b" t="t" l="l"/>
              <a:pathLst>
                <a:path h="304858" w="252200">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
        <p:nvSpPr>
          <p:cNvPr name="TextBox 10" id="10"/>
          <p:cNvSpPr txBox="true"/>
          <p:nvPr/>
        </p:nvSpPr>
        <p:spPr>
          <a:xfrm rot="0">
            <a:off x="1028700" y="4776754"/>
            <a:ext cx="8201025" cy="2743965"/>
          </a:xfrm>
          <a:prstGeom prst="rect">
            <a:avLst/>
          </a:prstGeom>
        </p:spPr>
        <p:txBody>
          <a:bodyPr anchor="t" rtlCol="false" tIns="0" lIns="0" bIns="0" rIns="0">
            <a:spAutoFit/>
          </a:bodyPr>
          <a:lstStyle/>
          <a:p>
            <a:pPr algn="just" marL="479272" indent="-239636" lvl="1">
              <a:lnSpc>
                <a:spcPts val="3107"/>
              </a:lnSpc>
              <a:buFont typeface="Arial"/>
              <a:buChar char="•"/>
            </a:pPr>
            <a:r>
              <a:rPr lang="en-US" sz="2219" spc="-6">
                <a:solidFill>
                  <a:srgbClr val="3A58E4"/>
                </a:solidFill>
                <a:latin typeface="Poppins"/>
                <a:ea typeface="Poppins"/>
                <a:cs typeface="Poppins"/>
                <a:sym typeface="Poppins"/>
              </a:rPr>
              <a:t>Evaluate current remote job market trends.</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Discover hiring patterns across industries and regions.</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Analyze demand for skills, job titles, and employment types.</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Summarize findings through interactive business intelligence.</a:t>
            </a:r>
          </a:p>
          <a:p>
            <a:pPr algn="just">
              <a:lnSpc>
                <a:spcPts val="3107"/>
              </a:lnSpc>
            </a:pPr>
          </a:p>
        </p:txBody>
      </p:sp>
      <p:grpSp>
        <p:nvGrpSpPr>
          <p:cNvPr name="Group 11" id="11"/>
          <p:cNvGrpSpPr/>
          <p:nvPr/>
        </p:nvGrpSpPr>
        <p:grpSpPr>
          <a:xfrm rot="0">
            <a:off x="16854329" y="0"/>
            <a:ext cx="1433671" cy="1432285"/>
            <a:chOff x="0" y="0"/>
            <a:chExt cx="1911561" cy="1909714"/>
          </a:xfrm>
        </p:grpSpPr>
        <p:grpSp>
          <p:nvGrpSpPr>
            <p:cNvPr name="Group 12" id="12"/>
            <p:cNvGrpSpPr/>
            <p:nvPr/>
          </p:nvGrpSpPr>
          <p:grpSpPr>
            <a:xfrm rot="0">
              <a:off x="0" y="0"/>
              <a:ext cx="1911561" cy="1909714"/>
              <a:chOff x="0" y="0"/>
              <a:chExt cx="787566" cy="786805"/>
            </a:xfrm>
          </p:grpSpPr>
          <p:sp>
            <p:nvSpPr>
              <p:cNvPr name="Freeform 13" id="13"/>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14" id="14"/>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15" id="15"/>
            <p:cNvSpPr txBox="true"/>
            <p:nvPr/>
          </p:nvSpPr>
          <p:spPr>
            <a:xfrm rot="0">
              <a:off x="247344" y="546685"/>
              <a:ext cx="1416872" cy="921118"/>
            </a:xfrm>
            <a:prstGeom prst="rect">
              <a:avLst/>
            </a:prstGeom>
          </p:spPr>
          <p:txBody>
            <a:bodyPr anchor="t" rtlCol="false" tIns="0" lIns="0" bIns="0" rIns="0">
              <a:spAutoFit/>
            </a:bodyPr>
            <a:lstStyle/>
            <a:p>
              <a:pPr algn="ctr">
                <a:lnSpc>
                  <a:spcPts val="4979"/>
                </a:lnSpc>
              </a:pPr>
              <a:r>
                <a:rPr lang="en-US" sz="5081" spc="-325">
                  <a:solidFill>
                    <a:srgbClr val="FFFFFF"/>
                  </a:solidFill>
                  <a:latin typeface="Bricolage Grotesque"/>
                  <a:ea typeface="Bricolage Grotesque"/>
                  <a:cs typeface="Bricolage Grotesque"/>
                  <a:sym typeface="Bricolage Grotesque"/>
                </a:rPr>
                <a:t>01</a:t>
              </a:r>
            </a:p>
          </p:txBody>
        </p:sp>
      </p:grpSp>
      <p:sp>
        <p:nvSpPr>
          <p:cNvPr name="Freeform 16" id="16"/>
          <p:cNvSpPr/>
          <p:nvPr/>
        </p:nvSpPr>
        <p:spPr>
          <a:xfrm flipH="false" flipV="false" rot="0">
            <a:off x="14449606" y="6430479"/>
            <a:ext cx="3838394" cy="3856521"/>
          </a:xfrm>
          <a:custGeom>
            <a:avLst/>
            <a:gdLst/>
            <a:ahLst/>
            <a:cxnLst/>
            <a:rect r="r" b="b" t="t" l="l"/>
            <a:pathLst>
              <a:path h="3856521" w="3838394">
                <a:moveTo>
                  <a:pt x="0" y="0"/>
                </a:moveTo>
                <a:lnTo>
                  <a:pt x="3838394" y="0"/>
                </a:lnTo>
                <a:lnTo>
                  <a:pt x="3838394" y="3856521"/>
                </a:lnTo>
                <a:lnTo>
                  <a:pt x="0" y="385652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7" id="17"/>
          <p:cNvGrpSpPr/>
          <p:nvPr/>
        </p:nvGrpSpPr>
        <p:grpSpPr>
          <a:xfrm rot="0">
            <a:off x="9712545" y="4312874"/>
            <a:ext cx="8201025" cy="379246"/>
            <a:chOff x="0" y="0"/>
            <a:chExt cx="10934700" cy="505662"/>
          </a:xfrm>
        </p:grpSpPr>
        <p:sp>
          <p:nvSpPr>
            <p:cNvPr name="TextBox 18" id="18"/>
            <p:cNvSpPr txBox="true"/>
            <p:nvPr/>
          </p:nvSpPr>
          <p:spPr>
            <a:xfrm rot="0">
              <a:off x="0" y="-49061"/>
              <a:ext cx="10820400" cy="554723"/>
            </a:xfrm>
            <a:prstGeom prst="rect">
              <a:avLst/>
            </a:prstGeom>
          </p:spPr>
          <p:txBody>
            <a:bodyPr anchor="t" rtlCol="false" tIns="0" lIns="0" bIns="0" rIns="0">
              <a:spAutoFit/>
            </a:bodyPr>
            <a:lstStyle/>
            <a:p>
              <a:pPr algn="l">
                <a:lnSpc>
                  <a:spcPts val="3318"/>
                </a:lnSpc>
              </a:pPr>
            </a:p>
          </p:txBody>
        </p:sp>
        <p:sp>
          <p:nvSpPr>
            <p:cNvPr name="Freeform 19" id="19"/>
            <p:cNvSpPr/>
            <p:nvPr/>
          </p:nvSpPr>
          <p:spPr>
            <a:xfrm flipH="false" flipV="false" rot="-8687136">
              <a:off x="10617680" y="44820"/>
              <a:ext cx="252200" cy="304858"/>
            </a:xfrm>
            <a:custGeom>
              <a:avLst/>
              <a:gdLst/>
              <a:ahLst/>
              <a:cxnLst/>
              <a:rect r="r" b="b" t="t" l="l"/>
              <a:pathLst>
                <a:path h="304858" w="252200">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spTree>
  </p:cSld>
  <p:clrMapOvr>
    <a:masterClrMapping/>
  </p:clrMapOvr>
  <p:transition spd="med">
    <p:push dir="l"/>
  </p:transition>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492056" y="1525863"/>
            <a:ext cx="47625" cy="2040668"/>
            <a:chOff x="0" y="0"/>
            <a:chExt cx="12543" cy="537460"/>
          </a:xfrm>
        </p:grpSpPr>
        <p:sp>
          <p:nvSpPr>
            <p:cNvPr name="Freeform 3" id="3"/>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4" id="4"/>
            <p:cNvSpPr txBox="true"/>
            <p:nvPr/>
          </p:nvSpPr>
          <p:spPr>
            <a:xfrm>
              <a:off x="0" y="-57150"/>
              <a:ext cx="12543" cy="594610"/>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8492056" y="4424803"/>
            <a:ext cx="7106119" cy="435092"/>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DEFINING THE PRIMARY GOALS OF THIS ANALYSIS</a:t>
            </a:r>
          </a:p>
        </p:txBody>
      </p:sp>
      <p:sp>
        <p:nvSpPr>
          <p:cNvPr name="Freeform 6" id="6"/>
          <p:cNvSpPr/>
          <p:nvPr/>
        </p:nvSpPr>
        <p:spPr>
          <a:xfrm flipH="false" flipV="false" rot="-8687136">
            <a:off x="15580115" y="4542838"/>
            <a:ext cx="189150" cy="228643"/>
          </a:xfrm>
          <a:custGeom>
            <a:avLst/>
            <a:gdLst/>
            <a:ahLst/>
            <a:cxnLst/>
            <a:rect r="r" b="b" t="t" l="l"/>
            <a:pathLst>
              <a:path h="228643" w="189150">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7" id="7"/>
          <p:cNvGrpSpPr/>
          <p:nvPr/>
        </p:nvGrpSpPr>
        <p:grpSpPr>
          <a:xfrm rot="0">
            <a:off x="0" y="0"/>
            <a:ext cx="6352295" cy="10287000"/>
            <a:chOff x="0" y="0"/>
            <a:chExt cx="984137" cy="1593725"/>
          </a:xfrm>
        </p:grpSpPr>
        <p:sp>
          <p:nvSpPr>
            <p:cNvPr name="Freeform 8" id="8"/>
            <p:cNvSpPr/>
            <p:nvPr/>
          </p:nvSpPr>
          <p:spPr>
            <a:xfrm flipH="false" flipV="false" rot="0">
              <a:off x="0" y="0"/>
              <a:ext cx="984137" cy="1593725"/>
            </a:xfrm>
            <a:custGeom>
              <a:avLst/>
              <a:gdLst/>
              <a:ahLst/>
              <a:cxnLst/>
              <a:rect r="r" b="b" t="t" l="l"/>
              <a:pathLst>
                <a:path h="1593725" w="984137">
                  <a:moveTo>
                    <a:pt x="0" y="0"/>
                  </a:moveTo>
                  <a:lnTo>
                    <a:pt x="984137" y="0"/>
                  </a:lnTo>
                  <a:lnTo>
                    <a:pt x="984137" y="1593725"/>
                  </a:lnTo>
                  <a:lnTo>
                    <a:pt x="0" y="1593725"/>
                  </a:lnTo>
                  <a:close/>
                </a:path>
              </a:pathLst>
            </a:custGeom>
            <a:blipFill>
              <a:blip r:embed="rId4"/>
              <a:stretch>
                <a:fillRect l="-64513" t="0" r="-64513" b="0"/>
              </a:stretch>
            </a:blipFill>
          </p:spPr>
        </p:sp>
      </p:grpSp>
      <p:grpSp>
        <p:nvGrpSpPr>
          <p:cNvPr name="Group 9" id="9"/>
          <p:cNvGrpSpPr/>
          <p:nvPr/>
        </p:nvGrpSpPr>
        <p:grpSpPr>
          <a:xfrm rot="0">
            <a:off x="16872233" y="0"/>
            <a:ext cx="1415767" cy="1414399"/>
            <a:chOff x="0" y="0"/>
            <a:chExt cx="1887689" cy="1885865"/>
          </a:xfrm>
        </p:grpSpPr>
        <p:grpSp>
          <p:nvGrpSpPr>
            <p:cNvPr name="Group 10" id="10"/>
            <p:cNvGrpSpPr/>
            <p:nvPr/>
          </p:nvGrpSpPr>
          <p:grpSpPr>
            <a:xfrm rot="0">
              <a:off x="0" y="0"/>
              <a:ext cx="1887689" cy="1885865"/>
              <a:chOff x="0" y="0"/>
              <a:chExt cx="787566" cy="786805"/>
            </a:xfrm>
          </p:grpSpPr>
          <p:sp>
            <p:nvSpPr>
              <p:cNvPr name="Freeform 11" id="11"/>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12" id="12"/>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13" id="13"/>
            <p:cNvSpPr txBox="true"/>
            <p:nvPr/>
          </p:nvSpPr>
          <p:spPr>
            <a:xfrm rot="0">
              <a:off x="244255" y="531641"/>
              <a:ext cx="1399178" cy="917832"/>
            </a:xfrm>
            <a:prstGeom prst="rect">
              <a:avLst/>
            </a:prstGeom>
          </p:spPr>
          <p:txBody>
            <a:bodyPr anchor="t" rtlCol="false" tIns="0" lIns="0" bIns="0" rIns="0">
              <a:spAutoFit/>
            </a:bodyPr>
            <a:lstStyle/>
            <a:p>
              <a:pPr algn="ctr">
                <a:lnSpc>
                  <a:spcPts val="4917"/>
                </a:lnSpc>
              </a:pPr>
              <a:r>
                <a:rPr lang="en-US" sz="5018" spc="-321">
                  <a:solidFill>
                    <a:srgbClr val="FFFFFF"/>
                  </a:solidFill>
                  <a:latin typeface="Bricolage Grotesque"/>
                  <a:ea typeface="Bricolage Grotesque"/>
                  <a:cs typeface="Bricolage Grotesque"/>
                  <a:sym typeface="Bricolage Grotesque"/>
                </a:rPr>
                <a:t>02</a:t>
              </a:r>
            </a:p>
          </p:txBody>
        </p:sp>
      </p:grpSp>
      <p:sp>
        <p:nvSpPr>
          <p:cNvPr name="AutoShape 14" id="14"/>
          <p:cNvSpPr/>
          <p:nvPr/>
        </p:nvSpPr>
        <p:spPr>
          <a:xfrm flipH="true">
            <a:off x="6542795" y="0"/>
            <a:ext cx="0" cy="10287000"/>
          </a:xfrm>
          <a:prstGeom prst="line">
            <a:avLst/>
          </a:prstGeom>
          <a:ln cap="rnd" w="19050">
            <a:solidFill>
              <a:srgbClr val="3A58E4"/>
            </a:solidFill>
            <a:prstDash val="solid"/>
            <a:headEnd type="none" len="sm" w="sm"/>
            <a:tailEnd type="none" len="sm" w="sm"/>
          </a:ln>
        </p:spPr>
      </p:sp>
      <p:sp>
        <p:nvSpPr>
          <p:cNvPr name="Freeform 15" id="15"/>
          <p:cNvSpPr/>
          <p:nvPr/>
        </p:nvSpPr>
        <p:spPr>
          <a:xfrm flipH="false" flipV="false" rot="0">
            <a:off x="5177017" y="5870652"/>
            <a:ext cx="2350556" cy="457290"/>
          </a:xfrm>
          <a:custGeom>
            <a:avLst/>
            <a:gdLst/>
            <a:ahLst/>
            <a:cxnLst/>
            <a:rect r="r" b="b" t="t" l="l"/>
            <a:pathLst>
              <a:path h="457290" w="2350556">
                <a:moveTo>
                  <a:pt x="0" y="0"/>
                </a:moveTo>
                <a:lnTo>
                  <a:pt x="2350556" y="0"/>
                </a:lnTo>
                <a:lnTo>
                  <a:pt x="2350556" y="457290"/>
                </a:lnTo>
                <a:lnTo>
                  <a:pt x="0" y="457290"/>
                </a:lnTo>
                <a:lnTo>
                  <a:pt x="0" y="0"/>
                </a:lnTo>
                <a:close/>
              </a:path>
            </a:pathLst>
          </a:custGeom>
          <a:blipFill>
            <a:blip r:embed="rId5"/>
            <a:stretch>
              <a:fillRect l="0" t="0" r="0" b="0"/>
            </a:stretch>
          </a:blipFill>
        </p:spPr>
      </p:sp>
      <p:grpSp>
        <p:nvGrpSpPr>
          <p:cNvPr name="Group 16" id="16"/>
          <p:cNvGrpSpPr/>
          <p:nvPr/>
        </p:nvGrpSpPr>
        <p:grpSpPr>
          <a:xfrm rot="0">
            <a:off x="5262566" y="3959058"/>
            <a:ext cx="2152019" cy="2149322"/>
            <a:chOff x="0" y="0"/>
            <a:chExt cx="567580" cy="566868"/>
          </a:xfrm>
        </p:grpSpPr>
        <p:sp>
          <p:nvSpPr>
            <p:cNvPr name="Freeform 17" id="17"/>
            <p:cNvSpPr/>
            <p:nvPr/>
          </p:nvSpPr>
          <p:spPr>
            <a:xfrm flipH="false" flipV="false" rot="0">
              <a:off x="0" y="0"/>
              <a:ext cx="567580" cy="566868"/>
            </a:xfrm>
            <a:custGeom>
              <a:avLst/>
              <a:gdLst/>
              <a:ahLst/>
              <a:cxnLst/>
              <a:rect r="r" b="b" t="t" l="l"/>
              <a:pathLst>
                <a:path h="566868" w="567580">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rnd">
              <a:noFill/>
              <a:prstDash val="solid"/>
              <a:round/>
            </a:ln>
          </p:spPr>
        </p:sp>
        <p:sp>
          <p:nvSpPr>
            <p:cNvPr name="TextBox 18" id="18"/>
            <p:cNvSpPr txBox="true"/>
            <p:nvPr/>
          </p:nvSpPr>
          <p:spPr>
            <a:xfrm>
              <a:off x="0" y="28575"/>
              <a:ext cx="567580" cy="538293"/>
            </a:xfrm>
            <a:prstGeom prst="rect">
              <a:avLst/>
            </a:prstGeom>
          </p:spPr>
          <p:txBody>
            <a:bodyPr anchor="ctr" rtlCol="false" tIns="48445" lIns="48445" bIns="48445" rIns="48445"/>
            <a:lstStyle/>
            <a:p>
              <a:pPr algn="ctr">
                <a:lnSpc>
                  <a:spcPts val="2460"/>
                </a:lnSpc>
              </a:pPr>
            </a:p>
          </p:txBody>
        </p:sp>
      </p:grpSp>
      <p:sp>
        <p:nvSpPr>
          <p:cNvPr name="TextBox 19" id="19"/>
          <p:cNvSpPr txBox="true"/>
          <p:nvPr/>
        </p:nvSpPr>
        <p:spPr>
          <a:xfrm rot="0">
            <a:off x="5602320" y="4444821"/>
            <a:ext cx="1499950" cy="486109"/>
          </a:xfrm>
          <a:prstGeom prst="rect">
            <a:avLst/>
          </a:prstGeom>
        </p:spPr>
        <p:txBody>
          <a:bodyPr anchor="t" rtlCol="false" tIns="0" lIns="0" bIns="0" rIns="0">
            <a:spAutoFit/>
          </a:bodyPr>
          <a:lstStyle/>
          <a:p>
            <a:pPr algn="ctr" marL="0" indent="0" lvl="0">
              <a:lnSpc>
                <a:spcPts val="3676"/>
              </a:lnSpc>
            </a:pPr>
            <a:r>
              <a:rPr lang="en-US" b="true" sz="3713" spc="-111">
                <a:solidFill>
                  <a:srgbClr val="FFFFFF"/>
                </a:solidFill>
                <a:latin typeface="Bricolage Grotesque Bold"/>
                <a:ea typeface="Bricolage Grotesque Bold"/>
                <a:cs typeface="Bricolage Grotesque Bold"/>
                <a:sym typeface="Bricolage Grotesque Bold"/>
              </a:rPr>
              <a:t>2026</a:t>
            </a:r>
          </a:p>
        </p:txBody>
      </p:sp>
      <p:sp>
        <p:nvSpPr>
          <p:cNvPr name="TextBox 20" id="20"/>
          <p:cNvSpPr txBox="true"/>
          <p:nvPr/>
        </p:nvSpPr>
        <p:spPr>
          <a:xfrm rot="0">
            <a:off x="5746312" y="4891191"/>
            <a:ext cx="1211966" cy="800100"/>
          </a:xfrm>
          <a:prstGeom prst="rect">
            <a:avLst/>
          </a:prstGeom>
        </p:spPr>
        <p:txBody>
          <a:bodyPr anchor="t" rtlCol="false" tIns="0" lIns="0" bIns="0" rIns="0">
            <a:spAutoFit/>
          </a:bodyPr>
          <a:lstStyle/>
          <a:p>
            <a:pPr algn="ctr">
              <a:lnSpc>
                <a:spcPts val="2099"/>
              </a:lnSpc>
            </a:pPr>
            <a:r>
              <a:rPr lang="en-US" sz="1499" spc="-37">
                <a:solidFill>
                  <a:srgbClr val="FFFFFF"/>
                </a:solidFill>
                <a:latin typeface="Poppins"/>
                <a:ea typeface="Poppins"/>
                <a:cs typeface="Poppins"/>
                <a:sym typeface="Poppins"/>
              </a:rPr>
              <a:t>FOCUS STRATEGIC INSIGHTS</a:t>
            </a:r>
          </a:p>
        </p:txBody>
      </p:sp>
      <p:sp>
        <p:nvSpPr>
          <p:cNvPr name="TextBox 21" id="21"/>
          <p:cNvSpPr txBox="true"/>
          <p:nvPr/>
        </p:nvSpPr>
        <p:spPr>
          <a:xfrm rot="0">
            <a:off x="8720122" y="1396500"/>
            <a:ext cx="5780387" cy="2499419"/>
          </a:xfrm>
          <a:prstGeom prst="rect">
            <a:avLst/>
          </a:prstGeom>
        </p:spPr>
        <p:txBody>
          <a:bodyPr anchor="t" rtlCol="false" tIns="0" lIns="0" bIns="0" rIns="0">
            <a:spAutoFit/>
          </a:bodyPr>
          <a:lstStyle/>
          <a:p>
            <a:pPr algn="l">
              <a:lnSpc>
                <a:spcPts val="9603"/>
              </a:lnSpc>
            </a:pPr>
            <a:r>
              <a:rPr lang="en-US" sz="9799" spc="-62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Project Objectives</a:t>
            </a:r>
          </a:p>
        </p:txBody>
      </p:sp>
      <p:sp>
        <p:nvSpPr>
          <p:cNvPr name="TextBox 22" id="22"/>
          <p:cNvSpPr txBox="true"/>
          <p:nvPr/>
        </p:nvSpPr>
        <p:spPr>
          <a:xfrm rot="0">
            <a:off x="8869343" y="5076825"/>
            <a:ext cx="5481943" cy="4306065"/>
          </a:xfrm>
          <a:prstGeom prst="rect">
            <a:avLst/>
          </a:prstGeom>
        </p:spPr>
        <p:txBody>
          <a:bodyPr anchor="t" rtlCol="false" tIns="0" lIns="0" bIns="0" rIns="0">
            <a:spAutoFit/>
          </a:bodyPr>
          <a:lstStyle/>
          <a:p>
            <a:pPr algn="just" marL="479272" indent="-239636" lvl="1">
              <a:lnSpc>
                <a:spcPts val="3107"/>
              </a:lnSpc>
              <a:buFont typeface="Arial"/>
              <a:buChar char="•"/>
            </a:pPr>
            <a:r>
              <a:rPr lang="en-US" sz="2219" spc="-6">
                <a:solidFill>
                  <a:srgbClr val="3A58E4"/>
                </a:solidFill>
                <a:latin typeface="Poppins"/>
                <a:ea typeface="Poppins"/>
                <a:cs typeface="Poppins"/>
                <a:sym typeface="Poppins"/>
              </a:rPr>
              <a:t>Understand current trends in the remote job market.</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Discover the most sought-after skills and job titles.</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Analyze hiring patterns across different regions.</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Visualize findings through an interactive dashboard.</a:t>
            </a:r>
          </a:p>
          <a:p>
            <a:pPr algn="just" marL="479272" indent="-239636" lvl="1">
              <a:lnSpc>
                <a:spcPts val="3107"/>
              </a:lnSpc>
              <a:buFont typeface="Arial"/>
              <a:buChar char="•"/>
            </a:pPr>
            <a:r>
              <a:rPr lang="en-US" sz="2219" spc="-6">
                <a:solidFill>
                  <a:srgbClr val="3A58E4"/>
                </a:solidFill>
                <a:latin typeface="Poppins"/>
                <a:ea typeface="Poppins"/>
                <a:cs typeface="Poppins"/>
                <a:sym typeface="Poppins"/>
              </a:rPr>
              <a:t>Enable data-driven decision-making.</a:t>
            </a:r>
          </a:p>
          <a:p>
            <a:pPr algn="just" marL="479272" indent="-239636" lvl="1">
              <a:lnSpc>
                <a:spcPts val="3107"/>
              </a:lnSpc>
              <a:buFont typeface="Arial"/>
              <a:buChar char="•"/>
            </a:pPr>
          </a:p>
        </p:txBody>
      </p:sp>
    </p:spTree>
  </p:cSld>
  <p:clrMapOvr>
    <a:masterClrMapping/>
  </p:clrMapOvr>
  <p:transition spd="med">
    <p:push dir="l"/>
  </p:transition>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741311" y="3161423"/>
            <a:ext cx="546689" cy="7173190"/>
            <a:chOff x="0" y="0"/>
            <a:chExt cx="143984" cy="1889235"/>
          </a:xfrm>
        </p:grpSpPr>
        <p:sp>
          <p:nvSpPr>
            <p:cNvPr name="Freeform 3" id="3"/>
            <p:cNvSpPr/>
            <p:nvPr/>
          </p:nvSpPr>
          <p:spPr>
            <a:xfrm flipH="false" flipV="false" rot="0">
              <a:off x="0" y="0"/>
              <a:ext cx="143984" cy="1889235"/>
            </a:xfrm>
            <a:custGeom>
              <a:avLst/>
              <a:gdLst/>
              <a:ahLst/>
              <a:cxnLst/>
              <a:rect r="r" b="b" t="t" l="l"/>
              <a:pathLst>
                <a:path h="1889235" w="143984">
                  <a:moveTo>
                    <a:pt x="0" y="0"/>
                  </a:moveTo>
                  <a:lnTo>
                    <a:pt x="143984" y="0"/>
                  </a:lnTo>
                  <a:lnTo>
                    <a:pt x="143984" y="1889235"/>
                  </a:lnTo>
                  <a:lnTo>
                    <a:pt x="0" y="1889235"/>
                  </a:ln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4" id="4"/>
            <p:cNvSpPr txBox="true"/>
            <p:nvPr/>
          </p:nvSpPr>
          <p:spPr>
            <a:xfrm>
              <a:off x="0" y="-57150"/>
              <a:ext cx="143984" cy="1946385"/>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flipH="true">
            <a:off x="4366878" y="3123335"/>
            <a:ext cx="0" cy="7163665"/>
          </a:xfrm>
          <a:prstGeom prst="line">
            <a:avLst/>
          </a:prstGeom>
          <a:ln cap="rnd" w="19050">
            <a:solidFill>
              <a:srgbClr val="3A58E4"/>
            </a:solidFill>
            <a:prstDash val="solid"/>
            <a:headEnd type="none" len="sm" w="sm"/>
            <a:tailEnd type="none" len="sm" w="sm"/>
          </a:ln>
        </p:spPr>
      </p:sp>
      <p:sp>
        <p:nvSpPr>
          <p:cNvPr name="AutoShape 6" id="6"/>
          <p:cNvSpPr/>
          <p:nvPr/>
        </p:nvSpPr>
        <p:spPr>
          <a:xfrm>
            <a:off x="8812036" y="3123335"/>
            <a:ext cx="0" cy="7163665"/>
          </a:xfrm>
          <a:prstGeom prst="line">
            <a:avLst/>
          </a:prstGeom>
          <a:ln cap="rnd" w="19050">
            <a:solidFill>
              <a:srgbClr val="3A58E4"/>
            </a:solidFill>
            <a:prstDash val="solid"/>
            <a:headEnd type="none" len="sm" w="sm"/>
            <a:tailEnd type="none" len="sm" w="sm"/>
          </a:ln>
        </p:spPr>
      </p:sp>
      <p:sp>
        <p:nvSpPr>
          <p:cNvPr name="AutoShape 7" id="7"/>
          <p:cNvSpPr/>
          <p:nvPr/>
        </p:nvSpPr>
        <p:spPr>
          <a:xfrm>
            <a:off x="13421804" y="3123335"/>
            <a:ext cx="0" cy="7163665"/>
          </a:xfrm>
          <a:prstGeom prst="line">
            <a:avLst/>
          </a:prstGeom>
          <a:ln cap="rnd" w="19050">
            <a:solidFill>
              <a:srgbClr val="3A58E4"/>
            </a:solidFill>
            <a:prstDash val="solid"/>
            <a:headEnd type="none" len="sm" w="sm"/>
            <a:tailEnd type="none" len="sm" w="sm"/>
          </a:ln>
        </p:spPr>
      </p:sp>
      <p:sp>
        <p:nvSpPr>
          <p:cNvPr name="AutoShape 8" id="8"/>
          <p:cNvSpPr/>
          <p:nvPr/>
        </p:nvSpPr>
        <p:spPr>
          <a:xfrm>
            <a:off x="16305" y="3147550"/>
            <a:ext cx="18288000" cy="0"/>
          </a:xfrm>
          <a:prstGeom prst="line">
            <a:avLst/>
          </a:prstGeom>
          <a:ln cap="rnd" w="19050">
            <a:solidFill>
              <a:srgbClr val="3A58E4"/>
            </a:solidFill>
            <a:prstDash val="solid"/>
            <a:headEnd type="none" len="sm" w="sm"/>
            <a:tailEnd type="none" len="sm" w="sm"/>
          </a:ln>
        </p:spPr>
      </p:sp>
      <p:grpSp>
        <p:nvGrpSpPr>
          <p:cNvPr name="Group 9" id="9"/>
          <p:cNvGrpSpPr/>
          <p:nvPr/>
        </p:nvGrpSpPr>
        <p:grpSpPr>
          <a:xfrm rot="0">
            <a:off x="16305" y="3147550"/>
            <a:ext cx="1197405" cy="1196248"/>
            <a:chOff x="0" y="0"/>
            <a:chExt cx="1596540" cy="1594997"/>
          </a:xfrm>
        </p:grpSpPr>
        <p:grpSp>
          <p:nvGrpSpPr>
            <p:cNvPr name="Group 10" id="10"/>
            <p:cNvGrpSpPr/>
            <p:nvPr/>
          </p:nvGrpSpPr>
          <p:grpSpPr>
            <a:xfrm rot="0">
              <a:off x="0" y="0"/>
              <a:ext cx="1596540" cy="1594997"/>
              <a:chOff x="0" y="0"/>
              <a:chExt cx="787566" cy="786805"/>
            </a:xfrm>
          </p:grpSpPr>
          <p:sp>
            <p:nvSpPr>
              <p:cNvPr name="Freeform 11" id="11"/>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12" id="12"/>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13" id="13"/>
            <p:cNvSpPr txBox="true"/>
            <p:nvPr/>
          </p:nvSpPr>
          <p:spPr>
            <a:xfrm rot="0">
              <a:off x="206583" y="454809"/>
              <a:ext cx="1183375" cy="771104"/>
            </a:xfrm>
            <a:prstGeom prst="rect">
              <a:avLst/>
            </a:prstGeom>
          </p:spPr>
          <p:txBody>
            <a:bodyPr anchor="t" rtlCol="false" tIns="0" lIns="0" bIns="0" rIns="0">
              <a:spAutoFit/>
            </a:bodyPr>
            <a:lstStyle/>
            <a:p>
              <a:pPr algn="ctr">
                <a:lnSpc>
                  <a:spcPts val="4159"/>
                </a:lnSpc>
              </a:pPr>
              <a:r>
                <a:rPr lang="en-US" sz="4244" spc="-271">
                  <a:solidFill>
                    <a:srgbClr val="FFFFFF"/>
                  </a:solidFill>
                  <a:latin typeface="Bricolage Grotesque"/>
                  <a:ea typeface="Bricolage Grotesque"/>
                  <a:cs typeface="Bricolage Grotesque"/>
                  <a:sym typeface="Bricolage Grotesque"/>
                </a:rPr>
                <a:t>01</a:t>
              </a:r>
            </a:p>
          </p:txBody>
        </p:sp>
      </p:grpSp>
      <p:grpSp>
        <p:nvGrpSpPr>
          <p:cNvPr name="Group 14" id="14"/>
          <p:cNvGrpSpPr/>
          <p:nvPr/>
        </p:nvGrpSpPr>
        <p:grpSpPr>
          <a:xfrm rot="0">
            <a:off x="4366878" y="3147550"/>
            <a:ext cx="1197405" cy="1196248"/>
            <a:chOff x="0" y="0"/>
            <a:chExt cx="1596540" cy="1594997"/>
          </a:xfrm>
        </p:grpSpPr>
        <p:grpSp>
          <p:nvGrpSpPr>
            <p:cNvPr name="Group 15" id="15"/>
            <p:cNvGrpSpPr/>
            <p:nvPr/>
          </p:nvGrpSpPr>
          <p:grpSpPr>
            <a:xfrm rot="0">
              <a:off x="0" y="0"/>
              <a:ext cx="1596540" cy="1594997"/>
              <a:chOff x="0" y="0"/>
              <a:chExt cx="787566" cy="786805"/>
            </a:xfrm>
          </p:grpSpPr>
          <p:sp>
            <p:nvSpPr>
              <p:cNvPr name="Freeform 16" id="16"/>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17" id="17"/>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18" id="18"/>
            <p:cNvSpPr txBox="true"/>
            <p:nvPr/>
          </p:nvSpPr>
          <p:spPr>
            <a:xfrm rot="0">
              <a:off x="206583" y="454809"/>
              <a:ext cx="1183375" cy="771104"/>
            </a:xfrm>
            <a:prstGeom prst="rect">
              <a:avLst/>
            </a:prstGeom>
          </p:spPr>
          <p:txBody>
            <a:bodyPr anchor="t" rtlCol="false" tIns="0" lIns="0" bIns="0" rIns="0">
              <a:spAutoFit/>
            </a:bodyPr>
            <a:lstStyle/>
            <a:p>
              <a:pPr algn="ctr">
                <a:lnSpc>
                  <a:spcPts val="4159"/>
                </a:lnSpc>
              </a:pPr>
              <a:r>
                <a:rPr lang="en-US" sz="4244" spc="-271">
                  <a:solidFill>
                    <a:srgbClr val="FFFFFF"/>
                  </a:solidFill>
                  <a:latin typeface="Bricolage Grotesque"/>
                  <a:ea typeface="Bricolage Grotesque"/>
                  <a:cs typeface="Bricolage Grotesque"/>
                  <a:sym typeface="Bricolage Grotesque"/>
                </a:rPr>
                <a:t>02</a:t>
              </a:r>
            </a:p>
          </p:txBody>
        </p:sp>
      </p:grpSp>
      <p:grpSp>
        <p:nvGrpSpPr>
          <p:cNvPr name="Group 19" id="19"/>
          <p:cNvGrpSpPr/>
          <p:nvPr/>
        </p:nvGrpSpPr>
        <p:grpSpPr>
          <a:xfrm rot="0">
            <a:off x="8818456" y="3137212"/>
            <a:ext cx="1197405" cy="1196248"/>
            <a:chOff x="0" y="0"/>
            <a:chExt cx="1596540" cy="1594997"/>
          </a:xfrm>
        </p:grpSpPr>
        <p:grpSp>
          <p:nvGrpSpPr>
            <p:cNvPr name="Group 20" id="20"/>
            <p:cNvGrpSpPr/>
            <p:nvPr/>
          </p:nvGrpSpPr>
          <p:grpSpPr>
            <a:xfrm rot="0">
              <a:off x="0" y="0"/>
              <a:ext cx="1596540" cy="1594997"/>
              <a:chOff x="0" y="0"/>
              <a:chExt cx="787566" cy="786805"/>
            </a:xfrm>
          </p:grpSpPr>
          <p:sp>
            <p:nvSpPr>
              <p:cNvPr name="Freeform 21" id="21"/>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22" id="22"/>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23" id="23"/>
            <p:cNvSpPr txBox="true"/>
            <p:nvPr/>
          </p:nvSpPr>
          <p:spPr>
            <a:xfrm rot="0">
              <a:off x="206583" y="454809"/>
              <a:ext cx="1183375" cy="771104"/>
            </a:xfrm>
            <a:prstGeom prst="rect">
              <a:avLst/>
            </a:prstGeom>
          </p:spPr>
          <p:txBody>
            <a:bodyPr anchor="t" rtlCol="false" tIns="0" lIns="0" bIns="0" rIns="0">
              <a:spAutoFit/>
            </a:bodyPr>
            <a:lstStyle/>
            <a:p>
              <a:pPr algn="ctr">
                <a:lnSpc>
                  <a:spcPts val="4159"/>
                </a:lnSpc>
              </a:pPr>
              <a:r>
                <a:rPr lang="en-US" sz="4244" spc="-271">
                  <a:solidFill>
                    <a:srgbClr val="FFFFFF"/>
                  </a:solidFill>
                  <a:latin typeface="Bricolage Grotesque"/>
                  <a:ea typeface="Bricolage Grotesque"/>
                  <a:cs typeface="Bricolage Grotesque"/>
                  <a:sym typeface="Bricolage Grotesque"/>
                </a:rPr>
                <a:t>03</a:t>
              </a:r>
            </a:p>
          </p:txBody>
        </p:sp>
      </p:grpSp>
      <p:grpSp>
        <p:nvGrpSpPr>
          <p:cNvPr name="Group 24" id="24"/>
          <p:cNvGrpSpPr/>
          <p:nvPr/>
        </p:nvGrpSpPr>
        <p:grpSpPr>
          <a:xfrm rot="0">
            <a:off x="13436829" y="3137212"/>
            <a:ext cx="1197405" cy="1196248"/>
            <a:chOff x="0" y="0"/>
            <a:chExt cx="1596540" cy="1594997"/>
          </a:xfrm>
        </p:grpSpPr>
        <p:grpSp>
          <p:nvGrpSpPr>
            <p:cNvPr name="Group 25" id="25"/>
            <p:cNvGrpSpPr/>
            <p:nvPr/>
          </p:nvGrpSpPr>
          <p:grpSpPr>
            <a:xfrm rot="0">
              <a:off x="0" y="0"/>
              <a:ext cx="1596540" cy="1594997"/>
              <a:chOff x="0" y="0"/>
              <a:chExt cx="787566" cy="786805"/>
            </a:xfrm>
          </p:grpSpPr>
          <p:sp>
            <p:nvSpPr>
              <p:cNvPr name="Freeform 26" id="26"/>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27" id="27"/>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28" id="28"/>
            <p:cNvSpPr txBox="true"/>
            <p:nvPr/>
          </p:nvSpPr>
          <p:spPr>
            <a:xfrm rot="0">
              <a:off x="206583" y="454809"/>
              <a:ext cx="1183375" cy="771104"/>
            </a:xfrm>
            <a:prstGeom prst="rect">
              <a:avLst/>
            </a:prstGeom>
          </p:spPr>
          <p:txBody>
            <a:bodyPr anchor="t" rtlCol="false" tIns="0" lIns="0" bIns="0" rIns="0">
              <a:spAutoFit/>
            </a:bodyPr>
            <a:lstStyle/>
            <a:p>
              <a:pPr algn="ctr">
                <a:lnSpc>
                  <a:spcPts val="4159"/>
                </a:lnSpc>
              </a:pPr>
              <a:r>
                <a:rPr lang="en-US" sz="4244" spc="-271">
                  <a:solidFill>
                    <a:srgbClr val="FFFFFF"/>
                  </a:solidFill>
                  <a:latin typeface="Bricolage Grotesque"/>
                  <a:ea typeface="Bricolage Grotesque"/>
                  <a:cs typeface="Bricolage Grotesque"/>
                  <a:sym typeface="Bricolage Grotesque"/>
                </a:rPr>
                <a:t>04</a:t>
              </a:r>
            </a:p>
          </p:txBody>
        </p:sp>
      </p:grpSp>
      <p:sp>
        <p:nvSpPr>
          <p:cNvPr name="Freeform 29" id="29"/>
          <p:cNvSpPr/>
          <p:nvPr/>
        </p:nvSpPr>
        <p:spPr>
          <a:xfrm flipH="false" flipV="false" rot="0">
            <a:off x="5631827" y="4630818"/>
            <a:ext cx="1803654" cy="1820201"/>
          </a:xfrm>
          <a:custGeom>
            <a:avLst/>
            <a:gdLst/>
            <a:ahLst/>
            <a:cxnLst/>
            <a:rect r="r" b="b" t="t" l="l"/>
            <a:pathLst>
              <a:path h="1820201" w="1803654">
                <a:moveTo>
                  <a:pt x="0" y="0"/>
                </a:moveTo>
                <a:lnTo>
                  <a:pt x="1803654" y="0"/>
                </a:lnTo>
                <a:lnTo>
                  <a:pt x="1803654" y="1820201"/>
                </a:lnTo>
                <a:lnTo>
                  <a:pt x="0" y="182020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0" id="30"/>
          <p:cNvSpPr/>
          <p:nvPr/>
        </p:nvSpPr>
        <p:spPr>
          <a:xfrm flipH="false" flipV="false" rot="0">
            <a:off x="1213710" y="4630818"/>
            <a:ext cx="2269424" cy="1910443"/>
          </a:xfrm>
          <a:custGeom>
            <a:avLst/>
            <a:gdLst/>
            <a:ahLst/>
            <a:cxnLst/>
            <a:rect r="r" b="b" t="t" l="l"/>
            <a:pathLst>
              <a:path h="1910443" w="2269424">
                <a:moveTo>
                  <a:pt x="0" y="0"/>
                </a:moveTo>
                <a:lnTo>
                  <a:pt x="2269424" y="0"/>
                </a:lnTo>
                <a:lnTo>
                  <a:pt x="2269424" y="1910442"/>
                </a:lnTo>
                <a:lnTo>
                  <a:pt x="0" y="19104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31" id="31"/>
          <p:cNvSpPr/>
          <p:nvPr/>
        </p:nvSpPr>
        <p:spPr>
          <a:xfrm flipH="false" flipV="false" rot="0">
            <a:off x="10078861" y="4630818"/>
            <a:ext cx="1819250" cy="1819250"/>
          </a:xfrm>
          <a:custGeom>
            <a:avLst/>
            <a:gdLst/>
            <a:ahLst/>
            <a:cxnLst/>
            <a:rect r="r" b="b" t="t" l="l"/>
            <a:pathLst>
              <a:path h="1819250" w="1819250">
                <a:moveTo>
                  <a:pt x="0" y="0"/>
                </a:moveTo>
                <a:lnTo>
                  <a:pt x="1819251" y="0"/>
                </a:lnTo>
                <a:lnTo>
                  <a:pt x="1819251" y="1819250"/>
                </a:lnTo>
                <a:lnTo>
                  <a:pt x="0" y="181925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2" id="32"/>
          <p:cNvSpPr/>
          <p:nvPr/>
        </p:nvSpPr>
        <p:spPr>
          <a:xfrm flipH="false" flipV="false" rot="0">
            <a:off x="14688629" y="4553282"/>
            <a:ext cx="2103763" cy="2065513"/>
          </a:xfrm>
          <a:custGeom>
            <a:avLst/>
            <a:gdLst/>
            <a:ahLst/>
            <a:cxnLst/>
            <a:rect r="r" b="b" t="t" l="l"/>
            <a:pathLst>
              <a:path h="2065513" w="2103763">
                <a:moveTo>
                  <a:pt x="0" y="0"/>
                </a:moveTo>
                <a:lnTo>
                  <a:pt x="2103763" y="0"/>
                </a:lnTo>
                <a:lnTo>
                  <a:pt x="2103763" y="2065513"/>
                </a:lnTo>
                <a:lnTo>
                  <a:pt x="0" y="206551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3" id="33"/>
          <p:cNvSpPr txBox="true"/>
          <p:nvPr/>
        </p:nvSpPr>
        <p:spPr>
          <a:xfrm rot="0">
            <a:off x="426938" y="7746165"/>
            <a:ext cx="3336787" cy="1233493"/>
          </a:xfrm>
          <a:prstGeom prst="rect">
            <a:avLst/>
          </a:prstGeom>
        </p:spPr>
        <p:txBody>
          <a:bodyPr anchor="t" rtlCol="false" tIns="0" lIns="0" bIns="0" rIns="0">
            <a:spAutoFit/>
          </a:bodyPr>
          <a:lstStyle/>
          <a:p>
            <a:pPr algn="just">
              <a:lnSpc>
                <a:spcPts val="2436"/>
              </a:lnSpc>
            </a:pPr>
            <a:r>
              <a:rPr lang="en-US" sz="1874" spc="-5">
                <a:solidFill>
                  <a:srgbClr val="3A58E4"/>
                </a:solidFill>
                <a:latin typeface="Poppins"/>
                <a:ea typeface="Poppins"/>
                <a:cs typeface="Poppins"/>
                <a:sym typeface="Poppins"/>
              </a:rPr>
              <a:t>REMOTEOK A JOB LISTING WEBSITE WAS USED AS DATA SOURCE THROUGH WHICH THE ANALYSIS WAS BEGIN</a:t>
            </a:r>
          </a:p>
        </p:txBody>
      </p:sp>
      <p:sp>
        <p:nvSpPr>
          <p:cNvPr name="TextBox 34" id="34"/>
          <p:cNvSpPr txBox="true"/>
          <p:nvPr/>
        </p:nvSpPr>
        <p:spPr>
          <a:xfrm rot="0">
            <a:off x="4459332" y="7765215"/>
            <a:ext cx="4105054" cy="1159669"/>
          </a:xfrm>
          <a:prstGeom prst="rect">
            <a:avLst/>
          </a:prstGeom>
        </p:spPr>
        <p:txBody>
          <a:bodyPr anchor="t" rtlCol="false" tIns="0" lIns="0" bIns="0" rIns="0">
            <a:spAutoFit/>
          </a:bodyPr>
          <a:lstStyle/>
          <a:p>
            <a:pPr algn="just">
              <a:lnSpc>
                <a:spcPts val="2268"/>
              </a:lnSpc>
            </a:pPr>
            <a:r>
              <a:rPr lang="en-US" sz="1874" spc="-41">
                <a:solidFill>
                  <a:srgbClr val="3A58E4"/>
                </a:solidFill>
                <a:latin typeface="Poppins"/>
                <a:ea typeface="Poppins"/>
                <a:cs typeface="Poppins"/>
                <a:sym typeface="Poppins"/>
              </a:rPr>
              <a:t>WEB SCRAPING USING PYTHON’S BEAUTIFULSOUP.REQUEST WERE USED TO GET THE DESIRED DATA FOR THE ANLYSIS</a:t>
            </a:r>
          </a:p>
        </p:txBody>
      </p:sp>
      <p:sp>
        <p:nvSpPr>
          <p:cNvPr name="TextBox 35" id="35"/>
          <p:cNvSpPr txBox="true"/>
          <p:nvPr/>
        </p:nvSpPr>
        <p:spPr>
          <a:xfrm rot="0">
            <a:off x="9079841" y="7720007"/>
            <a:ext cx="4007483" cy="1538293"/>
          </a:xfrm>
          <a:prstGeom prst="rect">
            <a:avLst/>
          </a:prstGeom>
        </p:spPr>
        <p:txBody>
          <a:bodyPr anchor="t" rtlCol="false" tIns="0" lIns="0" bIns="0" rIns="0">
            <a:spAutoFit/>
          </a:bodyPr>
          <a:lstStyle/>
          <a:p>
            <a:pPr algn="just">
              <a:lnSpc>
                <a:spcPts val="2436"/>
              </a:lnSpc>
            </a:pPr>
            <a:r>
              <a:rPr lang="en-US" sz="1874" spc="-5">
                <a:solidFill>
                  <a:srgbClr val="3A58E4"/>
                </a:solidFill>
                <a:latin typeface="Poppins"/>
                <a:ea typeface="Poppins"/>
                <a:cs typeface="Poppins"/>
                <a:sym typeface="Poppins"/>
              </a:rPr>
              <a:t>THE DATA COLLECTED THROUGH</a:t>
            </a:r>
          </a:p>
          <a:p>
            <a:pPr algn="just">
              <a:lnSpc>
                <a:spcPts val="2436"/>
              </a:lnSpc>
            </a:pPr>
            <a:r>
              <a:rPr lang="en-US" sz="1874" spc="-5">
                <a:solidFill>
                  <a:srgbClr val="3A58E4"/>
                </a:solidFill>
                <a:latin typeface="Poppins"/>
                <a:ea typeface="Poppins"/>
                <a:cs typeface="Poppins"/>
                <a:sym typeface="Poppins"/>
              </a:rPr>
              <a:t>REMOTEOK WAS LATER CLEANED AND CONVERTED USING PYTHON’S LIBRARY PANDAS AND IN BUILT FILE OPERATION</a:t>
            </a:r>
          </a:p>
        </p:txBody>
      </p:sp>
      <p:sp>
        <p:nvSpPr>
          <p:cNvPr name="TextBox 36" id="36"/>
          <p:cNvSpPr txBox="true"/>
          <p:nvPr/>
        </p:nvSpPr>
        <p:spPr>
          <a:xfrm rot="0">
            <a:off x="13494848" y="7871178"/>
            <a:ext cx="3838938" cy="928693"/>
          </a:xfrm>
          <a:prstGeom prst="rect">
            <a:avLst/>
          </a:prstGeom>
        </p:spPr>
        <p:txBody>
          <a:bodyPr anchor="t" rtlCol="false" tIns="0" lIns="0" bIns="0" rIns="0">
            <a:spAutoFit/>
          </a:bodyPr>
          <a:lstStyle/>
          <a:p>
            <a:pPr algn="just">
              <a:lnSpc>
                <a:spcPts val="2436"/>
              </a:lnSpc>
            </a:pPr>
            <a:r>
              <a:rPr lang="en-US" sz="1874" spc="-5">
                <a:solidFill>
                  <a:srgbClr val="3A58E4"/>
                </a:solidFill>
                <a:latin typeface="Poppins"/>
                <a:ea typeface="Poppins"/>
                <a:cs typeface="Poppins"/>
                <a:sym typeface="Poppins"/>
              </a:rPr>
              <a:t>THE CLEANED DATA WAS LATER CONVERTED IN CSV FILE FOR DASHBOARD BUILDING</a:t>
            </a:r>
          </a:p>
        </p:txBody>
      </p:sp>
      <p:sp>
        <p:nvSpPr>
          <p:cNvPr name="TextBox 37" id="37"/>
          <p:cNvSpPr txBox="true"/>
          <p:nvPr/>
        </p:nvSpPr>
        <p:spPr>
          <a:xfrm rot="0">
            <a:off x="7435481" y="258553"/>
            <a:ext cx="3648101" cy="1572966"/>
          </a:xfrm>
          <a:prstGeom prst="rect">
            <a:avLst/>
          </a:prstGeom>
        </p:spPr>
        <p:txBody>
          <a:bodyPr anchor="t" rtlCol="false" tIns="0" lIns="0" bIns="0" rIns="0">
            <a:spAutoFit/>
          </a:bodyPr>
          <a:lstStyle/>
          <a:p>
            <a:pPr algn="l">
              <a:lnSpc>
                <a:spcPts val="6060"/>
              </a:lnSpc>
            </a:pPr>
            <a:r>
              <a:rPr lang="en-US" sz="6184" spc="-395" u="sng">
                <a:gradFill>
                  <a:gsLst>
                    <a:gs pos="0">
                      <a:srgbClr val="3A58E4">
                        <a:alpha val="100000"/>
                      </a:srgbClr>
                    </a:gs>
                    <a:gs pos="100000">
                      <a:srgbClr val="293E9C">
                        <a:alpha val="100000"/>
                      </a:srgbClr>
                    </a:gs>
                  </a:gsLst>
                  <a:path path="circle">
                    <a:fillToRect l="0" r="100000" t="0" b="100000"/>
                  </a:path>
                  <a:tileRect r="0" l="-100000" b="0" t="-100000"/>
                </a:gradFill>
                <a:latin typeface="Bricolage Grotesque"/>
                <a:ea typeface="Bricolage Grotesque"/>
                <a:cs typeface="Bricolage Grotesque"/>
                <a:sym typeface="Bricolage Grotesque"/>
              </a:rPr>
              <a:t>Data</a:t>
            </a:r>
          </a:p>
          <a:p>
            <a:pPr algn="l">
              <a:lnSpc>
                <a:spcPts val="6060"/>
              </a:lnSpc>
            </a:pPr>
            <a:r>
              <a:rPr lang="en-US" sz="6184" spc="-395" u="sng">
                <a:gradFill>
                  <a:gsLst>
                    <a:gs pos="0">
                      <a:srgbClr val="3A58E4">
                        <a:alpha val="100000"/>
                      </a:srgbClr>
                    </a:gs>
                    <a:gs pos="100000">
                      <a:srgbClr val="293E9C">
                        <a:alpha val="100000"/>
                      </a:srgbClr>
                    </a:gs>
                  </a:gsLst>
                  <a:path path="circle">
                    <a:fillToRect l="0" r="100000" t="0" b="100000"/>
                  </a:path>
                  <a:tileRect r="0" l="-100000" b="0" t="-100000"/>
                </a:gradFill>
                <a:latin typeface="Bricolage Grotesque"/>
                <a:ea typeface="Bricolage Grotesque"/>
                <a:cs typeface="Bricolage Grotesque"/>
                <a:sym typeface="Bricolage Grotesque"/>
              </a:rPr>
              <a:t>Collection</a:t>
            </a:r>
          </a:p>
        </p:txBody>
      </p:sp>
      <p:sp>
        <p:nvSpPr>
          <p:cNvPr name="TextBox 38" id="38"/>
          <p:cNvSpPr txBox="true"/>
          <p:nvPr/>
        </p:nvSpPr>
        <p:spPr>
          <a:xfrm rot="0">
            <a:off x="376235" y="6928479"/>
            <a:ext cx="3438193" cy="406019"/>
          </a:xfrm>
          <a:prstGeom prst="rect">
            <a:avLst/>
          </a:prstGeom>
        </p:spPr>
        <p:txBody>
          <a:bodyPr anchor="t" rtlCol="false" tIns="0" lIns="0" bIns="0" rIns="0">
            <a:spAutoFit/>
          </a:bodyPr>
          <a:lstStyle/>
          <a:p>
            <a:pPr algn="ctr">
              <a:lnSpc>
                <a:spcPts val="3346"/>
              </a:lnSpc>
              <a:spcBef>
                <a:spcPct val="0"/>
              </a:spcBef>
            </a:pPr>
            <a:r>
              <a:rPr lang="en-US" b="true" sz="2390" spc="-152">
                <a:gradFill>
                  <a:gsLst>
                    <a:gs pos="0">
                      <a:srgbClr val="3A58E4">
                        <a:alpha val="100000"/>
                      </a:srgbClr>
                    </a:gs>
                    <a:gs pos="100000">
                      <a:srgbClr val="293E9C">
                        <a:alpha val="100000"/>
                      </a:srgbClr>
                    </a:gs>
                  </a:gsLst>
                  <a:path path="circle">
                    <a:fillToRect l="0" r="100000" t="0" b="100000"/>
                  </a:path>
                  <a:tileRect r="0" l="-100000" b="0" t="-100000"/>
                </a:gradFill>
                <a:latin typeface="Bricolage Grotesque Bold"/>
                <a:ea typeface="Bricolage Grotesque Bold"/>
                <a:cs typeface="Bricolage Grotesque Bold"/>
                <a:sym typeface="Bricolage Grotesque Bold"/>
              </a:rPr>
              <a:t>DATA SOURCE</a:t>
            </a:r>
          </a:p>
        </p:txBody>
      </p:sp>
      <p:sp>
        <p:nvSpPr>
          <p:cNvPr name="TextBox 39" id="39"/>
          <p:cNvSpPr txBox="true"/>
          <p:nvPr/>
        </p:nvSpPr>
        <p:spPr>
          <a:xfrm rot="0">
            <a:off x="4658120" y="6946368"/>
            <a:ext cx="3438193" cy="406019"/>
          </a:xfrm>
          <a:prstGeom prst="rect">
            <a:avLst/>
          </a:prstGeom>
        </p:spPr>
        <p:txBody>
          <a:bodyPr anchor="t" rtlCol="false" tIns="0" lIns="0" bIns="0" rIns="0">
            <a:spAutoFit/>
          </a:bodyPr>
          <a:lstStyle/>
          <a:p>
            <a:pPr algn="ctr">
              <a:lnSpc>
                <a:spcPts val="3346"/>
              </a:lnSpc>
              <a:spcBef>
                <a:spcPct val="0"/>
              </a:spcBef>
            </a:pPr>
            <a:r>
              <a:rPr lang="en-US" b="true" sz="2390" spc="-152">
                <a:gradFill>
                  <a:gsLst>
                    <a:gs pos="0">
                      <a:srgbClr val="3A58E4">
                        <a:alpha val="100000"/>
                      </a:srgbClr>
                    </a:gs>
                    <a:gs pos="100000">
                      <a:srgbClr val="293E9C">
                        <a:alpha val="100000"/>
                      </a:srgbClr>
                    </a:gs>
                  </a:gsLst>
                  <a:path path="circle">
                    <a:fillToRect l="0" r="100000" t="0" b="100000"/>
                  </a:path>
                  <a:tileRect r="0" l="-100000" b="0" t="-100000"/>
                </a:gradFill>
                <a:latin typeface="Bricolage Grotesque Bold"/>
                <a:ea typeface="Bricolage Grotesque Bold"/>
                <a:cs typeface="Bricolage Grotesque Bold"/>
                <a:sym typeface="Bricolage Grotesque Bold"/>
              </a:rPr>
              <a:t>COLLECTION METHOD</a:t>
            </a:r>
          </a:p>
        </p:txBody>
      </p:sp>
      <p:sp>
        <p:nvSpPr>
          <p:cNvPr name="TextBox 40" id="40"/>
          <p:cNvSpPr txBox="true"/>
          <p:nvPr/>
        </p:nvSpPr>
        <p:spPr>
          <a:xfrm rot="0">
            <a:off x="9240661" y="6928479"/>
            <a:ext cx="3438193" cy="406019"/>
          </a:xfrm>
          <a:prstGeom prst="rect">
            <a:avLst/>
          </a:prstGeom>
        </p:spPr>
        <p:txBody>
          <a:bodyPr anchor="t" rtlCol="false" tIns="0" lIns="0" bIns="0" rIns="0">
            <a:spAutoFit/>
          </a:bodyPr>
          <a:lstStyle/>
          <a:p>
            <a:pPr algn="ctr">
              <a:lnSpc>
                <a:spcPts val="3346"/>
              </a:lnSpc>
              <a:spcBef>
                <a:spcPct val="0"/>
              </a:spcBef>
            </a:pPr>
            <a:r>
              <a:rPr lang="en-US" b="true" sz="2390" spc="-152">
                <a:gradFill>
                  <a:gsLst>
                    <a:gs pos="0">
                      <a:srgbClr val="3A58E4">
                        <a:alpha val="100000"/>
                      </a:srgbClr>
                    </a:gs>
                    <a:gs pos="100000">
                      <a:srgbClr val="293E9C">
                        <a:alpha val="100000"/>
                      </a:srgbClr>
                    </a:gs>
                  </a:gsLst>
                  <a:path path="circle">
                    <a:fillToRect l="0" r="100000" t="0" b="100000"/>
                  </a:path>
                  <a:tileRect r="0" l="-100000" b="0" t="-100000"/>
                </a:gradFill>
                <a:latin typeface="Bricolage Grotesque Bold"/>
                <a:ea typeface="Bricolage Grotesque Bold"/>
                <a:cs typeface="Bricolage Grotesque Bold"/>
                <a:sym typeface="Bricolage Grotesque Bold"/>
              </a:rPr>
              <a:t>DATA EXTRACTION</a:t>
            </a:r>
          </a:p>
        </p:txBody>
      </p:sp>
      <p:sp>
        <p:nvSpPr>
          <p:cNvPr name="TextBox 41" id="41"/>
          <p:cNvSpPr txBox="true"/>
          <p:nvPr/>
        </p:nvSpPr>
        <p:spPr>
          <a:xfrm rot="0">
            <a:off x="13571196" y="6928479"/>
            <a:ext cx="3438193" cy="406019"/>
          </a:xfrm>
          <a:prstGeom prst="rect">
            <a:avLst/>
          </a:prstGeom>
        </p:spPr>
        <p:txBody>
          <a:bodyPr anchor="t" rtlCol="false" tIns="0" lIns="0" bIns="0" rIns="0">
            <a:spAutoFit/>
          </a:bodyPr>
          <a:lstStyle/>
          <a:p>
            <a:pPr algn="ctr">
              <a:lnSpc>
                <a:spcPts val="3346"/>
              </a:lnSpc>
              <a:spcBef>
                <a:spcPct val="0"/>
              </a:spcBef>
            </a:pPr>
            <a:r>
              <a:rPr lang="en-US" b="true" sz="2390" spc="-152">
                <a:gradFill>
                  <a:gsLst>
                    <a:gs pos="0">
                      <a:srgbClr val="3A58E4">
                        <a:alpha val="100000"/>
                      </a:srgbClr>
                    </a:gs>
                    <a:gs pos="100000">
                      <a:srgbClr val="293E9C">
                        <a:alpha val="100000"/>
                      </a:srgbClr>
                    </a:gs>
                  </a:gsLst>
                  <a:path path="circle">
                    <a:fillToRect l="0" r="100000" t="0" b="100000"/>
                  </a:path>
                  <a:tileRect r="0" l="-100000" b="0" t="-100000"/>
                </a:gradFill>
                <a:latin typeface="Bricolage Grotesque Bold"/>
                <a:ea typeface="Bricolage Grotesque Bold"/>
                <a:cs typeface="Bricolage Grotesque Bold"/>
                <a:sym typeface="Bricolage Grotesque Bold"/>
              </a:rPr>
              <a:t>OUTPUT DATASET</a:t>
            </a:r>
          </a:p>
        </p:txBody>
      </p:sp>
      <p:grpSp>
        <p:nvGrpSpPr>
          <p:cNvPr name="Group 42" id="42"/>
          <p:cNvGrpSpPr/>
          <p:nvPr/>
        </p:nvGrpSpPr>
        <p:grpSpPr>
          <a:xfrm rot="0">
            <a:off x="16872233" y="0"/>
            <a:ext cx="1415767" cy="1414399"/>
            <a:chOff x="0" y="0"/>
            <a:chExt cx="1887689" cy="1885865"/>
          </a:xfrm>
        </p:grpSpPr>
        <p:grpSp>
          <p:nvGrpSpPr>
            <p:cNvPr name="Group 43" id="43"/>
            <p:cNvGrpSpPr/>
            <p:nvPr/>
          </p:nvGrpSpPr>
          <p:grpSpPr>
            <a:xfrm rot="0">
              <a:off x="0" y="0"/>
              <a:ext cx="1887689" cy="1885865"/>
              <a:chOff x="0" y="0"/>
              <a:chExt cx="787566" cy="786805"/>
            </a:xfrm>
          </p:grpSpPr>
          <p:sp>
            <p:nvSpPr>
              <p:cNvPr name="Freeform 44" id="44"/>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45" id="45"/>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46" id="46"/>
            <p:cNvSpPr txBox="true"/>
            <p:nvPr/>
          </p:nvSpPr>
          <p:spPr>
            <a:xfrm rot="0">
              <a:off x="244255" y="531641"/>
              <a:ext cx="1399178" cy="917832"/>
            </a:xfrm>
            <a:prstGeom prst="rect">
              <a:avLst/>
            </a:prstGeom>
          </p:spPr>
          <p:txBody>
            <a:bodyPr anchor="t" rtlCol="false" tIns="0" lIns="0" bIns="0" rIns="0">
              <a:spAutoFit/>
            </a:bodyPr>
            <a:lstStyle/>
            <a:p>
              <a:pPr algn="ctr">
                <a:lnSpc>
                  <a:spcPts val="4917"/>
                </a:lnSpc>
              </a:pPr>
              <a:r>
                <a:rPr lang="en-US" sz="5018" spc="-321">
                  <a:solidFill>
                    <a:srgbClr val="FFFFFF"/>
                  </a:solidFill>
                  <a:latin typeface="Bricolage Grotesque"/>
                  <a:ea typeface="Bricolage Grotesque"/>
                  <a:cs typeface="Bricolage Grotesque"/>
                  <a:sym typeface="Bricolage Grotesque"/>
                </a:rPr>
                <a:t>03</a:t>
              </a:r>
            </a:p>
          </p:txBody>
        </p:sp>
      </p:grpSp>
    </p:spTree>
  </p:cSld>
  <p:clrMapOvr>
    <a:masterClrMapping/>
  </p:clrMapOvr>
  <p:transition spd="med">
    <p:push dir="l"/>
  </p:transition>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7273703" y="8366"/>
            <a:ext cx="47625" cy="2040668"/>
            <a:chOff x="0" y="0"/>
            <a:chExt cx="12543" cy="537460"/>
          </a:xfrm>
        </p:grpSpPr>
        <p:sp>
          <p:nvSpPr>
            <p:cNvPr name="Freeform 3" id="3"/>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4" id="4"/>
            <p:cNvSpPr txBox="true"/>
            <p:nvPr/>
          </p:nvSpPr>
          <p:spPr>
            <a:xfrm>
              <a:off x="0" y="-57150"/>
              <a:ext cx="12543" cy="594610"/>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7595380" y="1539421"/>
            <a:ext cx="8830427" cy="854192"/>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TECHNOLOGIES, TOOLS, AND TECHNICAL SKILLS UTILIZED THROUGHOUT THE PROJECT LIFECYCLE</a:t>
            </a:r>
          </a:p>
        </p:txBody>
      </p:sp>
      <p:grpSp>
        <p:nvGrpSpPr>
          <p:cNvPr name="Group 6" id="6"/>
          <p:cNvGrpSpPr/>
          <p:nvPr/>
        </p:nvGrpSpPr>
        <p:grpSpPr>
          <a:xfrm rot="0">
            <a:off x="16438046" y="0"/>
            <a:ext cx="1849954" cy="1848166"/>
            <a:chOff x="0" y="0"/>
            <a:chExt cx="2466605" cy="2464222"/>
          </a:xfrm>
        </p:grpSpPr>
        <p:grpSp>
          <p:nvGrpSpPr>
            <p:cNvPr name="Group 7" id="7"/>
            <p:cNvGrpSpPr/>
            <p:nvPr/>
          </p:nvGrpSpPr>
          <p:grpSpPr>
            <a:xfrm rot="0">
              <a:off x="0" y="0"/>
              <a:ext cx="2466605" cy="2464222"/>
              <a:chOff x="0" y="0"/>
              <a:chExt cx="787566" cy="786805"/>
            </a:xfrm>
          </p:grpSpPr>
          <p:sp>
            <p:nvSpPr>
              <p:cNvPr name="Freeform 8" id="8"/>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9" id="9"/>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10" id="10"/>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04</a:t>
              </a:r>
            </a:p>
          </p:txBody>
        </p:sp>
      </p:grpSp>
      <p:sp>
        <p:nvSpPr>
          <p:cNvPr name="AutoShape 11" id="11"/>
          <p:cNvSpPr/>
          <p:nvPr/>
        </p:nvSpPr>
        <p:spPr>
          <a:xfrm flipH="true">
            <a:off x="6542795" y="0"/>
            <a:ext cx="0" cy="10287000"/>
          </a:xfrm>
          <a:prstGeom prst="line">
            <a:avLst/>
          </a:prstGeom>
          <a:ln cap="rnd" w="19050">
            <a:solidFill>
              <a:srgbClr val="3A58E4"/>
            </a:solidFill>
            <a:prstDash val="solid"/>
            <a:headEnd type="none" len="sm" w="sm"/>
            <a:tailEnd type="none" len="sm" w="sm"/>
          </a:ln>
        </p:spPr>
      </p:sp>
      <p:sp>
        <p:nvSpPr>
          <p:cNvPr name="TextBox 12" id="12"/>
          <p:cNvSpPr txBox="true"/>
          <p:nvPr/>
        </p:nvSpPr>
        <p:spPr>
          <a:xfrm rot="0">
            <a:off x="7483253" y="329031"/>
            <a:ext cx="8793177" cy="1286590"/>
          </a:xfrm>
          <a:prstGeom prst="rect">
            <a:avLst/>
          </a:prstGeom>
        </p:spPr>
        <p:txBody>
          <a:bodyPr anchor="t" rtlCol="false" tIns="0" lIns="0" bIns="0" rIns="0">
            <a:spAutoFit/>
          </a:bodyPr>
          <a:lstStyle/>
          <a:p>
            <a:pPr algn="l">
              <a:lnSpc>
                <a:spcPts val="9603"/>
              </a:lnSpc>
            </a:pPr>
            <a:r>
              <a:rPr lang="en-US" sz="9799" spc="-62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METHODOLOGY</a:t>
            </a:r>
          </a:p>
        </p:txBody>
      </p:sp>
      <p:sp>
        <p:nvSpPr>
          <p:cNvPr name="TextBox 13" id="13"/>
          <p:cNvSpPr txBox="true"/>
          <p:nvPr/>
        </p:nvSpPr>
        <p:spPr>
          <a:xfrm rot="0">
            <a:off x="7595380" y="2600632"/>
            <a:ext cx="9021242" cy="7820790"/>
          </a:xfrm>
          <a:prstGeom prst="rect">
            <a:avLst/>
          </a:prstGeom>
        </p:spPr>
        <p:txBody>
          <a:bodyPr anchor="t" rtlCol="false" tIns="0" lIns="0" bIns="0" rIns="0">
            <a:spAutoFit/>
          </a:bodyPr>
          <a:lstStyle/>
          <a:p>
            <a:pPr algn="just">
              <a:lnSpc>
                <a:spcPts val="3107"/>
              </a:lnSpc>
            </a:pPr>
            <a:r>
              <a:rPr lang="en-US" sz="2219" spc="-6">
                <a:solidFill>
                  <a:srgbClr val="3A58E4"/>
                </a:solidFill>
                <a:latin typeface="Poppins"/>
                <a:ea typeface="Poppins"/>
                <a:cs typeface="Poppins"/>
                <a:sym typeface="Poppins"/>
              </a:rPr>
              <a:t>This project followed a structured data analytics workflow to analyze remote job market trends. Job posting data was collected from the RemoteOK website using a Python-based web scraping script and exported to CSV format. During data preprocessing, the dataset was cleaned by handling missing values, standardizing fields, and validating the extracted information.</a:t>
            </a:r>
          </a:p>
          <a:p>
            <a:pPr algn="just">
              <a:lnSpc>
                <a:spcPts val="3107"/>
              </a:lnSpc>
            </a:pPr>
            <a:r>
              <a:rPr lang="en-US" sz="2219" spc="-6">
                <a:solidFill>
                  <a:srgbClr val="3A58E4"/>
                </a:solidFill>
                <a:latin typeface="Poppins"/>
                <a:ea typeface="Poppins"/>
                <a:cs typeface="Poppins"/>
                <a:sym typeface="Poppins"/>
              </a:rPr>
              <a:t>Since a significant number of job postings did not include skill information, the analysis was limited to the subset of records that contained explicitly listed skills. This approach ensured that all findings and visualizations were based on complete and reliable skill-related data, enabling meaningful analysis of skill demand and associated job characteristics.</a:t>
            </a:r>
          </a:p>
          <a:p>
            <a:pPr algn="just">
              <a:lnSpc>
                <a:spcPts val="3107"/>
              </a:lnSpc>
            </a:pPr>
            <a:r>
              <a:rPr lang="en-US" sz="2219" spc="-6">
                <a:solidFill>
                  <a:srgbClr val="3A58E4"/>
                </a:solidFill>
                <a:latin typeface="Poppins"/>
                <a:ea typeface="Poppins"/>
                <a:cs typeface="Poppins"/>
                <a:sym typeface="Poppins"/>
              </a:rPr>
              <a:t>The filtered dataset was then imported into Tableau, where interactive dashboards were created to examine key performance indicators, in-demand skills, job categories, salary trends, employment types, and geographic distribution. The resulting visualizations were used to identify trends and answer the project's business questions.</a:t>
            </a:r>
          </a:p>
          <a:p>
            <a:pPr algn="just">
              <a:lnSpc>
                <a:spcPts val="3107"/>
              </a:lnSpc>
            </a:pPr>
          </a:p>
        </p:txBody>
      </p:sp>
      <p:sp>
        <p:nvSpPr>
          <p:cNvPr name="TextBox 14" id="14"/>
          <p:cNvSpPr txBox="true"/>
          <p:nvPr/>
        </p:nvSpPr>
        <p:spPr>
          <a:xfrm rot="0">
            <a:off x="704058" y="347686"/>
            <a:ext cx="8830427" cy="524627"/>
          </a:xfrm>
          <a:prstGeom prst="rect">
            <a:avLst/>
          </a:prstGeom>
        </p:spPr>
        <p:txBody>
          <a:bodyPr anchor="t" rtlCol="false" tIns="0" lIns="0" bIns="0" rIns="0">
            <a:spAutoFit/>
          </a:bodyPr>
          <a:lstStyle/>
          <a:p>
            <a:pPr algn="l">
              <a:lnSpc>
                <a:spcPts val="4158"/>
              </a:lnSpc>
            </a:pPr>
            <a:r>
              <a:rPr lang="en-US" b="true" sz="2970" spc="-74" u="sng">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SKILLS &amp; TECHNOLOGIES USED</a:t>
            </a:r>
          </a:p>
        </p:txBody>
      </p:sp>
      <p:sp>
        <p:nvSpPr>
          <p:cNvPr name="TextBox 15" id="15"/>
          <p:cNvSpPr txBox="true"/>
          <p:nvPr/>
        </p:nvSpPr>
        <p:spPr>
          <a:xfrm rot="0">
            <a:off x="704058" y="1276165"/>
            <a:ext cx="3909321" cy="8705812"/>
          </a:xfrm>
          <a:prstGeom prst="rect">
            <a:avLst/>
          </a:prstGeom>
        </p:spPr>
        <p:txBody>
          <a:bodyPr anchor="t" rtlCol="false" tIns="0" lIns="0" bIns="0" rIns="0">
            <a:spAutoFit/>
          </a:bodyPr>
          <a:lstStyle/>
          <a:p>
            <a:pPr algn="just">
              <a:lnSpc>
                <a:spcPts val="3887"/>
              </a:lnSpc>
            </a:pPr>
          </a:p>
          <a:p>
            <a:pPr algn="just">
              <a:lnSpc>
                <a:spcPts val="3887"/>
              </a:lnSpc>
            </a:pPr>
            <a:r>
              <a:rPr lang="en-US" b="true" sz="2776" spc="-8">
                <a:solidFill>
                  <a:srgbClr val="3A58E4"/>
                </a:solidFill>
                <a:latin typeface="Poppins Bold"/>
                <a:ea typeface="Poppins Bold"/>
                <a:cs typeface="Poppins Bold"/>
                <a:sym typeface="Poppins Bold"/>
              </a:rPr>
              <a:t>Programming</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Python</a:t>
            </a:r>
          </a:p>
          <a:p>
            <a:pPr algn="just">
              <a:lnSpc>
                <a:spcPts val="3887"/>
              </a:lnSpc>
            </a:pPr>
            <a:r>
              <a:rPr lang="en-US" b="true" sz="2776" spc="-8">
                <a:solidFill>
                  <a:srgbClr val="3A58E4"/>
                </a:solidFill>
                <a:latin typeface="Poppins Bold"/>
                <a:ea typeface="Poppins Bold"/>
                <a:cs typeface="Poppins Bold"/>
                <a:sym typeface="Poppins Bold"/>
              </a:rPr>
              <a:t>Libraries</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Requests</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BeautifulSoup</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Pandas</a:t>
            </a:r>
          </a:p>
          <a:p>
            <a:pPr algn="just">
              <a:lnSpc>
                <a:spcPts val="3887"/>
              </a:lnSpc>
            </a:pPr>
            <a:r>
              <a:rPr lang="en-US" b="true" sz="2776" spc="-8">
                <a:solidFill>
                  <a:srgbClr val="3A58E4"/>
                </a:solidFill>
                <a:latin typeface="Poppins Bold"/>
                <a:ea typeface="Poppins Bold"/>
                <a:cs typeface="Poppins Bold"/>
                <a:sym typeface="Poppins Bold"/>
              </a:rPr>
              <a:t>Data Processing</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Data Cleaning</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Data Validation</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Data Transformation</a:t>
            </a:r>
          </a:p>
          <a:p>
            <a:pPr algn="just">
              <a:lnSpc>
                <a:spcPts val="3887"/>
              </a:lnSpc>
            </a:pPr>
            <a:r>
              <a:rPr lang="en-US" b="true" sz="2776" spc="-8">
                <a:solidFill>
                  <a:srgbClr val="3A58E4"/>
                </a:solidFill>
                <a:latin typeface="Poppins Bold"/>
                <a:ea typeface="Poppins Bold"/>
                <a:cs typeface="Poppins Bold"/>
                <a:sym typeface="Poppins Bold"/>
              </a:rPr>
              <a:t>Visualization</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Tableau</a:t>
            </a:r>
          </a:p>
          <a:p>
            <a:pPr algn="just">
              <a:lnSpc>
                <a:spcPts val="3887"/>
              </a:lnSpc>
            </a:pPr>
            <a:r>
              <a:rPr lang="en-US" b="true" sz="2776" spc="-8">
                <a:solidFill>
                  <a:srgbClr val="3A58E4"/>
                </a:solidFill>
                <a:latin typeface="Poppins Bold"/>
                <a:ea typeface="Poppins Bold"/>
                <a:cs typeface="Poppins Bold"/>
                <a:sym typeface="Poppins Bold"/>
              </a:rPr>
              <a:t>Other Tools</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Microsoft Excel</a:t>
            </a:r>
          </a:p>
          <a:p>
            <a:pPr algn="just" marL="599445" indent="-299722" lvl="1">
              <a:lnSpc>
                <a:spcPts val="3887"/>
              </a:lnSpc>
              <a:buFont typeface="Arial"/>
              <a:buChar char="•"/>
            </a:pPr>
            <a:r>
              <a:rPr lang="en-US" b="true" sz="2776" spc="-8">
                <a:solidFill>
                  <a:srgbClr val="3A58E4"/>
                </a:solidFill>
                <a:latin typeface="Poppins Bold"/>
                <a:ea typeface="Poppins Bold"/>
                <a:cs typeface="Poppins Bold"/>
                <a:sym typeface="Poppins Bold"/>
              </a:rPr>
              <a:t>Canva</a:t>
            </a:r>
          </a:p>
          <a:p>
            <a:pPr algn="just">
              <a:lnSpc>
                <a:spcPts val="3467"/>
              </a:lnSpc>
            </a:pPr>
          </a:p>
        </p:txBody>
      </p:sp>
    </p:spTree>
  </p:cSld>
  <p:clrMapOvr>
    <a:masterClrMapping/>
  </p:clrMapOvr>
  <p:transition spd="med">
    <p:push dir="l"/>
  </p:transition>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438046" y="0"/>
            <a:ext cx="1849954" cy="1848166"/>
            <a:chOff x="0" y="0"/>
            <a:chExt cx="2466605" cy="2464222"/>
          </a:xfrm>
        </p:grpSpPr>
        <p:grpSp>
          <p:nvGrpSpPr>
            <p:cNvPr name="Group 3" id="3"/>
            <p:cNvGrpSpPr/>
            <p:nvPr/>
          </p:nvGrpSpPr>
          <p:grpSpPr>
            <a:xfrm rot="0">
              <a:off x="0" y="0"/>
              <a:ext cx="2466605" cy="2464222"/>
              <a:chOff x="0" y="0"/>
              <a:chExt cx="787566" cy="786805"/>
            </a:xfrm>
          </p:grpSpPr>
          <p:sp>
            <p:nvSpPr>
              <p:cNvPr name="Freeform 4" id="4"/>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5" id="5"/>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05</a:t>
              </a:r>
            </a:p>
          </p:txBody>
        </p:sp>
      </p:grpSp>
      <p:grpSp>
        <p:nvGrpSpPr>
          <p:cNvPr name="Group 7" id="7"/>
          <p:cNvGrpSpPr/>
          <p:nvPr/>
        </p:nvGrpSpPr>
        <p:grpSpPr>
          <a:xfrm rot="0">
            <a:off x="4656461" y="2024413"/>
            <a:ext cx="7837951" cy="832977"/>
            <a:chOff x="0" y="0"/>
            <a:chExt cx="10450601" cy="1110636"/>
          </a:xfrm>
        </p:grpSpPr>
        <p:sp>
          <p:nvSpPr>
            <p:cNvPr name="TextBox 8" id="8"/>
            <p:cNvSpPr txBox="true"/>
            <p:nvPr/>
          </p:nvSpPr>
          <p:spPr>
            <a:xfrm rot="0">
              <a:off x="0" y="-76200"/>
              <a:ext cx="10041774" cy="1186836"/>
            </a:xfrm>
            <a:prstGeom prst="rect">
              <a:avLst/>
            </a:prstGeom>
          </p:spPr>
          <p:txBody>
            <a:bodyPr anchor="t" rtlCol="false" tIns="0" lIns="0" bIns="0" rIns="0">
              <a:spAutoFit/>
            </a:bodyPr>
            <a:lstStyle/>
            <a:p>
              <a:pPr algn="l">
                <a:lnSpc>
                  <a:spcPts val="3553"/>
                </a:lnSpc>
              </a:pPr>
              <a:r>
                <a:rPr lang="en-US" b="true" sz="2537" spc="-63" u="sng">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A SUMMARY OF THE KEY METRICS DERIVED FROM THE ANALYZED REMOTEOK JOB DATASET.</a:t>
              </a:r>
            </a:p>
          </p:txBody>
        </p:sp>
        <p:sp>
          <p:nvSpPr>
            <p:cNvPr name="Freeform 9" id="9"/>
            <p:cNvSpPr/>
            <p:nvPr/>
          </p:nvSpPr>
          <p:spPr>
            <a:xfrm flipH="false" flipV="false" rot="-8687136">
              <a:off x="10111175" y="47987"/>
              <a:ext cx="270025" cy="326404"/>
            </a:xfrm>
            <a:custGeom>
              <a:avLst/>
              <a:gdLst/>
              <a:ahLst/>
              <a:cxnLst/>
              <a:rect r="r" b="b" t="t" l="l"/>
              <a:pathLst>
                <a:path h="326404" w="270025">
                  <a:moveTo>
                    <a:pt x="0" y="0"/>
                  </a:moveTo>
                  <a:lnTo>
                    <a:pt x="270025" y="0"/>
                  </a:lnTo>
                  <a:lnTo>
                    <a:pt x="270025" y="326404"/>
                  </a:lnTo>
                  <a:lnTo>
                    <a:pt x="0" y="326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grpSp>
        <p:nvGrpSpPr>
          <p:cNvPr name="Group 10" id="10"/>
          <p:cNvGrpSpPr/>
          <p:nvPr/>
        </p:nvGrpSpPr>
        <p:grpSpPr>
          <a:xfrm rot="0">
            <a:off x="1144536" y="4053055"/>
            <a:ext cx="3746706" cy="3746706"/>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l="0" r="100000" t="0" b="100000"/>
                </a:path>
                <a:tileRect r="0" l="-100000" b="0" t="-100000"/>
              </a:gradFill>
              <a:prstDash val="solid"/>
              <a:miter/>
            </a:ln>
          </p:spPr>
        </p:sp>
        <p:sp>
          <p:nvSpPr>
            <p:cNvPr name="TextBox 12" id="12"/>
            <p:cNvSpPr txBox="true"/>
            <p:nvPr/>
          </p:nvSpPr>
          <p:spPr>
            <a:xfrm>
              <a:off x="76200" y="19050"/>
              <a:ext cx="660400" cy="717550"/>
            </a:xfrm>
            <a:prstGeom prst="rect">
              <a:avLst/>
            </a:prstGeom>
          </p:spPr>
          <p:txBody>
            <a:bodyPr anchor="ctr" rtlCol="false" tIns="40108" lIns="40108" bIns="40108" rIns="40108"/>
            <a:lstStyle/>
            <a:p>
              <a:pPr algn="ctr">
                <a:lnSpc>
                  <a:spcPts val="2659"/>
                </a:lnSpc>
              </a:pPr>
            </a:p>
          </p:txBody>
        </p:sp>
      </p:grpSp>
      <p:grpSp>
        <p:nvGrpSpPr>
          <p:cNvPr name="Group 13" id="13"/>
          <p:cNvGrpSpPr/>
          <p:nvPr/>
        </p:nvGrpSpPr>
        <p:grpSpPr>
          <a:xfrm rot="0">
            <a:off x="4516232" y="4053055"/>
            <a:ext cx="3746706" cy="3746706"/>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a:ln cap="sq">
              <a:noFill/>
              <a:prstDash val="solid"/>
              <a:miter/>
            </a:ln>
          </p:spPr>
        </p:sp>
        <p:sp>
          <p:nvSpPr>
            <p:cNvPr name="TextBox 15" id="15"/>
            <p:cNvSpPr txBox="true"/>
            <p:nvPr/>
          </p:nvSpPr>
          <p:spPr>
            <a:xfrm>
              <a:off x="76200" y="19050"/>
              <a:ext cx="660400" cy="717550"/>
            </a:xfrm>
            <a:prstGeom prst="rect">
              <a:avLst/>
            </a:prstGeom>
          </p:spPr>
          <p:txBody>
            <a:bodyPr anchor="ctr" rtlCol="false" tIns="40108" lIns="40108" bIns="40108" rIns="40108"/>
            <a:lstStyle/>
            <a:p>
              <a:pPr algn="ctr">
                <a:lnSpc>
                  <a:spcPts val="2659"/>
                </a:lnSpc>
              </a:pPr>
            </a:p>
          </p:txBody>
        </p:sp>
      </p:grpSp>
      <p:grpSp>
        <p:nvGrpSpPr>
          <p:cNvPr name="Group 16" id="16"/>
          <p:cNvGrpSpPr/>
          <p:nvPr/>
        </p:nvGrpSpPr>
        <p:grpSpPr>
          <a:xfrm rot="0">
            <a:off x="7741205" y="3893756"/>
            <a:ext cx="3746706" cy="3746706"/>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l="0" r="100000" t="0" b="100000"/>
                </a:path>
                <a:tileRect r="0" l="-100000" b="0" t="-100000"/>
              </a:gradFill>
              <a:prstDash val="solid"/>
              <a:miter/>
            </a:ln>
          </p:spPr>
        </p:sp>
        <p:sp>
          <p:nvSpPr>
            <p:cNvPr name="TextBox 18" id="18"/>
            <p:cNvSpPr txBox="true"/>
            <p:nvPr/>
          </p:nvSpPr>
          <p:spPr>
            <a:xfrm>
              <a:off x="76200" y="19050"/>
              <a:ext cx="660400" cy="717550"/>
            </a:xfrm>
            <a:prstGeom prst="rect">
              <a:avLst/>
            </a:prstGeom>
          </p:spPr>
          <p:txBody>
            <a:bodyPr anchor="ctr" rtlCol="false" tIns="40108" lIns="40108" bIns="40108" rIns="40108"/>
            <a:lstStyle/>
            <a:p>
              <a:pPr algn="ctr">
                <a:lnSpc>
                  <a:spcPts val="2659"/>
                </a:lnSpc>
              </a:pPr>
            </a:p>
          </p:txBody>
        </p:sp>
      </p:grpSp>
      <p:grpSp>
        <p:nvGrpSpPr>
          <p:cNvPr name="Group 19" id="19"/>
          <p:cNvGrpSpPr/>
          <p:nvPr/>
        </p:nvGrpSpPr>
        <p:grpSpPr>
          <a:xfrm rot="0">
            <a:off x="11139769" y="3904008"/>
            <a:ext cx="3746706" cy="3746706"/>
            <a:chOff x="0" y="0"/>
            <a:chExt cx="812800" cy="812800"/>
          </a:xfrm>
        </p:grpSpPr>
        <p:sp>
          <p:nvSpPr>
            <p:cNvPr name="Freeform 20" id="2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sq">
              <a:noFill/>
              <a:prstDash val="solid"/>
              <a:miter/>
            </a:ln>
          </p:spPr>
        </p:sp>
        <p:sp>
          <p:nvSpPr>
            <p:cNvPr name="TextBox 21" id="21"/>
            <p:cNvSpPr txBox="true"/>
            <p:nvPr/>
          </p:nvSpPr>
          <p:spPr>
            <a:xfrm>
              <a:off x="76200" y="19050"/>
              <a:ext cx="660400" cy="717550"/>
            </a:xfrm>
            <a:prstGeom prst="rect">
              <a:avLst/>
            </a:prstGeom>
          </p:spPr>
          <p:txBody>
            <a:bodyPr anchor="ctr" rtlCol="false" tIns="40108" lIns="40108" bIns="40108" rIns="40108"/>
            <a:lstStyle/>
            <a:p>
              <a:pPr algn="ctr">
                <a:lnSpc>
                  <a:spcPts val="2659"/>
                </a:lnSpc>
              </a:pPr>
            </a:p>
          </p:txBody>
        </p:sp>
      </p:grpSp>
      <p:sp>
        <p:nvSpPr>
          <p:cNvPr name="TextBox 22" id="22"/>
          <p:cNvSpPr txBox="true"/>
          <p:nvPr/>
        </p:nvSpPr>
        <p:spPr>
          <a:xfrm rot="0">
            <a:off x="2345222" y="6181291"/>
            <a:ext cx="1984104" cy="378701"/>
          </a:xfrm>
          <a:prstGeom prst="rect">
            <a:avLst/>
          </a:prstGeom>
        </p:spPr>
        <p:txBody>
          <a:bodyPr anchor="t" rtlCol="false" tIns="0" lIns="0" bIns="0" rIns="0">
            <a:spAutoFit/>
          </a:bodyPr>
          <a:lstStyle/>
          <a:p>
            <a:pPr algn="ctr">
              <a:lnSpc>
                <a:spcPts val="2897"/>
              </a:lnSpc>
            </a:pPr>
          </a:p>
        </p:txBody>
      </p:sp>
      <p:sp>
        <p:nvSpPr>
          <p:cNvPr name="TextBox 23" id="23"/>
          <p:cNvSpPr txBox="true"/>
          <p:nvPr/>
        </p:nvSpPr>
        <p:spPr>
          <a:xfrm rot="0">
            <a:off x="5115195" y="4917075"/>
            <a:ext cx="2931842" cy="1642916"/>
          </a:xfrm>
          <a:prstGeom prst="rect">
            <a:avLst/>
          </a:prstGeom>
        </p:spPr>
        <p:txBody>
          <a:bodyPr anchor="t" rtlCol="false" tIns="0" lIns="0" bIns="0" rIns="0">
            <a:spAutoFit/>
          </a:bodyPr>
          <a:lstStyle/>
          <a:p>
            <a:pPr algn="ctr">
              <a:lnSpc>
                <a:spcPts val="4282"/>
              </a:lnSpc>
            </a:pPr>
            <a:r>
              <a:rPr lang="en-US" b="true" sz="3319" spc="-9">
                <a:solidFill>
                  <a:srgbClr val="FFFFFF"/>
                </a:solidFill>
                <a:latin typeface="Poppins Bold"/>
                <a:ea typeface="Poppins Bold"/>
                <a:cs typeface="Poppins Bold"/>
                <a:sym typeface="Poppins Bold"/>
              </a:rPr>
              <a:t>41</a:t>
            </a:r>
          </a:p>
          <a:p>
            <a:pPr algn="ctr">
              <a:lnSpc>
                <a:spcPts val="4282"/>
              </a:lnSpc>
            </a:pPr>
            <a:r>
              <a:rPr lang="en-US" b="true" sz="3319" spc="-9">
                <a:solidFill>
                  <a:srgbClr val="FFFFFF"/>
                </a:solidFill>
                <a:latin typeface="Poppins Bold"/>
                <a:ea typeface="Poppins Bold"/>
                <a:cs typeface="Poppins Bold"/>
                <a:sym typeface="Poppins Bold"/>
              </a:rPr>
              <a:t>Hiring Companies</a:t>
            </a:r>
          </a:p>
        </p:txBody>
      </p:sp>
      <p:grpSp>
        <p:nvGrpSpPr>
          <p:cNvPr name="Group 24" id="24"/>
          <p:cNvGrpSpPr/>
          <p:nvPr/>
        </p:nvGrpSpPr>
        <p:grpSpPr>
          <a:xfrm rot="0">
            <a:off x="3564291" y="4053055"/>
            <a:ext cx="746986" cy="746986"/>
            <a:chOff x="0" y="0"/>
            <a:chExt cx="995981" cy="995981"/>
          </a:xfrm>
        </p:grpSpPr>
        <p:grpSp>
          <p:nvGrpSpPr>
            <p:cNvPr name="Group 25" id="25"/>
            <p:cNvGrpSpPr/>
            <p:nvPr/>
          </p:nvGrpSpPr>
          <p:grpSpPr>
            <a:xfrm rot="0">
              <a:off x="0" y="0"/>
              <a:ext cx="995981" cy="995981"/>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sq">
                <a:noFill/>
                <a:prstDash val="solid"/>
                <a:miter/>
              </a:ln>
            </p:spPr>
          </p:sp>
          <p:sp>
            <p:nvSpPr>
              <p:cNvPr name="TextBox 27" id="27"/>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TextBox 28" id="28"/>
            <p:cNvSpPr txBox="true"/>
            <p:nvPr/>
          </p:nvSpPr>
          <p:spPr>
            <a:xfrm rot="0">
              <a:off x="175623" y="235561"/>
              <a:ext cx="644736" cy="486759"/>
            </a:xfrm>
            <a:prstGeom prst="rect">
              <a:avLst/>
            </a:prstGeom>
          </p:spPr>
          <p:txBody>
            <a:bodyPr anchor="t" rtlCol="false" tIns="0" lIns="0" bIns="0" rIns="0">
              <a:spAutoFit/>
            </a:bodyPr>
            <a:lstStyle/>
            <a:p>
              <a:pPr algn="ctr">
                <a:lnSpc>
                  <a:spcPts val="2872"/>
                </a:lnSpc>
              </a:pPr>
              <a:r>
                <a:rPr lang="en-US" sz="2227" spc="-6">
                  <a:solidFill>
                    <a:srgbClr val="FFFFFF"/>
                  </a:solidFill>
                  <a:latin typeface="Poppins"/>
                  <a:ea typeface="Poppins"/>
                  <a:cs typeface="Poppins"/>
                  <a:sym typeface="Poppins"/>
                </a:rPr>
                <a:t>01</a:t>
              </a:r>
            </a:p>
          </p:txBody>
        </p:sp>
      </p:grpSp>
      <p:grpSp>
        <p:nvGrpSpPr>
          <p:cNvPr name="Group 29" id="29"/>
          <p:cNvGrpSpPr/>
          <p:nvPr/>
        </p:nvGrpSpPr>
        <p:grpSpPr>
          <a:xfrm rot="0">
            <a:off x="7046297" y="4053055"/>
            <a:ext cx="746986" cy="746986"/>
            <a:chOff x="0" y="0"/>
            <a:chExt cx="995981" cy="995981"/>
          </a:xfrm>
        </p:grpSpPr>
        <p:grpSp>
          <p:nvGrpSpPr>
            <p:cNvPr name="Group 30" id="30"/>
            <p:cNvGrpSpPr/>
            <p:nvPr/>
          </p:nvGrpSpPr>
          <p:grpSpPr>
            <a:xfrm rot="0">
              <a:off x="0" y="0"/>
              <a:ext cx="995981" cy="995981"/>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l="0" r="100000" t="0" b="100000"/>
                  </a:path>
                  <a:tileRect r="0" l="-100000" b="0" t="-100000"/>
                </a:gradFill>
                <a:prstDash val="solid"/>
                <a:miter/>
              </a:ln>
            </p:spPr>
          </p:sp>
          <p:sp>
            <p:nvSpPr>
              <p:cNvPr name="TextBox 32" id="32"/>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TextBox 33" id="33"/>
            <p:cNvSpPr txBox="true"/>
            <p:nvPr/>
          </p:nvSpPr>
          <p:spPr>
            <a:xfrm rot="0">
              <a:off x="175623" y="235561"/>
              <a:ext cx="644736" cy="486759"/>
            </a:xfrm>
            <a:prstGeom prst="rect">
              <a:avLst/>
            </a:prstGeom>
          </p:spPr>
          <p:txBody>
            <a:bodyPr anchor="t" rtlCol="false" tIns="0" lIns="0" bIns="0" rIns="0">
              <a:spAutoFit/>
            </a:bodyPr>
            <a:lstStyle/>
            <a:p>
              <a:pPr algn="ctr">
                <a:lnSpc>
                  <a:spcPts val="2872"/>
                </a:lnSpc>
              </a:pPr>
              <a:r>
                <a:rPr lang="en-US" sz="2227" spc="-6">
                  <a:gradFill>
                    <a:gsLst>
                      <a:gs pos="0">
                        <a:srgbClr val="293E9C">
                          <a:alpha val="100000"/>
                        </a:srgbClr>
                      </a:gs>
                      <a:gs pos="100000">
                        <a:srgbClr val="3A58E4">
                          <a:alpha val="100000"/>
                        </a:srgbClr>
                      </a:gs>
                    </a:gsLst>
                    <a:path path="circle">
                      <a:fillToRect l="0" r="100000" t="0" b="100000"/>
                    </a:path>
                    <a:tileRect r="0" l="-100000" b="0" t="-100000"/>
                  </a:gradFill>
                  <a:latin typeface="Poppins"/>
                  <a:ea typeface="Poppins"/>
                  <a:cs typeface="Poppins"/>
                  <a:sym typeface="Poppins"/>
                </a:rPr>
                <a:t>02</a:t>
              </a:r>
            </a:p>
          </p:txBody>
        </p:sp>
      </p:grpSp>
      <p:grpSp>
        <p:nvGrpSpPr>
          <p:cNvPr name="Group 34" id="34"/>
          <p:cNvGrpSpPr/>
          <p:nvPr/>
        </p:nvGrpSpPr>
        <p:grpSpPr>
          <a:xfrm rot="0">
            <a:off x="10740925" y="4053055"/>
            <a:ext cx="746986" cy="746986"/>
            <a:chOff x="0" y="0"/>
            <a:chExt cx="995981" cy="995981"/>
          </a:xfrm>
        </p:grpSpPr>
        <p:grpSp>
          <p:nvGrpSpPr>
            <p:cNvPr name="Group 35" id="35"/>
            <p:cNvGrpSpPr/>
            <p:nvPr/>
          </p:nvGrpSpPr>
          <p:grpSpPr>
            <a:xfrm rot="0">
              <a:off x="0" y="0"/>
              <a:ext cx="995981" cy="995981"/>
              <a:chOff x="0" y="0"/>
              <a:chExt cx="812800" cy="812800"/>
            </a:xfrm>
          </p:grpSpPr>
          <p:sp>
            <p:nvSpPr>
              <p:cNvPr name="Freeform 36" id="3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sq">
                <a:noFill/>
                <a:prstDash val="solid"/>
                <a:miter/>
              </a:ln>
            </p:spPr>
          </p:sp>
          <p:sp>
            <p:nvSpPr>
              <p:cNvPr name="TextBox 37" id="37"/>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TextBox 38" id="38"/>
            <p:cNvSpPr txBox="true"/>
            <p:nvPr/>
          </p:nvSpPr>
          <p:spPr>
            <a:xfrm rot="0">
              <a:off x="175623" y="235561"/>
              <a:ext cx="644736" cy="486759"/>
            </a:xfrm>
            <a:prstGeom prst="rect">
              <a:avLst/>
            </a:prstGeom>
          </p:spPr>
          <p:txBody>
            <a:bodyPr anchor="t" rtlCol="false" tIns="0" lIns="0" bIns="0" rIns="0">
              <a:spAutoFit/>
            </a:bodyPr>
            <a:lstStyle/>
            <a:p>
              <a:pPr algn="ctr">
                <a:lnSpc>
                  <a:spcPts val="2872"/>
                </a:lnSpc>
              </a:pPr>
              <a:r>
                <a:rPr lang="en-US" sz="2227" spc="-6">
                  <a:solidFill>
                    <a:srgbClr val="FFFFFF"/>
                  </a:solidFill>
                  <a:latin typeface="Poppins"/>
                  <a:ea typeface="Poppins"/>
                  <a:cs typeface="Poppins"/>
                  <a:sym typeface="Poppins"/>
                </a:rPr>
                <a:t>03</a:t>
              </a:r>
            </a:p>
          </p:txBody>
        </p:sp>
      </p:grpSp>
      <p:grpSp>
        <p:nvGrpSpPr>
          <p:cNvPr name="Group 39" id="39"/>
          <p:cNvGrpSpPr/>
          <p:nvPr/>
        </p:nvGrpSpPr>
        <p:grpSpPr>
          <a:xfrm rot="0">
            <a:off x="13964411" y="4053055"/>
            <a:ext cx="746986" cy="746986"/>
            <a:chOff x="0" y="0"/>
            <a:chExt cx="995981" cy="995981"/>
          </a:xfrm>
        </p:grpSpPr>
        <p:grpSp>
          <p:nvGrpSpPr>
            <p:cNvPr name="Group 40" id="40"/>
            <p:cNvGrpSpPr/>
            <p:nvPr/>
          </p:nvGrpSpPr>
          <p:grpSpPr>
            <a:xfrm rot="0">
              <a:off x="0" y="0"/>
              <a:ext cx="995981" cy="995981"/>
              <a:chOff x="0" y="0"/>
              <a:chExt cx="812800" cy="812800"/>
            </a:xfrm>
          </p:grpSpPr>
          <p:sp>
            <p:nvSpPr>
              <p:cNvPr name="Freeform 41" id="4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l="0" r="100000" t="0" b="100000"/>
                  </a:path>
                  <a:tileRect r="0" l="-100000" b="0" t="-100000"/>
                </a:gradFill>
                <a:prstDash val="solid"/>
                <a:miter/>
              </a:ln>
            </p:spPr>
          </p:sp>
          <p:sp>
            <p:nvSpPr>
              <p:cNvPr name="TextBox 42" id="42"/>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TextBox 43" id="43"/>
            <p:cNvSpPr txBox="true"/>
            <p:nvPr/>
          </p:nvSpPr>
          <p:spPr>
            <a:xfrm rot="0">
              <a:off x="175623" y="235561"/>
              <a:ext cx="644736" cy="486759"/>
            </a:xfrm>
            <a:prstGeom prst="rect">
              <a:avLst/>
            </a:prstGeom>
          </p:spPr>
          <p:txBody>
            <a:bodyPr anchor="t" rtlCol="false" tIns="0" lIns="0" bIns="0" rIns="0">
              <a:spAutoFit/>
            </a:bodyPr>
            <a:lstStyle/>
            <a:p>
              <a:pPr algn="ctr">
                <a:lnSpc>
                  <a:spcPts val="2872"/>
                </a:lnSpc>
              </a:pPr>
              <a:r>
                <a:rPr lang="en-US" sz="2227" spc="-6">
                  <a:gradFill>
                    <a:gsLst>
                      <a:gs pos="0">
                        <a:srgbClr val="293E9C">
                          <a:alpha val="100000"/>
                        </a:srgbClr>
                      </a:gs>
                      <a:gs pos="100000">
                        <a:srgbClr val="3A58E4">
                          <a:alpha val="100000"/>
                        </a:srgbClr>
                      </a:gs>
                    </a:gsLst>
                    <a:path path="circle">
                      <a:fillToRect l="0" r="100000" t="0" b="100000"/>
                    </a:path>
                    <a:tileRect r="0" l="-100000" b="0" t="-100000"/>
                  </a:gradFill>
                  <a:latin typeface="Poppins"/>
                  <a:ea typeface="Poppins"/>
                  <a:cs typeface="Poppins"/>
                  <a:sym typeface="Poppins"/>
                </a:rPr>
                <a:t>04</a:t>
              </a:r>
            </a:p>
          </p:txBody>
        </p:sp>
      </p:grpSp>
      <p:sp>
        <p:nvSpPr>
          <p:cNvPr name="TextBox 44" id="44"/>
          <p:cNvSpPr txBox="true"/>
          <p:nvPr/>
        </p:nvSpPr>
        <p:spPr>
          <a:xfrm rot="0">
            <a:off x="2810057" y="468771"/>
            <a:ext cx="11560683" cy="1292963"/>
          </a:xfrm>
          <a:prstGeom prst="rect">
            <a:avLst/>
          </a:prstGeom>
        </p:spPr>
        <p:txBody>
          <a:bodyPr anchor="t" rtlCol="false" tIns="0" lIns="0" bIns="0" rIns="0">
            <a:spAutoFit/>
          </a:bodyPr>
          <a:lstStyle/>
          <a:p>
            <a:pPr algn="ctr">
              <a:lnSpc>
                <a:spcPts val="9603"/>
              </a:lnSpc>
            </a:pPr>
            <a:r>
              <a:rPr lang="en-US" b="true" sz="9799" spc="-627" u="sng">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Bold"/>
                <a:ea typeface="Bricolage Grotesque Bold"/>
                <a:cs typeface="Bricolage Grotesque Bold"/>
                <a:sym typeface="Bricolage Grotesque Bold"/>
              </a:rPr>
              <a:t>DASHBOARD KPIs</a:t>
            </a:r>
          </a:p>
        </p:txBody>
      </p:sp>
      <p:sp>
        <p:nvSpPr>
          <p:cNvPr name="TextBox 45" id="45"/>
          <p:cNvSpPr txBox="true"/>
          <p:nvPr/>
        </p:nvSpPr>
        <p:spPr>
          <a:xfrm rot="0">
            <a:off x="1570017" y="5111125"/>
            <a:ext cx="2759309" cy="1563891"/>
          </a:xfrm>
          <a:prstGeom prst="rect">
            <a:avLst/>
          </a:prstGeom>
        </p:spPr>
        <p:txBody>
          <a:bodyPr anchor="t" rtlCol="false" tIns="0" lIns="0" bIns="0" rIns="0">
            <a:spAutoFit/>
          </a:bodyPr>
          <a:lstStyle/>
          <a:p>
            <a:pPr algn="ctr">
              <a:lnSpc>
                <a:spcPts val="4030"/>
              </a:lnSpc>
            </a:pPr>
            <a:r>
              <a:rPr lang="en-US" b="true" sz="3124" spc="-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46</a:t>
            </a:r>
          </a:p>
          <a:p>
            <a:pPr algn="ctr">
              <a:lnSpc>
                <a:spcPts val="4030"/>
              </a:lnSpc>
            </a:pPr>
            <a:r>
              <a:rPr lang="en-US" b="true" sz="3124" spc="-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Total Job Postings</a:t>
            </a:r>
          </a:p>
        </p:txBody>
      </p:sp>
      <p:sp>
        <p:nvSpPr>
          <p:cNvPr name="TextBox 46" id="46"/>
          <p:cNvSpPr txBox="true"/>
          <p:nvPr/>
        </p:nvSpPr>
        <p:spPr>
          <a:xfrm rot="0">
            <a:off x="8262938" y="4868891"/>
            <a:ext cx="2931842" cy="1647984"/>
          </a:xfrm>
          <a:prstGeom prst="rect">
            <a:avLst/>
          </a:prstGeom>
        </p:spPr>
        <p:txBody>
          <a:bodyPr anchor="t" rtlCol="false" tIns="0" lIns="0" bIns="0" rIns="0">
            <a:spAutoFit/>
          </a:bodyPr>
          <a:lstStyle/>
          <a:p>
            <a:pPr algn="ctr">
              <a:lnSpc>
                <a:spcPts val="4282"/>
              </a:lnSpc>
            </a:pPr>
            <a:r>
              <a:rPr lang="en-US" b="true" sz="3319" spc="-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22</a:t>
            </a:r>
          </a:p>
          <a:p>
            <a:pPr algn="ctr">
              <a:lnSpc>
                <a:spcPts val="4282"/>
              </a:lnSpc>
            </a:pPr>
            <a:r>
              <a:rPr lang="en-US" b="true" sz="3319" spc="-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Unique Skills</a:t>
            </a:r>
          </a:p>
        </p:txBody>
      </p:sp>
      <p:sp>
        <p:nvSpPr>
          <p:cNvPr name="TextBox 47" id="47"/>
          <p:cNvSpPr txBox="true"/>
          <p:nvPr/>
        </p:nvSpPr>
        <p:spPr>
          <a:xfrm rot="0">
            <a:off x="11547201" y="5086350"/>
            <a:ext cx="2931842" cy="1101680"/>
          </a:xfrm>
          <a:prstGeom prst="rect">
            <a:avLst/>
          </a:prstGeom>
        </p:spPr>
        <p:txBody>
          <a:bodyPr anchor="t" rtlCol="false" tIns="0" lIns="0" bIns="0" rIns="0">
            <a:spAutoFit/>
          </a:bodyPr>
          <a:lstStyle/>
          <a:p>
            <a:pPr algn="ctr">
              <a:lnSpc>
                <a:spcPts val="4282"/>
              </a:lnSpc>
            </a:pPr>
            <a:r>
              <a:rPr lang="en-US" b="true" sz="3319" spc="-9">
                <a:solidFill>
                  <a:srgbClr val="FFFFFF"/>
                </a:solidFill>
                <a:latin typeface="Poppins Bold"/>
                <a:ea typeface="Poppins Bold"/>
                <a:cs typeface="Poppins Bold"/>
                <a:sym typeface="Poppins Bold"/>
              </a:rPr>
              <a:t>15</a:t>
            </a:r>
          </a:p>
          <a:p>
            <a:pPr algn="ctr">
              <a:lnSpc>
                <a:spcPts val="4282"/>
              </a:lnSpc>
            </a:pPr>
            <a:r>
              <a:rPr lang="en-US" b="true" sz="3319" spc="-9">
                <a:solidFill>
                  <a:srgbClr val="FFFFFF"/>
                </a:solidFill>
                <a:latin typeface="Poppins Bold"/>
                <a:ea typeface="Poppins Bold"/>
                <a:cs typeface="Poppins Bold"/>
                <a:sym typeface="Poppins Bold"/>
              </a:rPr>
              <a:t>Countries</a:t>
            </a:r>
          </a:p>
        </p:txBody>
      </p:sp>
      <p:sp>
        <p:nvSpPr>
          <p:cNvPr name="TextBox 48" id="48"/>
          <p:cNvSpPr txBox="true"/>
          <p:nvPr/>
        </p:nvSpPr>
        <p:spPr>
          <a:xfrm rot="0">
            <a:off x="553601" y="8582660"/>
            <a:ext cx="17734399" cy="675640"/>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Poppins"/>
                <a:ea typeface="Poppins"/>
                <a:cs typeface="Poppins"/>
                <a:sym typeface="Poppins"/>
              </a:rPr>
              <a:t>Dashboard Scope: This dashboard is based on the subset of RemoteOK job postings that explicitly included skill information. Records without specified skills were excluded to maintain consistency across all analyses and visualizations.</a:t>
            </a:r>
          </a:p>
        </p:txBody>
      </p:sp>
    </p:spTree>
  </p:cSld>
  <p:clrMapOvr>
    <a:masterClrMapping/>
  </p:clrMapOvr>
  <p:transition spd="slow">
    <p:push dir="l"/>
  </p:transition>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457929" y="8366"/>
            <a:ext cx="47625" cy="2040668"/>
            <a:chOff x="0" y="0"/>
            <a:chExt cx="12543" cy="537460"/>
          </a:xfrm>
        </p:grpSpPr>
        <p:sp>
          <p:nvSpPr>
            <p:cNvPr name="Freeform 3" id="3"/>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4" id="4"/>
            <p:cNvSpPr txBox="true"/>
            <p:nvPr/>
          </p:nvSpPr>
          <p:spPr>
            <a:xfrm>
              <a:off x="0" y="-57150"/>
              <a:ext cx="12543" cy="59461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16438046" y="0"/>
            <a:ext cx="1849954" cy="1848166"/>
            <a:chOff x="0" y="0"/>
            <a:chExt cx="2466605" cy="2464222"/>
          </a:xfrm>
        </p:grpSpPr>
        <p:grpSp>
          <p:nvGrpSpPr>
            <p:cNvPr name="Group 6" id="6"/>
            <p:cNvGrpSpPr/>
            <p:nvPr/>
          </p:nvGrpSpPr>
          <p:grpSpPr>
            <a:xfrm rot="0">
              <a:off x="0" y="0"/>
              <a:ext cx="2466605" cy="2464222"/>
              <a:chOff x="0" y="0"/>
              <a:chExt cx="787566" cy="786805"/>
            </a:xfrm>
          </p:grpSpPr>
          <p:sp>
            <p:nvSpPr>
              <p:cNvPr name="Freeform 7" id="7"/>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8" id="8"/>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06</a:t>
              </a:r>
            </a:p>
          </p:txBody>
        </p:sp>
      </p:grpSp>
      <p:sp>
        <p:nvSpPr>
          <p:cNvPr name="Freeform 10" id="10"/>
          <p:cNvSpPr/>
          <p:nvPr/>
        </p:nvSpPr>
        <p:spPr>
          <a:xfrm flipH="false" flipV="false" rot="0">
            <a:off x="11174741" y="4102245"/>
            <a:ext cx="6689857" cy="5814094"/>
          </a:xfrm>
          <a:custGeom>
            <a:avLst/>
            <a:gdLst/>
            <a:ahLst/>
            <a:cxnLst/>
            <a:rect r="r" b="b" t="t" l="l"/>
            <a:pathLst>
              <a:path h="5814094" w="6689857">
                <a:moveTo>
                  <a:pt x="0" y="0"/>
                </a:moveTo>
                <a:lnTo>
                  <a:pt x="6689857" y="0"/>
                </a:lnTo>
                <a:lnTo>
                  <a:pt x="6689857" y="5814094"/>
                </a:lnTo>
                <a:lnTo>
                  <a:pt x="0" y="5814094"/>
                </a:lnTo>
                <a:lnTo>
                  <a:pt x="0" y="0"/>
                </a:lnTo>
                <a:close/>
              </a:path>
            </a:pathLst>
          </a:custGeom>
          <a:blipFill>
            <a:blip r:embed="rId2"/>
            <a:stretch>
              <a:fillRect l="0" t="0" r="0" b="0"/>
            </a:stretch>
          </a:blipFill>
        </p:spPr>
      </p:sp>
      <p:grpSp>
        <p:nvGrpSpPr>
          <p:cNvPr name="Group 11" id="11"/>
          <p:cNvGrpSpPr/>
          <p:nvPr/>
        </p:nvGrpSpPr>
        <p:grpSpPr>
          <a:xfrm rot="0">
            <a:off x="885890" y="4102245"/>
            <a:ext cx="8385955" cy="5695995"/>
            <a:chOff x="0" y="0"/>
            <a:chExt cx="1308828" cy="888995"/>
          </a:xfrm>
        </p:grpSpPr>
        <p:sp>
          <p:nvSpPr>
            <p:cNvPr name="Freeform 12" id="12"/>
            <p:cNvSpPr/>
            <p:nvPr/>
          </p:nvSpPr>
          <p:spPr>
            <a:xfrm flipH="false" flipV="false" rot="0">
              <a:off x="0" y="0"/>
              <a:ext cx="1308828" cy="888995"/>
            </a:xfrm>
            <a:custGeom>
              <a:avLst/>
              <a:gdLst/>
              <a:ahLst/>
              <a:cxnLst/>
              <a:rect r="r" b="b" t="t" l="l"/>
              <a:pathLst>
                <a:path h="888995" w="1308828">
                  <a:moveTo>
                    <a:pt x="65547" y="0"/>
                  </a:moveTo>
                  <a:lnTo>
                    <a:pt x="1243280" y="0"/>
                  </a:lnTo>
                  <a:cubicBezTo>
                    <a:pt x="1260665" y="0"/>
                    <a:pt x="1277337" y="6906"/>
                    <a:pt x="1289629" y="19198"/>
                  </a:cubicBezTo>
                  <a:cubicBezTo>
                    <a:pt x="1301922" y="31491"/>
                    <a:pt x="1308828" y="48163"/>
                    <a:pt x="1308828" y="65547"/>
                  </a:cubicBezTo>
                  <a:lnTo>
                    <a:pt x="1308828" y="823448"/>
                  </a:lnTo>
                  <a:cubicBezTo>
                    <a:pt x="1308828" y="840832"/>
                    <a:pt x="1301922" y="857505"/>
                    <a:pt x="1289629" y="869797"/>
                  </a:cubicBezTo>
                  <a:cubicBezTo>
                    <a:pt x="1277337" y="882090"/>
                    <a:pt x="1260665" y="888995"/>
                    <a:pt x="1243280" y="888995"/>
                  </a:cubicBezTo>
                  <a:lnTo>
                    <a:pt x="65547" y="888995"/>
                  </a:lnTo>
                  <a:cubicBezTo>
                    <a:pt x="48163" y="888995"/>
                    <a:pt x="31491" y="882090"/>
                    <a:pt x="19198" y="869797"/>
                  </a:cubicBezTo>
                  <a:cubicBezTo>
                    <a:pt x="6906" y="857505"/>
                    <a:pt x="0" y="840832"/>
                    <a:pt x="0" y="823448"/>
                  </a:cubicBezTo>
                  <a:lnTo>
                    <a:pt x="0" y="65547"/>
                  </a:lnTo>
                  <a:cubicBezTo>
                    <a:pt x="0" y="48163"/>
                    <a:pt x="6906" y="31491"/>
                    <a:pt x="19198" y="19198"/>
                  </a:cubicBezTo>
                  <a:cubicBezTo>
                    <a:pt x="31491" y="6906"/>
                    <a:pt x="48163" y="0"/>
                    <a:pt x="65547" y="0"/>
                  </a:cubicBezTo>
                  <a:close/>
                </a:path>
              </a:pathLst>
            </a:custGeom>
            <a:solidFill>
              <a:srgbClr val="3779E3"/>
            </a:solidFill>
          </p:spPr>
        </p:sp>
        <p:sp>
          <p:nvSpPr>
            <p:cNvPr name="TextBox 13" id="13"/>
            <p:cNvSpPr txBox="true"/>
            <p:nvPr/>
          </p:nvSpPr>
          <p:spPr>
            <a:xfrm>
              <a:off x="0" y="-57150"/>
              <a:ext cx="1308828" cy="946145"/>
            </a:xfrm>
            <a:prstGeom prst="rect">
              <a:avLst/>
            </a:prstGeom>
          </p:spPr>
          <p:txBody>
            <a:bodyPr anchor="ctr" rtlCol="false" tIns="50800" lIns="50800" bIns="50800" rIns="50800"/>
            <a:lstStyle/>
            <a:p>
              <a:pPr algn="ctr">
                <a:lnSpc>
                  <a:spcPts val="2659"/>
                </a:lnSpc>
              </a:pPr>
            </a:p>
          </p:txBody>
        </p:sp>
      </p:grpSp>
      <p:sp>
        <p:nvSpPr>
          <p:cNvPr name="TextBox 14" id="14"/>
          <p:cNvSpPr txBox="true"/>
          <p:nvPr/>
        </p:nvSpPr>
        <p:spPr>
          <a:xfrm rot="0">
            <a:off x="1697412" y="485417"/>
            <a:ext cx="14350882" cy="1286590"/>
          </a:xfrm>
          <a:prstGeom prst="rect">
            <a:avLst/>
          </a:prstGeom>
        </p:spPr>
        <p:txBody>
          <a:bodyPr anchor="t" rtlCol="false" tIns="0" lIns="0" bIns="0" rIns="0">
            <a:spAutoFit/>
          </a:bodyPr>
          <a:lstStyle/>
          <a:p>
            <a:pPr algn="l">
              <a:lnSpc>
                <a:spcPts val="9603"/>
              </a:lnSpc>
            </a:pPr>
            <a:r>
              <a:rPr lang="en-US" sz="9799" spc="-62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DASHBOARD OVERVIEW</a:t>
            </a:r>
          </a:p>
        </p:txBody>
      </p:sp>
      <p:grpSp>
        <p:nvGrpSpPr>
          <p:cNvPr name="Group 15" id="15"/>
          <p:cNvGrpSpPr/>
          <p:nvPr/>
        </p:nvGrpSpPr>
        <p:grpSpPr>
          <a:xfrm rot="0">
            <a:off x="2416085" y="1772008"/>
            <a:ext cx="12624235" cy="1458817"/>
            <a:chOff x="0" y="0"/>
            <a:chExt cx="1970312" cy="227683"/>
          </a:xfrm>
        </p:grpSpPr>
        <p:sp>
          <p:nvSpPr>
            <p:cNvPr name="Freeform 16" id="16"/>
            <p:cNvSpPr/>
            <p:nvPr/>
          </p:nvSpPr>
          <p:spPr>
            <a:xfrm flipH="false" flipV="false" rot="0">
              <a:off x="0" y="0"/>
              <a:ext cx="1970312" cy="227683"/>
            </a:xfrm>
            <a:custGeom>
              <a:avLst/>
              <a:gdLst/>
              <a:ahLst/>
              <a:cxnLst/>
              <a:rect r="r" b="b" t="t" l="l"/>
              <a:pathLst>
                <a:path h="227683" w="1970312">
                  <a:moveTo>
                    <a:pt x="43541" y="0"/>
                  </a:moveTo>
                  <a:lnTo>
                    <a:pt x="1926771" y="0"/>
                  </a:lnTo>
                  <a:cubicBezTo>
                    <a:pt x="1938319" y="0"/>
                    <a:pt x="1949393" y="4587"/>
                    <a:pt x="1957559" y="12753"/>
                  </a:cubicBezTo>
                  <a:cubicBezTo>
                    <a:pt x="1965725" y="20919"/>
                    <a:pt x="1970312" y="31993"/>
                    <a:pt x="1970312" y="43541"/>
                  </a:cubicBezTo>
                  <a:lnTo>
                    <a:pt x="1970312" y="184142"/>
                  </a:lnTo>
                  <a:cubicBezTo>
                    <a:pt x="1970312" y="208189"/>
                    <a:pt x="1950818" y="227683"/>
                    <a:pt x="1926771" y="227683"/>
                  </a:cubicBezTo>
                  <a:lnTo>
                    <a:pt x="43541" y="227683"/>
                  </a:lnTo>
                  <a:cubicBezTo>
                    <a:pt x="31993" y="227683"/>
                    <a:pt x="20919" y="223096"/>
                    <a:pt x="12753" y="214930"/>
                  </a:cubicBezTo>
                  <a:cubicBezTo>
                    <a:pt x="4587" y="206765"/>
                    <a:pt x="0" y="195690"/>
                    <a:pt x="0" y="184142"/>
                  </a:cubicBezTo>
                  <a:lnTo>
                    <a:pt x="0" y="43541"/>
                  </a:lnTo>
                  <a:cubicBezTo>
                    <a:pt x="0" y="31993"/>
                    <a:pt x="4587" y="20919"/>
                    <a:pt x="12753" y="12753"/>
                  </a:cubicBezTo>
                  <a:cubicBezTo>
                    <a:pt x="20919" y="4587"/>
                    <a:pt x="31993" y="0"/>
                    <a:pt x="43541" y="0"/>
                  </a:cubicBezTo>
                  <a:close/>
                </a:path>
              </a:pathLst>
            </a:custGeom>
            <a:solidFill>
              <a:srgbClr val="3779E3"/>
            </a:solidFill>
          </p:spPr>
        </p:sp>
        <p:sp>
          <p:nvSpPr>
            <p:cNvPr name="TextBox 17" id="17"/>
            <p:cNvSpPr txBox="true"/>
            <p:nvPr/>
          </p:nvSpPr>
          <p:spPr>
            <a:xfrm>
              <a:off x="0" y="-57150"/>
              <a:ext cx="1970312" cy="284833"/>
            </a:xfrm>
            <a:prstGeom prst="rect">
              <a:avLst/>
            </a:prstGeom>
          </p:spPr>
          <p:txBody>
            <a:bodyPr anchor="ctr" rtlCol="false" tIns="50800" lIns="50800" bIns="50800" rIns="50800"/>
            <a:lstStyle/>
            <a:p>
              <a:pPr algn="ctr">
                <a:lnSpc>
                  <a:spcPts val="2659"/>
                </a:lnSpc>
              </a:pPr>
            </a:p>
          </p:txBody>
        </p:sp>
      </p:grpSp>
      <p:sp>
        <p:nvSpPr>
          <p:cNvPr name="TextBox 18" id="18"/>
          <p:cNvSpPr txBox="true"/>
          <p:nvPr/>
        </p:nvSpPr>
        <p:spPr>
          <a:xfrm rot="0">
            <a:off x="2606920" y="1982359"/>
            <a:ext cx="11912750" cy="1181719"/>
          </a:xfrm>
          <a:prstGeom prst="rect">
            <a:avLst/>
          </a:prstGeom>
        </p:spPr>
        <p:txBody>
          <a:bodyPr anchor="t" rtlCol="false" tIns="0" lIns="0" bIns="0" rIns="0">
            <a:spAutoFit/>
          </a:bodyPr>
          <a:lstStyle/>
          <a:p>
            <a:pPr algn="ctr">
              <a:lnSpc>
                <a:spcPts val="3115"/>
              </a:lnSpc>
            </a:pPr>
            <a:r>
              <a:rPr lang="en-US" sz="2225" b="true">
                <a:solidFill>
                  <a:srgbClr val="FFFFFF"/>
                </a:solidFill>
                <a:latin typeface="Poppins Bold"/>
                <a:ea typeface="Poppins Bold"/>
                <a:cs typeface="Poppins Bold"/>
                <a:sym typeface="Poppins Bold"/>
              </a:rPr>
              <a:t>Dashboard Scope: This dashboard is based on the subset of RemoteOK job postings that explicitly included skill information. Records without specified skills were excluded to maintain consistency across all analyses and visualizations.</a:t>
            </a:r>
          </a:p>
        </p:txBody>
      </p:sp>
      <p:sp>
        <p:nvSpPr>
          <p:cNvPr name="TextBox 19" id="19"/>
          <p:cNvSpPr txBox="true"/>
          <p:nvPr/>
        </p:nvSpPr>
        <p:spPr>
          <a:xfrm rot="0">
            <a:off x="1028700" y="4330700"/>
            <a:ext cx="7844153" cy="6810376"/>
          </a:xfrm>
          <a:prstGeom prst="rect">
            <a:avLst/>
          </a:prstGeom>
        </p:spPr>
        <p:txBody>
          <a:bodyPr anchor="t" rtlCol="false" tIns="0" lIns="0" bIns="0" rIns="0">
            <a:spAutoFit/>
          </a:bodyPr>
          <a:lstStyle/>
          <a:p>
            <a:pPr algn="ctr" marL="647695" indent="-323848" lvl="1">
              <a:lnSpc>
                <a:spcPts val="4199"/>
              </a:lnSpc>
              <a:buFont typeface="Arial"/>
              <a:buChar char="•"/>
            </a:pPr>
            <a:r>
              <a:rPr lang="en-US" b="true" sz="2999">
                <a:solidFill>
                  <a:srgbClr val="FFFFFF"/>
                </a:solidFill>
                <a:latin typeface="Poppins Bold"/>
                <a:ea typeface="Poppins Bold"/>
                <a:cs typeface="Poppins Bold"/>
                <a:sym typeface="Poppins Bold"/>
              </a:rPr>
              <a:t>Presents key metrics through interactive KPI cards.</a:t>
            </a:r>
          </a:p>
          <a:p>
            <a:pPr algn="ctr" marL="647695" indent="-323848" lvl="1">
              <a:lnSpc>
                <a:spcPts val="4199"/>
              </a:lnSpc>
              <a:buFont typeface="Arial"/>
              <a:buChar char="•"/>
            </a:pPr>
            <a:r>
              <a:rPr lang="en-US" b="true" sz="2999">
                <a:solidFill>
                  <a:srgbClr val="FFFFFF"/>
                </a:solidFill>
                <a:latin typeface="Poppins Bold"/>
                <a:ea typeface="Poppins Bold"/>
                <a:cs typeface="Poppins Bold"/>
                <a:sym typeface="Poppins Bold"/>
              </a:rPr>
              <a:t>Highlights the most in-demand skills, job titles, and hiring companies.</a:t>
            </a:r>
          </a:p>
          <a:p>
            <a:pPr algn="ctr" marL="647695" indent="-323848" lvl="1">
              <a:lnSpc>
                <a:spcPts val="4199"/>
              </a:lnSpc>
              <a:buFont typeface="Arial"/>
              <a:buChar char="•"/>
            </a:pPr>
            <a:r>
              <a:rPr lang="en-US" b="true" sz="2999">
                <a:solidFill>
                  <a:srgbClr val="FFFFFF"/>
                </a:solidFill>
                <a:latin typeface="Poppins Bold"/>
                <a:ea typeface="Poppins Bold"/>
                <a:cs typeface="Poppins Bold"/>
                <a:sym typeface="Poppins Bold"/>
              </a:rPr>
              <a:t>Visualizes the geographic distribution of remote job opportunities.</a:t>
            </a:r>
          </a:p>
          <a:p>
            <a:pPr algn="ctr" marL="647695" indent="-323848" lvl="1">
              <a:lnSpc>
                <a:spcPts val="4199"/>
              </a:lnSpc>
              <a:buFont typeface="Arial"/>
              <a:buChar char="•"/>
            </a:pPr>
            <a:r>
              <a:rPr lang="en-US" b="true" sz="2999">
                <a:solidFill>
                  <a:srgbClr val="FFFFFF"/>
                </a:solidFill>
                <a:latin typeface="Poppins Bold"/>
                <a:ea typeface="Poppins Bold"/>
                <a:cs typeface="Poppins Bold"/>
                <a:sym typeface="Poppins Bold"/>
              </a:rPr>
              <a:t>Compares job types and skill demand using interactive charts.</a:t>
            </a:r>
          </a:p>
          <a:p>
            <a:pPr algn="ctr" marL="647695" indent="-323848" lvl="1">
              <a:lnSpc>
                <a:spcPts val="4199"/>
              </a:lnSpc>
              <a:buFont typeface="Arial"/>
              <a:buChar char="•"/>
            </a:pPr>
            <a:r>
              <a:rPr lang="en-US" b="true" sz="2999">
                <a:solidFill>
                  <a:srgbClr val="FFFFFF"/>
                </a:solidFill>
                <a:latin typeface="Poppins Bold"/>
                <a:ea typeface="Poppins Bold"/>
                <a:cs typeface="Poppins Bold"/>
                <a:sym typeface="Poppins Bold"/>
              </a:rPr>
              <a:t>Includes dynamic date filtering for flexible data exploration.</a:t>
            </a:r>
          </a:p>
          <a:p>
            <a:pPr algn="ctr">
              <a:lnSpc>
                <a:spcPts val="4199"/>
              </a:lnSpc>
            </a:pPr>
          </a:p>
        </p:txBody>
      </p:sp>
    </p:spTree>
  </p:cSld>
  <p:clrMapOvr>
    <a:masterClrMapping/>
  </p:clrMapOvr>
  <p:transition spd="med">
    <p:push dir="l"/>
  </p:transition>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73018" y="304944"/>
            <a:ext cx="47625" cy="2040668"/>
            <a:chOff x="0" y="0"/>
            <a:chExt cx="12543" cy="537460"/>
          </a:xfrm>
        </p:grpSpPr>
        <p:sp>
          <p:nvSpPr>
            <p:cNvPr name="Freeform 3" id="3"/>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4" id="4"/>
            <p:cNvSpPr txBox="true"/>
            <p:nvPr/>
          </p:nvSpPr>
          <p:spPr>
            <a:xfrm>
              <a:off x="0" y="-57150"/>
              <a:ext cx="12543" cy="59461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16438046" y="0"/>
            <a:ext cx="1849954" cy="1848166"/>
            <a:chOff x="0" y="0"/>
            <a:chExt cx="2466605" cy="2464222"/>
          </a:xfrm>
        </p:grpSpPr>
        <p:grpSp>
          <p:nvGrpSpPr>
            <p:cNvPr name="Group 6" id="6"/>
            <p:cNvGrpSpPr/>
            <p:nvPr/>
          </p:nvGrpSpPr>
          <p:grpSpPr>
            <a:xfrm rot="0">
              <a:off x="0" y="0"/>
              <a:ext cx="2466605" cy="2464222"/>
              <a:chOff x="0" y="0"/>
              <a:chExt cx="787566" cy="786805"/>
            </a:xfrm>
          </p:grpSpPr>
          <p:sp>
            <p:nvSpPr>
              <p:cNvPr name="Freeform 7" id="7"/>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8" id="8"/>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07</a:t>
              </a:r>
            </a:p>
          </p:txBody>
        </p:sp>
      </p:grpSp>
      <p:sp>
        <p:nvSpPr>
          <p:cNvPr name="Freeform 10" id="10"/>
          <p:cNvSpPr/>
          <p:nvPr/>
        </p:nvSpPr>
        <p:spPr>
          <a:xfrm flipH="false" flipV="false" rot="0">
            <a:off x="7101029" y="2163550"/>
            <a:ext cx="2479908" cy="482455"/>
          </a:xfrm>
          <a:custGeom>
            <a:avLst/>
            <a:gdLst/>
            <a:ahLst/>
            <a:cxnLst/>
            <a:rect r="r" b="b" t="t" l="l"/>
            <a:pathLst>
              <a:path h="482455" w="2479908">
                <a:moveTo>
                  <a:pt x="0" y="0"/>
                </a:moveTo>
                <a:lnTo>
                  <a:pt x="2479908" y="0"/>
                </a:lnTo>
                <a:lnTo>
                  <a:pt x="2479908" y="482454"/>
                </a:lnTo>
                <a:lnTo>
                  <a:pt x="0" y="482454"/>
                </a:lnTo>
                <a:lnTo>
                  <a:pt x="0" y="0"/>
                </a:lnTo>
                <a:close/>
              </a:path>
            </a:pathLst>
          </a:custGeom>
          <a:blipFill>
            <a:blip r:embed="rId2"/>
            <a:stretch>
              <a:fillRect l="0" t="0" r="0" b="0"/>
            </a:stretch>
          </a:blipFill>
        </p:spPr>
      </p:sp>
      <p:grpSp>
        <p:nvGrpSpPr>
          <p:cNvPr name="Group 11" id="11"/>
          <p:cNvGrpSpPr/>
          <p:nvPr/>
        </p:nvGrpSpPr>
        <p:grpSpPr>
          <a:xfrm rot="0">
            <a:off x="7218290" y="84546"/>
            <a:ext cx="2270445" cy="2267600"/>
            <a:chOff x="0" y="0"/>
            <a:chExt cx="567580" cy="566868"/>
          </a:xfrm>
        </p:grpSpPr>
        <p:sp>
          <p:nvSpPr>
            <p:cNvPr name="Freeform 12" id="12"/>
            <p:cNvSpPr/>
            <p:nvPr/>
          </p:nvSpPr>
          <p:spPr>
            <a:xfrm flipH="false" flipV="false" rot="0">
              <a:off x="0" y="0"/>
              <a:ext cx="567580" cy="566868"/>
            </a:xfrm>
            <a:custGeom>
              <a:avLst/>
              <a:gdLst/>
              <a:ahLst/>
              <a:cxnLst/>
              <a:rect r="r" b="b" t="t" l="l"/>
              <a:pathLst>
                <a:path h="566868" w="567580">
                  <a:moveTo>
                    <a:pt x="153444" y="0"/>
                  </a:moveTo>
                  <a:lnTo>
                    <a:pt x="414136" y="0"/>
                  </a:lnTo>
                  <a:cubicBezTo>
                    <a:pt x="498880" y="0"/>
                    <a:pt x="567580" y="68699"/>
                    <a:pt x="567580" y="153444"/>
                  </a:cubicBezTo>
                  <a:lnTo>
                    <a:pt x="567580" y="413424"/>
                  </a:lnTo>
                  <a:cubicBezTo>
                    <a:pt x="567580" y="454120"/>
                    <a:pt x="551413" y="493149"/>
                    <a:pt x="522637" y="521926"/>
                  </a:cubicBezTo>
                  <a:cubicBezTo>
                    <a:pt x="493861" y="550702"/>
                    <a:pt x="454831" y="566868"/>
                    <a:pt x="414136" y="566868"/>
                  </a:cubicBezTo>
                  <a:lnTo>
                    <a:pt x="153444" y="566868"/>
                  </a:lnTo>
                  <a:cubicBezTo>
                    <a:pt x="112748" y="566868"/>
                    <a:pt x="73719" y="550702"/>
                    <a:pt x="44943" y="521926"/>
                  </a:cubicBezTo>
                  <a:cubicBezTo>
                    <a:pt x="16166" y="493149"/>
                    <a:pt x="0" y="454120"/>
                    <a:pt x="0" y="413424"/>
                  </a:cubicBezTo>
                  <a:lnTo>
                    <a:pt x="0" y="153444"/>
                  </a:lnTo>
                  <a:cubicBezTo>
                    <a:pt x="0" y="112748"/>
                    <a:pt x="16166" y="73719"/>
                    <a:pt x="44943" y="44943"/>
                  </a:cubicBezTo>
                  <a:cubicBezTo>
                    <a:pt x="73719" y="16166"/>
                    <a:pt x="112748" y="0"/>
                    <a:pt x="153444"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rnd">
              <a:noFill/>
              <a:prstDash val="solid"/>
              <a:round/>
            </a:ln>
          </p:spPr>
        </p:sp>
        <p:sp>
          <p:nvSpPr>
            <p:cNvPr name="TextBox 13" id="13"/>
            <p:cNvSpPr txBox="true"/>
            <p:nvPr/>
          </p:nvSpPr>
          <p:spPr>
            <a:xfrm>
              <a:off x="0" y="28575"/>
              <a:ext cx="567580" cy="538293"/>
            </a:xfrm>
            <a:prstGeom prst="rect">
              <a:avLst/>
            </a:prstGeom>
          </p:spPr>
          <p:txBody>
            <a:bodyPr anchor="ctr" rtlCol="false" tIns="51111" lIns="51111" bIns="51111" rIns="51111"/>
            <a:lstStyle/>
            <a:p>
              <a:pPr algn="ctr">
                <a:lnSpc>
                  <a:spcPts val="2460"/>
                </a:lnSpc>
              </a:pPr>
            </a:p>
          </p:txBody>
        </p:sp>
      </p:grpSp>
      <p:sp>
        <p:nvSpPr>
          <p:cNvPr name="AutoShape 14" id="14"/>
          <p:cNvSpPr/>
          <p:nvPr/>
        </p:nvSpPr>
        <p:spPr>
          <a:xfrm>
            <a:off x="10397339" y="0"/>
            <a:ext cx="0" cy="10287000"/>
          </a:xfrm>
          <a:prstGeom prst="line">
            <a:avLst/>
          </a:prstGeom>
          <a:ln cap="flat" w="38100">
            <a:solidFill>
              <a:srgbClr val="2B41A2"/>
            </a:solidFill>
            <a:prstDash val="solid"/>
            <a:headEnd type="none" len="sm" w="sm"/>
            <a:tailEnd type="none" len="sm" w="sm"/>
          </a:ln>
        </p:spPr>
      </p:sp>
      <p:sp>
        <p:nvSpPr>
          <p:cNvPr name="Freeform 15" id="15"/>
          <p:cNvSpPr/>
          <p:nvPr/>
        </p:nvSpPr>
        <p:spPr>
          <a:xfrm flipH="false" flipV="false" rot="0">
            <a:off x="10397339" y="0"/>
            <a:ext cx="3310593" cy="2230512"/>
          </a:xfrm>
          <a:custGeom>
            <a:avLst/>
            <a:gdLst/>
            <a:ahLst/>
            <a:cxnLst/>
            <a:rect r="r" b="b" t="t" l="l"/>
            <a:pathLst>
              <a:path h="2230512" w="3310593">
                <a:moveTo>
                  <a:pt x="0" y="0"/>
                </a:moveTo>
                <a:lnTo>
                  <a:pt x="3310592" y="0"/>
                </a:lnTo>
                <a:lnTo>
                  <a:pt x="3310592" y="2230512"/>
                </a:lnTo>
                <a:lnTo>
                  <a:pt x="0" y="2230512"/>
                </a:lnTo>
                <a:lnTo>
                  <a:pt x="0" y="0"/>
                </a:lnTo>
                <a:close/>
              </a:path>
            </a:pathLst>
          </a:custGeom>
          <a:blipFill>
            <a:blip r:embed="rId3"/>
            <a:stretch>
              <a:fillRect l="0" t="0" r="0" b="0"/>
            </a:stretch>
          </a:blipFill>
        </p:spPr>
      </p:sp>
      <p:sp>
        <p:nvSpPr>
          <p:cNvPr name="Freeform 16" id="16"/>
          <p:cNvSpPr/>
          <p:nvPr/>
        </p:nvSpPr>
        <p:spPr>
          <a:xfrm flipH="false" flipV="false" rot="0">
            <a:off x="14250809" y="7273958"/>
            <a:ext cx="4037191" cy="3002202"/>
          </a:xfrm>
          <a:custGeom>
            <a:avLst/>
            <a:gdLst/>
            <a:ahLst/>
            <a:cxnLst/>
            <a:rect r="r" b="b" t="t" l="l"/>
            <a:pathLst>
              <a:path h="3002202" w="4037191">
                <a:moveTo>
                  <a:pt x="0" y="0"/>
                </a:moveTo>
                <a:lnTo>
                  <a:pt x="4037191" y="0"/>
                </a:lnTo>
                <a:lnTo>
                  <a:pt x="4037191" y="3002202"/>
                </a:lnTo>
                <a:lnTo>
                  <a:pt x="0" y="30022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7" id="17"/>
          <p:cNvSpPr txBox="true"/>
          <p:nvPr/>
        </p:nvSpPr>
        <p:spPr>
          <a:xfrm rot="0">
            <a:off x="1028700" y="3046054"/>
            <a:ext cx="7514069" cy="854192"/>
          </a:xfrm>
          <a:prstGeom prst="rect">
            <a:avLst/>
          </a:prstGeom>
        </p:spPr>
        <p:txBody>
          <a:bodyPr anchor="t" rtlCol="false" tIns="0" lIns="0" bIns="0" rIns="0">
            <a:spAutoFit/>
          </a:bodyPr>
          <a:lstStyle/>
          <a:p>
            <a:pPr algn="just">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WHICH TECHNICAL SKILLS APPEAR MOST IN JOB POSTINGS?</a:t>
            </a:r>
          </a:p>
        </p:txBody>
      </p:sp>
      <p:sp>
        <p:nvSpPr>
          <p:cNvPr name="TextBox 18" id="18"/>
          <p:cNvSpPr txBox="true"/>
          <p:nvPr/>
        </p:nvSpPr>
        <p:spPr>
          <a:xfrm rot="0">
            <a:off x="1320643" y="277030"/>
            <a:ext cx="5780387" cy="2277471"/>
          </a:xfrm>
          <a:prstGeom prst="rect">
            <a:avLst/>
          </a:prstGeom>
        </p:spPr>
        <p:txBody>
          <a:bodyPr anchor="t" rtlCol="false" tIns="0" lIns="0" bIns="0" rIns="0">
            <a:spAutoFit/>
          </a:bodyPr>
          <a:lstStyle/>
          <a:p>
            <a:pPr algn="l">
              <a:lnSpc>
                <a:spcPts val="8721"/>
              </a:lnSpc>
            </a:pPr>
            <a:r>
              <a:rPr lang="en-US" sz="8899" spc="-569">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BUSINESS QUESTIONS</a:t>
            </a:r>
          </a:p>
        </p:txBody>
      </p:sp>
      <p:sp>
        <p:nvSpPr>
          <p:cNvPr name="TextBox 19" id="19"/>
          <p:cNvSpPr txBox="true"/>
          <p:nvPr/>
        </p:nvSpPr>
        <p:spPr>
          <a:xfrm rot="0">
            <a:off x="1028700" y="3989827"/>
            <a:ext cx="7514069" cy="791340"/>
          </a:xfrm>
          <a:prstGeom prst="rect">
            <a:avLst/>
          </a:prstGeom>
        </p:spPr>
        <p:txBody>
          <a:bodyPr anchor="t" rtlCol="false" tIns="0" lIns="0" bIns="0" rIns="0">
            <a:spAutoFit/>
          </a:bodyPr>
          <a:lstStyle/>
          <a:p>
            <a:pPr algn="just">
              <a:lnSpc>
                <a:spcPts val="3107"/>
              </a:lnSpc>
            </a:pPr>
            <a:r>
              <a:rPr lang="en-US" sz="2219" spc="-6">
                <a:solidFill>
                  <a:srgbClr val="3A58E4"/>
                </a:solidFill>
                <a:latin typeface="Poppins"/>
                <a:ea typeface="Poppins"/>
                <a:cs typeface="Poppins"/>
                <a:sym typeface="Poppins"/>
              </a:rPr>
              <a:t>EXCEL APPEARS THE MOST. </a:t>
            </a:r>
          </a:p>
          <a:p>
            <a:pPr algn="just">
              <a:lnSpc>
                <a:spcPts val="3107"/>
              </a:lnSpc>
            </a:pPr>
            <a:r>
              <a:rPr lang="en-US" sz="2219" spc="-6">
                <a:solidFill>
                  <a:srgbClr val="3A58E4"/>
                </a:solidFill>
                <a:latin typeface="Poppins"/>
                <a:ea typeface="Poppins"/>
                <a:cs typeface="Poppins"/>
                <a:sym typeface="Poppins"/>
              </a:rPr>
              <a:t>FOR JOB SEEKERS:- PRIORITIZE EXCELS FOR ADMIN JOBS</a:t>
            </a:r>
          </a:p>
        </p:txBody>
      </p:sp>
      <p:sp>
        <p:nvSpPr>
          <p:cNvPr name="TextBox 20" id="20"/>
          <p:cNvSpPr txBox="true"/>
          <p:nvPr/>
        </p:nvSpPr>
        <p:spPr>
          <a:xfrm rot="0">
            <a:off x="7561507" y="407030"/>
            <a:ext cx="1582493" cy="514075"/>
          </a:xfrm>
          <a:prstGeom prst="rect">
            <a:avLst/>
          </a:prstGeom>
        </p:spPr>
        <p:txBody>
          <a:bodyPr anchor="t" rtlCol="false" tIns="0" lIns="0" bIns="0" rIns="0">
            <a:spAutoFit/>
          </a:bodyPr>
          <a:lstStyle/>
          <a:p>
            <a:pPr algn="ctr" marL="0" indent="0" lvl="0">
              <a:lnSpc>
                <a:spcPts val="3879"/>
              </a:lnSpc>
            </a:pPr>
            <a:r>
              <a:rPr lang="en-US" b="true" sz="3918" spc="-117">
                <a:solidFill>
                  <a:srgbClr val="FFFFFF"/>
                </a:solidFill>
                <a:latin typeface="Bricolage Grotesque Bold"/>
                <a:ea typeface="Bricolage Grotesque Bold"/>
                <a:cs typeface="Bricolage Grotesque Bold"/>
                <a:sym typeface="Bricolage Grotesque Bold"/>
              </a:rPr>
              <a:t>62</a:t>
            </a:r>
          </a:p>
        </p:txBody>
      </p:sp>
      <p:sp>
        <p:nvSpPr>
          <p:cNvPr name="TextBox 21" id="21"/>
          <p:cNvSpPr txBox="true"/>
          <p:nvPr/>
        </p:nvSpPr>
        <p:spPr>
          <a:xfrm rot="0">
            <a:off x="7714182" y="1022921"/>
            <a:ext cx="1278661" cy="851558"/>
          </a:xfrm>
          <a:prstGeom prst="rect">
            <a:avLst/>
          </a:prstGeom>
        </p:spPr>
        <p:txBody>
          <a:bodyPr anchor="t" rtlCol="false" tIns="0" lIns="0" bIns="0" rIns="0">
            <a:spAutoFit/>
          </a:bodyPr>
          <a:lstStyle/>
          <a:p>
            <a:pPr algn="ctr">
              <a:lnSpc>
                <a:spcPts val="2215"/>
              </a:lnSpc>
            </a:pPr>
            <a:r>
              <a:rPr lang="en-US" sz="1582" spc="-39">
                <a:solidFill>
                  <a:srgbClr val="FFFFFF"/>
                </a:solidFill>
                <a:latin typeface="Poppins"/>
                <a:ea typeface="Poppins"/>
                <a:cs typeface="Poppins"/>
                <a:sym typeface="Poppins"/>
              </a:rPr>
              <a:t>RECORDS ANALYZED TOTAL</a:t>
            </a:r>
          </a:p>
        </p:txBody>
      </p:sp>
      <p:sp>
        <p:nvSpPr>
          <p:cNvPr name="TextBox 22" id="22"/>
          <p:cNvSpPr txBox="true"/>
          <p:nvPr/>
        </p:nvSpPr>
        <p:spPr>
          <a:xfrm rot="0">
            <a:off x="1028700" y="4978860"/>
            <a:ext cx="7514069" cy="435092"/>
          </a:xfrm>
          <a:prstGeom prst="rect">
            <a:avLst/>
          </a:prstGeom>
        </p:spPr>
        <p:txBody>
          <a:bodyPr anchor="t" rtlCol="false" tIns="0" lIns="0" bIns="0" rIns="0">
            <a:spAutoFit/>
          </a:bodyPr>
          <a:lstStyle/>
          <a:p>
            <a:pPr algn="just">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WHAT % ARE FULL-TIME VS CONTRACT?</a:t>
            </a:r>
          </a:p>
        </p:txBody>
      </p:sp>
      <p:sp>
        <p:nvSpPr>
          <p:cNvPr name="TextBox 23" id="23"/>
          <p:cNvSpPr txBox="true"/>
          <p:nvPr/>
        </p:nvSpPr>
        <p:spPr>
          <a:xfrm rot="0">
            <a:off x="1028700" y="5701568"/>
            <a:ext cx="7514069" cy="1572390"/>
          </a:xfrm>
          <a:prstGeom prst="rect">
            <a:avLst/>
          </a:prstGeom>
        </p:spPr>
        <p:txBody>
          <a:bodyPr anchor="t" rtlCol="false" tIns="0" lIns="0" bIns="0" rIns="0">
            <a:spAutoFit/>
          </a:bodyPr>
          <a:lstStyle/>
          <a:p>
            <a:pPr algn="just">
              <a:lnSpc>
                <a:spcPts val="3107"/>
              </a:lnSpc>
            </a:pPr>
            <a:r>
              <a:rPr lang="en-US" sz="2219" spc="-6">
                <a:solidFill>
                  <a:srgbClr val="3A58E4"/>
                </a:solidFill>
                <a:latin typeface="Poppins"/>
                <a:ea typeface="Poppins"/>
                <a:cs typeface="Poppins"/>
                <a:sym typeface="Poppins"/>
              </a:rPr>
              <a:t>OUT OF 46 37 POSTING IS FOR FULTIME,</a:t>
            </a:r>
          </a:p>
          <a:p>
            <a:pPr algn="just">
              <a:lnSpc>
                <a:spcPts val="3107"/>
              </a:lnSpc>
            </a:pPr>
            <a:r>
              <a:rPr lang="en-US" sz="2219" spc="-6">
                <a:solidFill>
                  <a:srgbClr val="3A58E4"/>
                </a:solidFill>
                <a:latin typeface="Poppins"/>
                <a:ea typeface="Poppins"/>
                <a:cs typeface="Poppins"/>
                <a:sym typeface="Poppins"/>
              </a:rPr>
              <a:t>8 FOR PART-TIME AND ONLY 1 FOR INTERNSHIP</a:t>
            </a:r>
          </a:p>
          <a:p>
            <a:pPr algn="just">
              <a:lnSpc>
                <a:spcPts val="3107"/>
              </a:lnSpc>
            </a:pPr>
            <a:r>
              <a:rPr lang="en-US" sz="2219" spc="-6">
                <a:solidFill>
                  <a:srgbClr val="3A58E4"/>
                </a:solidFill>
                <a:latin typeface="Poppins"/>
                <a:ea typeface="Poppins"/>
                <a:cs typeface="Poppins"/>
                <a:sym typeface="Poppins"/>
              </a:rPr>
              <a:t>FOR JOB SEEKERS:- FULL TIME IS MOSTLY DEMANDED IN THE JOB WORLD </a:t>
            </a:r>
          </a:p>
        </p:txBody>
      </p:sp>
      <p:sp>
        <p:nvSpPr>
          <p:cNvPr name="TextBox 24" id="24"/>
          <p:cNvSpPr txBox="true"/>
          <p:nvPr/>
        </p:nvSpPr>
        <p:spPr>
          <a:xfrm rot="0">
            <a:off x="1028700" y="7483508"/>
            <a:ext cx="7514069" cy="435092"/>
          </a:xfrm>
          <a:prstGeom prst="rect">
            <a:avLst/>
          </a:prstGeom>
        </p:spPr>
        <p:txBody>
          <a:bodyPr anchor="t" rtlCol="false" tIns="0" lIns="0" bIns="0" rIns="0">
            <a:spAutoFit/>
          </a:bodyPr>
          <a:lstStyle/>
          <a:p>
            <a:pPr algn="just">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HICH JOB TITLES APPEAR MOST?</a:t>
            </a:r>
          </a:p>
        </p:txBody>
      </p:sp>
      <p:sp>
        <p:nvSpPr>
          <p:cNvPr name="TextBox 25" id="25"/>
          <p:cNvSpPr txBox="true"/>
          <p:nvPr/>
        </p:nvSpPr>
        <p:spPr>
          <a:xfrm rot="0">
            <a:off x="1028700" y="8137675"/>
            <a:ext cx="7514069" cy="791340"/>
          </a:xfrm>
          <a:prstGeom prst="rect">
            <a:avLst/>
          </a:prstGeom>
        </p:spPr>
        <p:txBody>
          <a:bodyPr anchor="t" rtlCol="false" tIns="0" lIns="0" bIns="0" rIns="0">
            <a:spAutoFit/>
          </a:bodyPr>
          <a:lstStyle/>
          <a:p>
            <a:pPr algn="just">
              <a:lnSpc>
                <a:spcPts val="3107"/>
              </a:lnSpc>
            </a:pPr>
            <a:r>
              <a:rPr lang="en-US" sz="2219" spc="-6">
                <a:solidFill>
                  <a:srgbClr val="3A58E4"/>
                </a:solidFill>
                <a:latin typeface="Poppins"/>
                <a:ea typeface="Poppins"/>
                <a:cs typeface="Poppins"/>
                <a:sym typeface="Poppins"/>
              </a:rPr>
              <a:t>ENTRY LEVEL ADMINISTRATIVE ASSISTANCE HAS APPEARED THE MOST OUT OF 46 JOB POSTINGS</a:t>
            </a:r>
          </a:p>
        </p:txBody>
      </p:sp>
      <p:sp>
        <p:nvSpPr>
          <p:cNvPr name="TextBox 26" id="26"/>
          <p:cNvSpPr txBox="true"/>
          <p:nvPr/>
        </p:nvSpPr>
        <p:spPr>
          <a:xfrm rot="0">
            <a:off x="10607787" y="3046054"/>
            <a:ext cx="7514069" cy="854192"/>
          </a:xfrm>
          <a:prstGeom prst="rect">
            <a:avLst/>
          </a:prstGeom>
        </p:spPr>
        <p:txBody>
          <a:bodyPr anchor="t" rtlCol="false" tIns="0" lIns="0" bIns="0" rIns="0">
            <a:spAutoFit/>
          </a:bodyPr>
          <a:lstStyle/>
          <a:p>
            <a:pPr algn="just">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ARE JOBS CONCENTRATED IN REGIONS OR GLOBALLY DISTRIBUTED?</a:t>
            </a:r>
          </a:p>
        </p:txBody>
      </p:sp>
      <p:sp>
        <p:nvSpPr>
          <p:cNvPr name="TextBox 27" id="27"/>
          <p:cNvSpPr txBox="true"/>
          <p:nvPr/>
        </p:nvSpPr>
        <p:spPr>
          <a:xfrm rot="0">
            <a:off x="10626837" y="3989827"/>
            <a:ext cx="7514069" cy="1572390"/>
          </a:xfrm>
          <a:prstGeom prst="rect">
            <a:avLst/>
          </a:prstGeom>
        </p:spPr>
        <p:txBody>
          <a:bodyPr anchor="t" rtlCol="false" tIns="0" lIns="0" bIns="0" rIns="0">
            <a:spAutoFit/>
          </a:bodyPr>
          <a:lstStyle/>
          <a:p>
            <a:pPr algn="just">
              <a:lnSpc>
                <a:spcPts val="3107"/>
              </a:lnSpc>
            </a:pPr>
            <a:r>
              <a:rPr lang="en-US" sz="2219" spc="-6">
                <a:solidFill>
                  <a:srgbClr val="3A58E4"/>
                </a:solidFill>
                <a:latin typeface="Poppins"/>
                <a:ea typeface="Poppins"/>
                <a:cs typeface="Poppins"/>
                <a:sym typeface="Poppins"/>
              </a:rPr>
              <a:t>Job opportunities are globally distributed across 15 countries but are primarily concentrated in the United States, which accounts for 34.8% of all analyzed job postings.</a:t>
            </a:r>
          </a:p>
        </p:txBody>
      </p:sp>
    </p:spTree>
  </p:cSld>
  <p:clrMapOvr>
    <a:masterClrMapping/>
  </p:clrMapOvr>
  <p:transition spd="med">
    <p:push dir="l"/>
  </p:transition>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6438046" y="0"/>
            <a:ext cx="1849954" cy="1848166"/>
            <a:chOff x="0" y="0"/>
            <a:chExt cx="2466605" cy="2464222"/>
          </a:xfrm>
        </p:grpSpPr>
        <p:grpSp>
          <p:nvGrpSpPr>
            <p:cNvPr name="Group 3" id="3"/>
            <p:cNvGrpSpPr/>
            <p:nvPr/>
          </p:nvGrpSpPr>
          <p:grpSpPr>
            <a:xfrm rot="0">
              <a:off x="0" y="0"/>
              <a:ext cx="2466605" cy="2464222"/>
              <a:chOff x="0" y="0"/>
              <a:chExt cx="787566" cy="786805"/>
            </a:xfrm>
          </p:grpSpPr>
          <p:sp>
            <p:nvSpPr>
              <p:cNvPr name="Freeform 4" id="4"/>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5" id="5"/>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08</a:t>
              </a:r>
            </a:p>
          </p:txBody>
        </p:sp>
      </p:grpSp>
      <p:sp>
        <p:nvSpPr>
          <p:cNvPr name="TextBox 7" id="7"/>
          <p:cNvSpPr txBox="true"/>
          <p:nvPr/>
        </p:nvSpPr>
        <p:spPr>
          <a:xfrm rot="0">
            <a:off x="9301849" y="4335719"/>
            <a:ext cx="6563388" cy="3649240"/>
          </a:xfrm>
          <a:prstGeom prst="rect">
            <a:avLst/>
          </a:prstGeom>
        </p:spPr>
        <p:txBody>
          <a:bodyPr anchor="t" rtlCol="false" tIns="0" lIns="0" bIns="0" rIns="0">
            <a:spAutoFit/>
          </a:bodyPr>
          <a:lstStyle/>
          <a:p>
            <a:pPr algn="just">
              <a:lnSpc>
                <a:spcPts val="2668"/>
              </a:lnSpc>
            </a:pPr>
            <a:r>
              <a:rPr lang="en-US" sz="1905" spc="-5">
                <a:solidFill>
                  <a:srgbClr val="3A58E4"/>
                </a:solidFill>
                <a:latin typeface="Poppins"/>
                <a:ea typeface="Poppins"/>
                <a:cs typeface="Poppins"/>
                <a:sym typeface="Poppins"/>
              </a:rPr>
              <a:t>The collected dataset was evaluated for completeness, consistency, and reliability before analysis. During preprocessing, duplicate records were removed where applicable, missing values were identified, and data fields were standardized. Since many job postings did not explicitly list required skills, the analysis was limited to the 62 records containing valid skill information. This ensured that all dashboard insights were based on consistent and verifiable data, resulting in more reliable findings despite the reduced sample size.</a:t>
            </a:r>
          </a:p>
        </p:txBody>
      </p:sp>
      <p:grpSp>
        <p:nvGrpSpPr>
          <p:cNvPr name="Group 8" id="8"/>
          <p:cNvGrpSpPr/>
          <p:nvPr/>
        </p:nvGrpSpPr>
        <p:grpSpPr>
          <a:xfrm rot="0">
            <a:off x="9261409" y="637848"/>
            <a:ext cx="40440" cy="1732806"/>
            <a:chOff x="0" y="0"/>
            <a:chExt cx="12543" cy="537460"/>
          </a:xfrm>
        </p:grpSpPr>
        <p:sp>
          <p:nvSpPr>
            <p:cNvPr name="Freeform 9" id="9"/>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10" id="10"/>
            <p:cNvSpPr txBox="true"/>
            <p:nvPr/>
          </p:nvSpPr>
          <p:spPr>
            <a:xfrm>
              <a:off x="0" y="-57150"/>
              <a:ext cx="12543" cy="594610"/>
            </a:xfrm>
            <a:prstGeom prst="rect">
              <a:avLst/>
            </a:prstGeom>
          </p:spPr>
          <p:txBody>
            <a:bodyPr anchor="ctr" rtlCol="false" tIns="50800" lIns="50800" bIns="50800" rIns="50800"/>
            <a:lstStyle/>
            <a:p>
              <a:pPr algn="ctr">
                <a:lnSpc>
                  <a:spcPts val="2659"/>
                </a:lnSpc>
                <a:spcBef>
                  <a:spcPct val="0"/>
                </a:spcBef>
              </a:pPr>
            </a:p>
          </p:txBody>
        </p:sp>
      </p:grpSp>
      <p:sp>
        <p:nvSpPr>
          <p:cNvPr name="TextBox 11" id="11"/>
          <p:cNvSpPr txBox="true"/>
          <p:nvPr/>
        </p:nvSpPr>
        <p:spPr>
          <a:xfrm rot="0">
            <a:off x="9301849" y="2682952"/>
            <a:ext cx="5636082" cy="717772"/>
          </a:xfrm>
          <a:prstGeom prst="rect">
            <a:avLst/>
          </a:prstGeom>
        </p:spPr>
        <p:txBody>
          <a:bodyPr anchor="t" rtlCol="false" tIns="0" lIns="0" bIns="0" rIns="0">
            <a:spAutoFit/>
          </a:bodyPr>
          <a:lstStyle/>
          <a:p>
            <a:pPr algn="just">
              <a:lnSpc>
                <a:spcPts val="2817"/>
              </a:lnSpc>
            </a:pPr>
            <a:r>
              <a:rPr lang="en-US" b="true" sz="2012" spc="-50">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:ASSESSMENT OF DATA COMPLETENESS, CONSISTENCY, AND RELIABILITY</a:t>
            </a:r>
          </a:p>
        </p:txBody>
      </p:sp>
      <p:sp>
        <p:nvSpPr>
          <p:cNvPr name="TextBox 12" id="12"/>
          <p:cNvSpPr txBox="true"/>
          <p:nvPr/>
        </p:nvSpPr>
        <p:spPr>
          <a:xfrm rot="0">
            <a:off x="9301849" y="529603"/>
            <a:ext cx="6788347" cy="2120747"/>
          </a:xfrm>
          <a:prstGeom prst="rect">
            <a:avLst/>
          </a:prstGeom>
        </p:spPr>
        <p:txBody>
          <a:bodyPr anchor="t" rtlCol="false" tIns="0" lIns="0" bIns="0" rIns="0">
            <a:spAutoFit/>
          </a:bodyPr>
          <a:lstStyle/>
          <a:p>
            <a:pPr algn="l">
              <a:lnSpc>
                <a:spcPts val="8154"/>
              </a:lnSpc>
            </a:pPr>
            <a:r>
              <a:rPr lang="en-US" sz="8320" spc="-532">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DATA QUALITY ASSESSMENT</a:t>
            </a:r>
          </a:p>
        </p:txBody>
      </p:sp>
      <p:grpSp>
        <p:nvGrpSpPr>
          <p:cNvPr name="Group 13" id="13"/>
          <p:cNvGrpSpPr/>
          <p:nvPr/>
        </p:nvGrpSpPr>
        <p:grpSpPr>
          <a:xfrm rot="0">
            <a:off x="1664564" y="1504251"/>
            <a:ext cx="6376039" cy="1593100"/>
            <a:chOff x="0" y="0"/>
            <a:chExt cx="2754311" cy="688185"/>
          </a:xfrm>
        </p:grpSpPr>
        <p:sp>
          <p:nvSpPr>
            <p:cNvPr name="Freeform 14" id="14"/>
            <p:cNvSpPr/>
            <p:nvPr/>
          </p:nvSpPr>
          <p:spPr>
            <a:xfrm flipH="false" flipV="false" rot="0">
              <a:off x="0" y="0"/>
              <a:ext cx="2754311" cy="688185"/>
            </a:xfrm>
            <a:custGeom>
              <a:avLst/>
              <a:gdLst/>
              <a:ahLst/>
              <a:cxnLst/>
              <a:rect r="r" b="b" t="t" l="l"/>
              <a:pathLst>
                <a:path h="688185" w="2754311">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15" id="15"/>
            <p:cNvSpPr txBox="true"/>
            <p:nvPr/>
          </p:nvSpPr>
          <p:spPr>
            <a:xfrm>
              <a:off x="0" y="-57150"/>
              <a:ext cx="2754311" cy="745335"/>
            </a:xfrm>
            <a:prstGeom prst="rect">
              <a:avLst/>
            </a:prstGeom>
          </p:spPr>
          <p:txBody>
            <a:bodyPr anchor="ctr" rtlCol="false" tIns="33379" lIns="33379" bIns="33379" rIns="33379"/>
            <a:lstStyle/>
            <a:p>
              <a:pPr algn="ctr">
                <a:lnSpc>
                  <a:spcPts val="2660"/>
                </a:lnSpc>
                <a:spcBef>
                  <a:spcPct val="0"/>
                </a:spcBef>
              </a:pPr>
            </a:p>
          </p:txBody>
        </p:sp>
      </p:grpSp>
      <p:grpSp>
        <p:nvGrpSpPr>
          <p:cNvPr name="Group 16" id="16"/>
          <p:cNvGrpSpPr/>
          <p:nvPr/>
        </p:nvGrpSpPr>
        <p:grpSpPr>
          <a:xfrm rot="0">
            <a:off x="2001610" y="1558066"/>
            <a:ext cx="5670494" cy="1265763"/>
            <a:chOff x="0" y="0"/>
            <a:chExt cx="7560659" cy="1687684"/>
          </a:xfrm>
        </p:grpSpPr>
        <p:sp>
          <p:nvSpPr>
            <p:cNvPr name="TextBox 17" id="17"/>
            <p:cNvSpPr txBox="true"/>
            <p:nvPr/>
          </p:nvSpPr>
          <p:spPr>
            <a:xfrm rot="0">
              <a:off x="1380813" y="-95250"/>
              <a:ext cx="5492079" cy="585673"/>
            </a:xfrm>
            <a:prstGeom prst="rect">
              <a:avLst/>
            </a:prstGeom>
          </p:spPr>
          <p:txBody>
            <a:bodyPr anchor="t" rtlCol="false" tIns="0" lIns="0" bIns="0" rIns="0">
              <a:spAutoFit/>
            </a:bodyPr>
            <a:lstStyle/>
            <a:p>
              <a:pPr algn="just">
                <a:lnSpc>
                  <a:spcPts val="3699"/>
                </a:lnSpc>
              </a:pPr>
              <a:r>
                <a:rPr lang="en-US" b="true" sz="2433">
                  <a:solidFill>
                    <a:srgbClr val="FFFFFF"/>
                  </a:solidFill>
                  <a:latin typeface="Poppins Bold"/>
                  <a:ea typeface="Poppins Bold"/>
                  <a:cs typeface="Poppins Bold"/>
                  <a:sym typeface="Poppins Bold"/>
                </a:rPr>
                <a:t> Missing Skill Information</a:t>
              </a:r>
            </a:p>
          </p:txBody>
        </p:sp>
        <p:sp>
          <p:nvSpPr>
            <p:cNvPr name="TextBox 18" id="18"/>
            <p:cNvSpPr txBox="true"/>
            <p:nvPr/>
          </p:nvSpPr>
          <p:spPr>
            <a:xfrm rot="0">
              <a:off x="1165955" y="673662"/>
              <a:ext cx="6394704" cy="1014022"/>
            </a:xfrm>
            <a:prstGeom prst="rect">
              <a:avLst/>
            </a:prstGeom>
          </p:spPr>
          <p:txBody>
            <a:bodyPr anchor="t" rtlCol="false" tIns="0" lIns="0" bIns="0" rIns="0">
              <a:spAutoFit/>
            </a:bodyPr>
            <a:lstStyle/>
            <a:p>
              <a:pPr algn="just">
                <a:lnSpc>
                  <a:spcPts val="2087"/>
                </a:lnSpc>
              </a:pPr>
              <a:r>
                <a:rPr lang="en-US" sz="1490">
                  <a:solidFill>
                    <a:srgbClr val="FFFFFF"/>
                  </a:solidFill>
                  <a:latin typeface="Poppins"/>
                  <a:ea typeface="Poppins"/>
                  <a:cs typeface="Poppins"/>
                  <a:sym typeface="Poppins"/>
                </a:rPr>
                <a:t>Many job postings did not specify the required skills, limiting the amount of usable data for analysis.</a:t>
              </a:r>
            </a:p>
          </p:txBody>
        </p:sp>
        <p:sp>
          <p:nvSpPr>
            <p:cNvPr name="TextBox 19" id="19"/>
            <p:cNvSpPr txBox="true"/>
            <p:nvPr/>
          </p:nvSpPr>
          <p:spPr>
            <a:xfrm rot="0">
              <a:off x="0" y="595198"/>
              <a:ext cx="1165955" cy="932166"/>
            </a:xfrm>
            <a:prstGeom prst="rect">
              <a:avLst/>
            </a:prstGeom>
          </p:spPr>
          <p:txBody>
            <a:bodyPr anchor="t" rtlCol="false" tIns="0" lIns="0" bIns="0" rIns="0">
              <a:spAutoFit/>
            </a:bodyPr>
            <a:lstStyle/>
            <a:p>
              <a:pPr algn="l" marL="0" indent="0" lvl="0">
                <a:lnSpc>
                  <a:spcPts val="4646"/>
                </a:lnSpc>
              </a:pPr>
              <a:r>
                <a:rPr lang="en-US" sz="5162" spc="-154">
                  <a:solidFill>
                    <a:srgbClr val="FFFFFF"/>
                  </a:solidFill>
                  <a:latin typeface="Poppins"/>
                  <a:ea typeface="Poppins"/>
                  <a:cs typeface="Poppins"/>
                  <a:sym typeface="Poppins"/>
                </a:rPr>
                <a:t>01</a:t>
              </a:r>
            </a:p>
          </p:txBody>
        </p:sp>
      </p:grpSp>
      <p:grpSp>
        <p:nvGrpSpPr>
          <p:cNvPr name="Group 20" id="20"/>
          <p:cNvGrpSpPr/>
          <p:nvPr/>
        </p:nvGrpSpPr>
        <p:grpSpPr>
          <a:xfrm rot="0">
            <a:off x="1664564" y="3400724"/>
            <a:ext cx="6376039" cy="1593100"/>
            <a:chOff x="0" y="0"/>
            <a:chExt cx="2754311" cy="688185"/>
          </a:xfrm>
        </p:grpSpPr>
        <p:sp>
          <p:nvSpPr>
            <p:cNvPr name="Freeform 21" id="21"/>
            <p:cNvSpPr/>
            <p:nvPr/>
          </p:nvSpPr>
          <p:spPr>
            <a:xfrm flipH="false" flipV="false" rot="0">
              <a:off x="0" y="0"/>
              <a:ext cx="2754311" cy="688185"/>
            </a:xfrm>
            <a:custGeom>
              <a:avLst/>
              <a:gdLst/>
              <a:ahLst/>
              <a:cxnLst/>
              <a:rect r="r" b="b" t="t" l="l"/>
              <a:pathLst>
                <a:path h="688185" w="2754311">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l="0" r="100000" t="0" b="100000"/>
                </a:path>
                <a:tileRect r="0" l="-100000" b="0" t="-100000"/>
              </a:gradFill>
              <a:prstDash val="solid"/>
              <a:round/>
            </a:ln>
          </p:spPr>
        </p:sp>
        <p:sp>
          <p:nvSpPr>
            <p:cNvPr name="TextBox 22" id="22"/>
            <p:cNvSpPr txBox="true"/>
            <p:nvPr/>
          </p:nvSpPr>
          <p:spPr>
            <a:xfrm>
              <a:off x="0" y="-57150"/>
              <a:ext cx="2754311" cy="745335"/>
            </a:xfrm>
            <a:prstGeom prst="rect">
              <a:avLst/>
            </a:prstGeom>
          </p:spPr>
          <p:txBody>
            <a:bodyPr anchor="ctr" rtlCol="false" tIns="33379" lIns="33379" bIns="33379" rIns="33379"/>
            <a:lstStyle/>
            <a:p>
              <a:pPr algn="ctr">
                <a:lnSpc>
                  <a:spcPts val="2660"/>
                </a:lnSpc>
                <a:spcBef>
                  <a:spcPct val="0"/>
                </a:spcBef>
              </a:pPr>
            </a:p>
          </p:txBody>
        </p:sp>
      </p:grpSp>
      <p:grpSp>
        <p:nvGrpSpPr>
          <p:cNvPr name="Group 23" id="23"/>
          <p:cNvGrpSpPr/>
          <p:nvPr/>
        </p:nvGrpSpPr>
        <p:grpSpPr>
          <a:xfrm rot="0">
            <a:off x="2019514" y="3605561"/>
            <a:ext cx="5594520" cy="1231245"/>
            <a:chOff x="0" y="0"/>
            <a:chExt cx="7459360" cy="1641661"/>
          </a:xfrm>
        </p:grpSpPr>
        <p:sp>
          <p:nvSpPr>
            <p:cNvPr name="TextBox 24" id="24"/>
            <p:cNvSpPr txBox="true"/>
            <p:nvPr/>
          </p:nvSpPr>
          <p:spPr>
            <a:xfrm rot="0">
              <a:off x="2043453" y="-85725"/>
              <a:ext cx="4202931" cy="538988"/>
            </a:xfrm>
            <a:prstGeom prst="rect">
              <a:avLst/>
            </a:prstGeom>
          </p:spPr>
          <p:txBody>
            <a:bodyPr anchor="t" rtlCol="false" tIns="0" lIns="0" bIns="0" rIns="0">
              <a:spAutoFit/>
            </a:bodyPr>
            <a:lstStyle/>
            <a:p>
              <a:pPr algn="just">
                <a:lnSpc>
                  <a:spcPts val="3395"/>
                </a:lnSpc>
              </a:pPr>
              <a:r>
                <a:rPr lang="en-US" b="true" sz="2233">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Dataset Filtering</a:t>
              </a:r>
            </a:p>
          </p:txBody>
        </p:sp>
        <p:sp>
          <p:nvSpPr>
            <p:cNvPr name="TextBox 25" id="25"/>
            <p:cNvSpPr txBox="true"/>
            <p:nvPr/>
          </p:nvSpPr>
          <p:spPr>
            <a:xfrm rot="0">
              <a:off x="1446626" y="578036"/>
              <a:ext cx="6012734" cy="1063625"/>
            </a:xfrm>
            <a:prstGeom prst="rect">
              <a:avLst/>
            </a:prstGeom>
          </p:spPr>
          <p:txBody>
            <a:bodyPr anchor="t" rtlCol="false" tIns="0" lIns="0" bIns="0" rIns="0">
              <a:spAutoFit/>
            </a:bodyPr>
            <a:lstStyle/>
            <a:p>
              <a:pPr algn="just">
                <a:lnSpc>
                  <a:spcPts val="2100"/>
                </a:lnSpc>
              </a:pPr>
              <a:r>
                <a:rPr lang="en-US" sz="1500">
                  <a:gradFill>
                    <a:gsLst>
                      <a:gs pos="0">
                        <a:srgbClr val="3A58E4">
                          <a:alpha val="100000"/>
                        </a:srgbClr>
                      </a:gs>
                      <a:gs pos="100000">
                        <a:srgbClr val="293E9C">
                          <a:alpha val="100000"/>
                        </a:srgbClr>
                      </a:gs>
                    </a:gsLst>
                    <a:path path="circle">
                      <a:fillToRect l="0" r="100000" t="0" b="100000"/>
                    </a:path>
                    <a:tileRect r="0" l="-100000" b="0" t="-100000"/>
                  </a:gradFill>
                  <a:latin typeface="Poppins"/>
                  <a:ea typeface="Poppins"/>
                  <a:cs typeface="Poppins"/>
                  <a:sym typeface="Poppins"/>
                </a:rPr>
                <a:t>Only job postings containing skill information (62 out of 299) were retained to ensure meaningful and reliable analysis.</a:t>
              </a:r>
            </a:p>
          </p:txBody>
        </p:sp>
        <p:sp>
          <p:nvSpPr>
            <p:cNvPr name="TextBox 26" id="26"/>
            <p:cNvSpPr txBox="true"/>
            <p:nvPr/>
          </p:nvSpPr>
          <p:spPr>
            <a:xfrm rot="0">
              <a:off x="0" y="331407"/>
              <a:ext cx="1165955" cy="932166"/>
            </a:xfrm>
            <a:prstGeom prst="rect">
              <a:avLst/>
            </a:prstGeom>
          </p:spPr>
          <p:txBody>
            <a:bodyPr anchor="t" rtlCol="false" tIns="0" lIns="0" bIns="0" rIns="0">
              <a:spAutoFit/>
            </a:bodyPr>
            <a:lstStyle/>
            <a:p>
              <a:pPr algn="l" marL="0" indent="0" lvl="0">
                <a:lnSpc>
                  <a:spcPts val="4646"/>
                </a:lnSpc>
              </a:pPr>
              <a:r>
                <a:rPr lang="en-US" sz="5162" spc="-154">
                  <a:gradFill>
                    <a:gsLst>
                      <a:gs pos="0">
                        <a:srgbClr val="3A58E4">
                          <a:alpha val="100000"/>
                        </a:srgbClr>
                      </a:gs>
                      <a:gs pos="100000">
                        <a:srgbClr val="293E9C">
                          <a:alpha val="100000"/>
                        </a:srgbClr>
                      </a:gs>
                    </a:gsLst>
                    <a:path path="circle">
                      <a:fillToRect l="0" r="100000" t="0" b="100000"/>
                    </a:path>
                    <a:tileRect r="0" l="-100000" b="0" t="-100000"/>
                  </a:gradFill>
                  <a:latin typeface="Poppins"/>
                  <a:ea typeface="Poppins"/>
                  <a:cs typeface="Poppins"/>
                  <a:sym typeface="Poppins"/>
                </a:rPr>
                <a:t>02</a:t>
              </a:r>
            </a:p>
          </p:txBody>
        </p:sp>
      </p:grpSp>
      <p:grpSp>
        <p:nvGrpSpPr>
          <p:cNvPr name="Group 27" id="27"/>
          <p:cNvGrpSpPr/>
          <p:nvPr/>
        </p:nvGrpSpPr>
        <p:grpSpPr>
          <a:xfrm rot="0">
            <a:off x="1664564" y="5293177"/>
            <a:ext cx="6376039" cy="1593100"/>
            <a:chOff x="0" y="0"/>
            <a:chExt cx="2754311" cy="688185"/>
          </a:xfrm>
        </p:grpSpPr>
        <p:sp>
          <p:nvSpPr>
            <p:cNvPr name="Freeform 28" id="28"/>
            <p:cNvSpPr/>
            <p:nvPr/>
          </p:nvSpPr>
          <p:spPr>
            <a:xfrm flipH="false" flipV="false" rot="0">
              <a:off x="0" y="0"/>
              <a:ext cx="2754311" cy="688185"/>
            </a:xfrm>
            <a:custGeom>
              <a:avLst/>
              <a:gdLst/>
              <a:ahLst/>
              <a:cxnLst/>
              <a:rect r="r" b="b" t="t" l="l"/>
              <a:pathLst>
                <a:path h="688185" w="2754311">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29" id="29"/>
            <p:cNvSpPr txBox="true"/>
            <p:nvPr/>
          </p:nvSpPr>
          <p:spPr>
            <a:xfrm>
              <a:off x="0" y="-57150"/>
              <a:ext cx="2754311" cy="745335"/>
            </a:xfrm>
            <a:prstGeom prst="rect">
              <a:avLst/>
            </a:prstGeom>
          </p:spPr>
          <p:txBody>
            <a:bodyPr anchor="ctr" rtlCol="false" tIns="33379" lIns="33379" bIns="33379" rIns="33379"/>
            <a:lstStyle/>
            <a:p>
              <a:pPr algn="ctr">
                <a:lnSpc>
                  <a:spcPts val="2660"/>
                </a:lnSpc>
                <a:spcBef>
                  <a:spcPct val="0"/>
                </a:spcBef>
              </a:pPr>
            </a:p>
          </p:txBody>
        </p:sp>
      </p:grpSp>
      <p:grpSp>
        <p:nvGrpSpPr>
          <p:cNvPr name="Group 30" id="30"/>
          <p:cNvGrpSpPr/>
          <p:nvPr/>
        </p:nvGrpSpPr>
        <p:grpSpPr>
          <a:xfrm rot="0">
            <a:off x="2019514" y="5412510"/>
            <a:ext cx="5172574" cy="1192321"/>
            <a:chOff x="0" y="0"/>
            <a:chExt cx="6896765" cy="1589762"/>
          </a:xfrm>
        </p:grpSpPr>
        <p:sp>
          <p:nvSpPr>
            <p:cNvPr name="TextBox 31" id="31"/>
            <p:cNvSpPr txBox="true"/>
            <p:nvPr/>
          </p:nvSpPr>
          <p:spPr>
            <a:xfrm rot="0">
              <a:off x="1524051" y="-85725"/>
              <a:ext cx="5372713" cy="538988"/>
            </a:xfrm>
            <a:prstGeom prst="rect">
              <a:avLst/>
            </a:prstGeom>
          </p:spPr>
          <p:txBody>
            <a:bodyPr anchor="t" rtlCol="false" tIns="0" lIns="0" bIns="0" rIns="0">
              <a:spAutoFit/>
            </a:bodyPr>
            <a:lstStyle/>
            <a:p>
              <a:pPr algn="just">
                <a:lnSpc>
                  <a:spcPts val="3395"/>
                </a:lnSpc>
              </a:pPr>
              <a:r>
                <a:rPr lang="en-US" b="true" sz="2233">
                  <a:solidFill>
                    <a:srgbClr val="FFFFFF"/>
                  </a:solidFill>
                  <a:latin typeface="Poppins Bold"/>
                  <a:ea typeface="Poppins Bold"/>
                  <a:cs typeface="Poppins Bold"/>
                  <a:sym typeface="Poppins Bold"/>
                </a:rPr>
                <a:t>Data Cleaning &amp; Validation</a:t>
              </a:r>
            </a:p>
          </p:txBody>
        </p:sp>
        <p:sp>
          <p:nvSpPr>
            <p:cNvPr name="TextBox 32" id="32"/>
            <p:cNvSpPr txBox="true"/>
            <p:nvPr/>
          </p:nvSpPr>
          <p:spPr>
            <a:xfrm rot="0">
              <a:off x="1524051" y="575740"/>
              <a:ext cx="5248795" cy="1014022"/>
            </a:xfrm>
            <a:prstGeom prst="rect">
              <a:avLst/>
            </a:prstGeom>
          </p:spPr>
          <p:txBody>
            <a:bodyPr anchor="t" rtlCol="false" tIns="0" lIns="0" bIns="0" rIns="0">
              <a:spAutoFit/>
            </a:bodyPr>
            <a:lstStyle/>
            <a:p>
              <a:pPr algn="just">
                <a:lnSpc>
                  <a:spcPts val="2087"/>
                </a:lnSpc>
              </a:pPr>
              <a:r>
                <a:rPr lang="en-US" sz="1490">
                  <a:solidFill>
                    <a:srgbClr val="FFFFFF"/>
                  </a:solidFill>
                  <a:latin typeface="Poppins"/>
                  <a:ea typeface="Poppins"/>
                  <a:cs typeface="Poppins"/>
                  <a:sym typeface="Poppins"/>
                </a:rPr>
                <a:t>Missing values, duplicate records, and inconsistent formatting were identified and standardized before analysis.</a:t>
              </a:r>
            </a:p>
          </p:txBody>
        </p:sp>
        <p:sp>
          <p:nvSpPr>
            <p:cNvPr name="TextBox 33" id="33"/>
            <p:cNvSpPr txBox="true"/>
            <p:nvPr/>
          </p:nvSpPr>
          <p:spPr>
            <a:xfrm rot="0">
              <a:off x="0" y="343383"/>
              <a:ext cx="1165955" cy="932166"/>
            </a:xfrm>
            <a:prstGeom prst="rect">
              <a:avLst/>
            </a:prstGeom>
          </p:spPr>
          <p:txBody>
            <a:bodyPr anchor="t" rtlCol="false" tIns="0" lIns="0" bIns="0" rIns="0">
              <a:spAutoFit/>
            </a:bodyPr>
            <a:lstStyle/>
            <a:p>
              <a:pPr algn="l" marL="0" indent="0" lvl="0">
                <a:lnSpc>
                  <a:spcPts val="4646"/>
                </a:lnSpc>
              </a:pPr>
              <a:r>
                <a:rPr lang="en-US" sz="5162" spc="-154">
                  <a:solidFill>
                    <a:srgbClr val="FFFFFF"/>
                  </a:solidFill>
                  <a:latin typeface="Poppins"/>
                  <a:ea typeface="Poppins"/>
                  <a:cs typeface="Poppins"/>
                  <a:sym typeface="Poppins"/>
                </a:rPr>
                <a:t>03</a:t>
              </a:r>
            </a:p>
          </p:txBody>
        </p:sp>
      </p:grpSp>
      <p:grpSp>
        <p:nvGrpSpPr>
          <p:cNvPr name="Group 34" id="34"/>
          <p:cNvGrpSpPr/>
          <p:nvPr/>
        </p:nvGrpSpPr>
        <p:grpSpPr>
          <a:xfrm rot="0">
            <a:off x="1664564" y="7189649"/>
            <a:ext cx="6376039" cy="1593100"/>
            <a:chOff x="0" y="0"/>
            <a:chExt cx="2754311" cy="688185"/>
          </a:xfrm>
        </p:grpSpPr>
        <p:sp>
          <p:nvSpPr>
            <p:cNvPr name="Freeform 35" id="35"/>
            <p:cNvSpPr/>
            <p:nvPr/>
          </p:nvSpPr>
          <p:spPr>
            <a:xfrm flipH="false" flipV="false" rot="0">
              <a:off x="0" y="0"/>
              <a:ext cx="2754311" cy="688185"/>
            </a:xfrm>
            <a:custGeom>
              <a:avLst/>
              <a:gdLst/>
              <a:ahLst/>
              <a:cxnLst/>
              <a:rect r="r" b="b" t="t" l="l"/>
              <a:pathLst>
                <a:path h="688185" w="2754311">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l="0" r="100000" t="0" b="100000"/>
                </a:path>
                <a:tileRect r="0" l="-100000" b="0" t="-100000"/>
              </a:gradFill>
              <a:prstDash val="solid"/>
              <a:round/>
            </a:ln>
          </p:spPr>
        </p:sp>
        <p:sp>
          <p:nvSpPr>
            <p:cNvPr name="TextBox 36" id="36"/>
            <p:cNvSpPr txBox="true"/>
            <p:nvPr/>
          </p:nvSpPr>
          <p:spPr>
            <a:xfrm>
              <a:off x="0" y="-57150"/>
              <a:ext cx="2754311" cy="745335"/>
            </a:xfrm>
            <a:prstGeom prst="rect">
              <a:avLst/>
            </a:prstGeom>
          </p:spPr>
          <p:txBody>
            <a:bodyPr anchor="ctr" rtlCol="false" tIns="33379" lIns="33379" bIns="33379" rIns="33379"/>
            <a:lstStyle/>
            <a:p>
              <a:pPr algn="ctr">
                <a:lnSpc>
                  <a:spcPts val="2660"/>
                </a:lnSpc>
                <a:spcBef>
                  <a:spcPct val="0"/>
                </a:spcBef>
              </a:pPr>
            </a:p>
          </p:txBody>
        </p:sp>
      </p:grpSp>
      <p:grpSp>
        <p:nvGrpSpPr>
          <p:cNvPr name="Group 37" id="37"/>
          <p:cNvGrpSpPr/>
          <p:nvPr/>
        </p:nvGrpSpPr>
        <p:grpSpPr>
          <a:xfrm rot="0">
            <a:off x="1876276" y="7362552"/>
            <a:ext cx="5488798" cy="1071889"/>
            <a:chOff x="0" y="0"/>
            <a:chExt cx="7318398" cy="1429185"/>
          </a:xfrm>
        </p:grpSpPr>
        <p:sp>
          <p:nvSpPr>
            <p:cNvPr name="TextBox 38" id="38"/>
            <p:cNvSpPr txBox="true"/>
            <p:nvPr/>
          </p:nvSpPr>
          <p:spPr>
            <a:xfrm rot="0">
              <a:off x="2306058" y="-85725"/>
              <a:ext cx="4202931" cy="538988"/>
            </a:xfrm>
            <a:prstGeom prst="rect">
              <a:avLst/>
            </a:prstGeom>
          </p:spPr>
          <p:txBody>
            <a:bodyPr anchor="t" rtlCol="false" tIns="0" lIns="0" bIns="0" rIns="0">
              <a:spAutoFit/>
            </a:bodyPr>
            <a:lstStyle/>
            <a:p>
              <a:pPr algn="just">
                <a:lnSpc>
                  <a:spcPts val="3395"/>
                </a:lnSpc>
              </a:pPr>
              <a:r>
                <a:rPr lang="en-US" b="true" sz="2233">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Reliable Insights</a:t>
              </a:r>
            </a:p>
          </p:txBody>
        </p:sp>
        <p:sp>
          <p:nvSpPr>
            <p:cNvPr name="TextBox 39" id="39"/>
            <p:cNvSpPr txBox="true"/>
            <p:nvPr/>
          </p:nvSpPr>
          <p:spPr>
            <a:xfrm rot="0">
              <a:off x="1496648" y="415163"/>
              <a:ext cx="5821749" cy="1014022"/>
            </a:xfrm>
            <a:prstGeom prst="rect">
              <a:avLst/>
            </a:prstGeom>
          </p:spPr>
          <p:txBody>
            <a:bodyPr anchor="t" rtlCol="false" tIns="0" lIns="0" bIns="0" rIns="0">
              <a:spAutoFit/>
            </a:bodyPr>
            <a:lstStyle/>
            <a:p>
              <a:pPr algn="just">
                <a:lnSpc>
                  <a:spcPts val="2087"/>
                </a:lnSpc>
              </a:pPr>
              <a:r>
                <a:rPr lang="en-US" sz="1490">
                  <a:gradFill>
                    <a:gsLst>
                      <a:gs pos="0">
                        <a:srgbClr val="3A58E4">
                          <a:alpha val="100000"/>
                        </a:srgbClr>
                      </a:gs>
                      <a:gs pos="100000">
                        <a:srgbClr val="293E9C">
                          <a:alpha val="100000"/>
                        </a:srgbClr>
                      </a:gs>
                    </a:gsLst>
                    <a:path path="circle">
                      <a:fillToRect l="0" r="100000" t="0" b="100000"/>
                    </a:path>
                    <a:tileRect r="0" l="-100000" b="0" t="-100000"/>
                  </a:gradFill>
                  <a:latin typeface="Poppins"/>
                  <a:ea typeface="Poppins"/>
                  <a:cs typeface="Poppins"/>
                  <a:sym typeface="Poppins"/>
                </a:rPr>
                <a:t>Using verified records improved the reliability of dashboard findings despite a smaller sample.</a:t>
              </a:r>
            </a:p>
          </p:txBody>
        </p:sp>
        <p:sp>
          <p:nvSpPr>
            <p:cNvPr name="TextBox 40" id="40"/>
            <p:cNvSpPr txBox="true"/>
            <p:nvPr/>
          </p:nvSpPr>
          <p:spPr>
            <a:xfrm rot="0">
              <a:off x="0" y="331407"/>
              <a:ext cx="1165955" cy="932166"/>
            </a:xfrm>
            <a:prstGeom prst="rect">
              <a:avLst/>
            </a:prstGeom>
          </p:spPr>
          <p:txBody>
            <a:bodyPr anchor="t" rtlCol="false" tIns="0" lIns="0" bIns="0" rIns="0">
              <a:spAutoFit/>
            </a:bodyPr>
            <a:lstStyle/>
            <a:p>
              <a:pPr algn="l" marL="0" indent="0" lvl="0">
                <a:lnSpc>
                  <a:spcPts val="4646"/>
                </a:lnSpc>
              </a:pPr>
              <a:r>
                <a:rPr lang="en-US" sz="5162" spc="-154">
                  <a:gradFill>
                    <a:gsLst>
                      <a:gs pos="0">
                        <a:srgbClr val="3A58E4">
                          <a:alpha val="100000"/>
                        </a:srgbClr>
                      </a:gs>
                      <a:gs pos="100000">
                        <a:srgbClr val="293E9C">
                          <a:alpha val="100000"/>
                        </a:srgbClr>
                      </a:gs>
                    </a:gsLst>
                    <a:path path="circle">
                      <a:fillToRect l="0" r="100000" t="0" b="100000"/>
                    </a:path>
                    <a:tileRect r="0" l="-100000" b="0" t="-100000"/>
                  </a:gradFill>
                  <a:latin typeface="Poppins"/>
                  <a:ea typeface="Poppins"/>
                  <a:cs typeface="Poppins"/>
                  <a:sym typeface="Poppins"/>
                </a:rPr>
                <a:t>04</a:t>
              </a:r>
            </a:p>
          </p:txBody>
        </p:sp>
      </p:grpSp>
    </p:spTree>
  </p:cSld>
  <p:clrMapOvr>
    <a:masterClrMapping/>
  </p:clrMapOvr>
  <p:transition spd="med">
    <p:push dir="l"/>
  </p:transition>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6438046" y="0"/>
            <a:ext cx="1849954" cy="1848166"/>
            <a:chOff x="0" y="0"/>
            <a:chExt cx="2466605" cy="2464222"/>
          </a:xfrm>
        </p:grpSpPr>
        <p:grpSp>
          <p:nvGrpSpPr>
            <p:cNvPr name="Group 3" id="3"/>
            <p:cNvGrpSpPr/>
            <p:nvPr/>
          </p:nvGrpSpPr>
          <p:grpSpPr>
            <a:xfrm rot="0">
              <a:off x="0" y="0"/>
              <a:ext cx="2466605" cy="2464222"/>
              <a:chOff x="0" y="0"/>
              <a:chExt cx="787566" cy="786805"/>
            </a:xfrm>
          </p:grpSpPr>
          <p:sp>
            <p:nvSpPr>
              <p:cNvPr name="Freeform 4" id="4"/>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5" id="5"/>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10</a:t>
              </a:r>
            </a:p>
          </p:txBody>
        </p:sp>
      </p:grpSp>
      <p:sp>
        <p:nvSpPr>
          <p:cNvPr name="TextBox 7" id="7"/>
          <p:cNvSpPr txBox="true"/>
          <p:nvPr/>
        </p:nvSpPr>
        <p:spPr>
          <a:xfrm rot="0">
            <a:off x="5842683" y="2445488"/>
            <a:ext cx="7052869" cy="854192"/>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PROPOSED ENHANCEMENTS FOR FUTURE DEVELOPMENT</a:t>
            </a:r>
          </a:p>
        </p:txBody>
      </p:sp>
      <p:sp>
        <p:nvSpPr>
          <p:cNvPr name="TextBox 8" id="8"/>
          <p:cNvSpPr txBox="true"/>
          <p:nvPr/>
        </p:nvSpPr>
        <p:spPr>
          <a:xfrm rot="0">
            <a:off x="3363658" y="9525"/>
            <a:ext cx="11560683" cy="2512163"/>
          </a:xfrm>
          <a:prstGeom prst="rect">
            <a:avLst/>
          </a:prstGeom>
        </p:spPr>
        <p:txBody>
          <a:bodyPr anchor="t" rtlCol="false" tIns="0" lIns="0" bIns="0" rIns="0">
            <a:spAutoFit/>
          </a:bodyPr>
          <a:lstStyle/>
          <a:p>
            <a:pPr algn="ctr">
              <a:lnSpc>
                <a:spcPts val="9603"/>
              </a:lnSpc>
            </a:pPr>
            <a:r>
              <a:rPr lang="en-US" sz="9799" spc="-62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FUTURE ENHANCEMENTS</a:t>
            </a:r>
          </a:p>
        </p:txBody>
      </p:sp>
      <p:grpSp>
        <p:nvGrpSpPr>
          <p:cNvPr name="Group 9" id="9"/>
          <p:cNvGrpSpPr/>
          <p:nvPr/>
        </p:nvGrpSpPr>
        <p:grpSpPr>
          <a:xfrm rot="0">
            <a:off x="2731310" y="3878731"/>
            <a:ext cx="3213033" cy="5379569"/>
            <a:chOff x="0" y="0"/>
            <a:chExt cx="1387961" cy="2323857"/>
          </a:xfrm>
        </p:grpSpPr>
        <p:sp>
          <p:nvSpPr>
            <p:cNvPr name="Freeform 10" id="10"/>
            <p:cNvSpPr/>
            <p:nvPr/>
          </p:nvSpPr>
          <p:spPr>
            <a:xfrm flipH="false" flipV="false" rot="0">
              <a:off x="0" y="0"/>
              <a:ext cx="1387961" cy="2323857"/>
            </a:xfrm>
            <a:custGeom>
              <a:avLst/>
              <a:gdLst/>
              <a:ahLst/>
              <a:cxnLst/>
              <a:rect r="r" b="b" t="t" l="l"/>
              <a:pathLst>
                <a:path h="2323857" w="1387961">
                  <a:moveTo>
                    <a:pt x="0" y="0"/>
                  </a:moveTo>
                  <a:lnTo>
                    <a:pt x="1387961" y="0"/>
                  </a:lnTo>
                  <a:lnTo>
                    <a:pt x="1387961" y="2323857"/>
                  </a:lnTo>
                  <a:lnTo>
                    <a:pt x="0" y="2323857"/>
                  </a:lnTo>
                  <a:close/>
                </a:path>
              </a:pathLst>
            </a:custGeom>
            <a:solidFill>
              <a:srgbClr val="2B42A8"/>
            </a:solidFill>
          </p:spPr>
        </p:sp>
        <p:sp>
          <p:nvSpPr>
            <p:cNvPr name="TextBox 11" id="11"/>
            <p:cNvSpPr txBox="true"/>
            <p:nvPr/>
          </p:nvSpPr>
          <p:spPr>
            <a:xfrm>
              <a:off x="0" y="-57150"/>
              <a:ext cx="1387961" cy="2381007"/>
            </a:xfrm>
            <a:prstGeom prst="rect">
              <a:avLst/>
            </a:prstGeom>
          </p:spPr>
          <p:txBody>
            <a:bodyPr anchor="ctr" rtlCol="false" tIns="33379" lIns="33379" bIns="33379" rIns="33379"/>
            <a:lstStyle/>
            <a:p>
              <a:pPr algn="ctr">
                <a:lnSpc>
                  <a:spcPts val="2660"/>
                </a:lnSpc>
                <a:spcBef>
                  <a:spcPct val="0"/>
                </a:spcBef>
              </a:pPr>
            </a:p>
          </p:txBody>
        </p:sp>
      </p:grpSp>
      <p:grpSp>
        <p:nvGrpSpPr>
          <p:cNvPr name="Group 12" id="12"/>
          <p:cNvGrpSpPr/>
          <p:nvPr/>
        </p:nvGrpSpPr>
        <p:grpSpPr>
          <a:xfrm rot="0">
            <a:off x="5935426" y="3878731"/>
            <a:ext cx="3213033" cy="5379569"/>
            <a:chOff x="0" y="0"/>
            <a:chExt cx="1387961" cy="2323857"/>
          </a:xfrm>
        </p:grpSpPr>
        <p:sp>
          <p:nvSpPr>
            <p:cNvPr name="Freeform 13" id="13"/>
            <p:cNvSpPr/>
            <p:nvPr/>
          </p:nvSpPr>
          <p:spPr>
            <a:xfrm flipH="false" flipV="false" rot="0">
              <a:off x="0" y="0"/>
              <a:ext cx="1387961" cy="2323857"/>
            </a:xfrm>
            <a:custGeom>
              <a:avLst/>
              <a:gdLst/>
              <a:ahLst/>
              <a:cxnLst/>
              <a:rect r="r" b="b" t="t" l="l"/>
              <a:pathLst>
                <a:path h="2323857" w="1387961">
                  <a:moveTo>
                    <a:pt x="0" y="0"/>
                  </a:moveTo>
                  <a:lnTo>
                    <a:pt x="1387961" y="0"/>
                  </a:lnTo>
                  <a:lnTo>
                    <a:pt x="1387961" y="2323857"/>
                  </a:lnTo>
                  <a:lnTo>
                    <a:pt x="0" y="2323857"/>
                  </a:lnTo>
                  <a:close/>
                </a:path>
              </a:pathLst>
            </a:custGeom>
            <a:solidFill>
              <a:srgbClr val="3A58E4"/>
            </a:solidFill>
          </p:spPr>
        </p:sp>
        <p:sp>
          <p:nvSpPr>
            <p:cNvPr name="TextBox 14" id="14"/>
            <p:cNvSpPr txBox="true"/>
            <p:nvPr/>
          </p:nvSpPr>
          <p:spPr>
            <a:xfrm>
              <a:off x="0" y="-57150"/>
              <a:ext cx="1387961" cy="2381007"/>
            </a:xfrm>
            <a:prstGeom prst="rect">
              <a:avLst/>
            </a:prstGeom>
          </p:spPr>
          <p:txBody>
            <a:bodyPr anchor="ctr" rtlCol="false" tIns="33379" lIns="33379" bIns="33379" rIns="33379"/>
            <a:lstStyle/>
            <a:p>
              <a:pPr algn="ctr">
                <a:lnSpc>
                  <a:spcPts val="2660"/>
                </a:lnSpc>
                <a:spcBef>
                  <a:spcPct val="0"/>
                </a:spcBef>
              </a:pPr>
            </a:p>
          </p:txBody>
        </p:sp>
      </p:grpSp>
      <p:grpSp>
        <p:nvGrpSpPr>
          <p:cNvPr name="Group 15" id="15"/>
          <p:cNvGrpSpPr/>
          <p:nvPr/>
        </p:nvGrpSpPr>
        <p:grpSpPr>
          <a:xfrm rot="0">
            <a:off x="9139541" y="3878731"/>
            <a:ext cx="3213033" cy="5379569"/>
            <a:chOff x="0" y="0"/>
            <a:chExt cx="1387961" cy="2323857"/>
          </a:xfrm>
        </p:grpSpPr>
        <p:sp>
          <p:nvSpPr>
            <p:cNvPr name="Freeform 16" id="16"/>
            <p:cNvSpPr/>
            <p:nvPr/>
          </p:nvSpPr>
          <p:spPr>
            <a:xfrm flipH="false" flipV="false" rot="0">
              <a:off x="0" y="0"/>
              <a:ext cx="1387961" cy="2323857"/>
            </a:xfrm>
            <a:custGeom>
              <a:avLst/>
              <a:gdLst/>
              <a:ahLst/>
              <a:cxnLst/>
              <a:rect r="r" b="b" t="t" l="l"/>
              <a:pathLst>
                <a:path h="2323857" w="1387961">
                  <a:moveTo>
                    <a:pt x="0" y="0"/>
                  </a:moveTo>
                  <a:lnTo>
                    <a:pt x="1387961" y="0"/>
                  </a:lnTo>
                  <a:lnTo>
                    <a:pt x="1387961" y="2323857"/>
                  </a:lnTo>
                  <a:lnTo>
                    <a:pt x="0" y="2323857"/>
                  </a:lnTo>
                  <a:close/>
                </a:path>
              </a:pathLst>
            </a:custGeom>
            <a:solidFill>
              <a:srgbClr val="6984FE"/>
            </a:solidFill>
          </p:spPr>
        </p:sp>
        <p:sp>
          <p:nvSpPr>
            <p:cNvPr name="TextBox 17" id="17"/>
            <p:cNvSpPr txBox="true"/>
            <p:nvPr/>
          </p:nvSpPr>
          <p:spPr>
            <a:xfrm>
              <a:off x="0" y="-57150"/>
              <a:ext cx="1387961" cy="2381007"/>
            </a:xfrm>
            <a:prstGeom prst="rect">
              <a:avLst/>
            </a:prstGeom>
          </p:spPr>
          <p:txBody>
            <a:bodyPr anchor="ctr" rtlCol="false" tIns="33379" lIns="33379" bIns="33379" rIns="33379"/>
            <a:lstStyle/>
            <a:p>
              <a:pPr algn="ctr">
                <a:lnSpc>
                  <a:spcPts val="2660"/>
                </a:lnSpc>
                <a:spcBef>
                  <a:spcPct val="0"/>
                </a:spcBef>
              </a:pPr>
            </a:p>
          </p:txBody>
        </p:sp>
      </p:grpSp>
      <p:grpSp>
        <p:nvGrpSpPr>
          <p:cNvPr name="Group 18" id="18"/>
          <p:cNvGrpSpPr/>
          <p:nvPr/>
        </p:nvGrpSpPr>
        <p:grpSpPr>
          <a:xfrm rot="0">
            <a:off x="12343657" y="3878731"/>
            <a:ext cx="3213033" cy="5379569"/>
            <a:chOff x="0" y="0"/>
            <a:chExt cx="1387961" cy="2323857"/>
          </a:xfrm>
        </p:grpSpPr>
        <p:sp>
          <p:nvSpPr>
            <p:cNvPr name="Freeform 19" id="19"/>
            <p:cNvSpPr/>
            <p:nvPr/>
          </p:nvSpPr>
          <p:spPr>
            <a:xfrm flipH="false" flipV="false" rot="0">
              <a:off x="0" y="0"/>
              <a:ext cx="1387961" cy="2323857"/>
            </a:xfrm>
            <a:custGeom>
              <a:avLst/>
              <a:gdLst/>
              <a:ahLst/>
              <a:cxnLst/>
              <a:rect r="r" b="b" t="t" l="l"/>
              <a:pathLst>
                <a:path h="2323857" w="1387961">
                  <a:moveTo>
                    <a:pt x="0" y="0"/>
                  </a:moveTo>
                  <a:lnTo>
                    <a:pt x="1387961" y="0"/>
                  </a:lnTo>
                  <a:lnTo>
                    <a:pt x="1387961" y="2323857"/>
                  </a:lnTo>
                  <a:lnTo>
                    <a:pt x="0" y="2323857"/>
                  </a:lnTo>
                  <a:close/>
                </a:path>
              </a:pathLst>
            </a:custGeom>
            <a:solidFill>
              <a:srgbClr val="9AADFF"/>
            </a:solidFill>
          </p:spPr>
        </p:sp>
        <p:sp>
          <p:nvSpPr>
            <p:cNvPr name="TextBox 20" id="20"/>
            <p:cNvSpPr txBox="true"/>
            <p:nvPr/>
          </p:nvSpPr>
          <p:spPr>
            <a:xfrm>
              <a:off x="0" y="-57150"/>
              <a:ext cx="1387961" cy="2381007"/>
            </a:xfrm>
            <a:prstGeom prst="rect">
              <a:avLst/>
            </a:prstGeom>
          </p:spPr>
          <p:txBody>
            <a:bodyPr anchor="ctr" rtlCol="false" tIns="33379" lIns="33379" bIns="33379" rIns="33379"/>
            <a:lstStyle/>
            <a:p>
              <a:pPr algn="ctr">
                <a:lnSpc>
                  <a:spcPts val="2660"/>
                </a:lnSpc>
                <a:spcBef>
                  <a:spcPct val="0"/>
                </a:spcBef>
              </a:pPr>
            </a:p>
          </p:txBody>
        </p:sp>
      </p:grpSp>
      <p:grpSp>
        <p:nvGrpSpPr>
          <p:cNvPr name="Group 21" id="21"/>
          <p:cNvGrpSpPr/>
          <p:nvPr/>
        </p:nvGrpSpPr>
        <p:grpSpPr>
          <a:xfrm rot="5400000">
            <a:off x="2595745" y="7780405"/>
            <a:ext cx="622999" cy="351870"/>
            <a:chOff x="0" y="0"/>
            <a:chExt cx="1387983" cy="784032"/>
          </a:xfrm>
        </p:grpSpPr>
        <p:sp>
          <p:nvSpPr>
            <p:cNvPr name="Freeform 22" id="22"/>
            <p:cNvSpPr/>
            <p:nvPr/>
          </p:nvSpPr>
          <p:spPr>
            <a:xfrm flipH="false" flipV="false" rot="0">
              <a:off x="0" y="0"/>
              <a:ext cx="1387983" cy="782620"/>
            </a:xfrm>
            <a:custGeom>
              <a:avLst/>
              <a:gdLst/>
              <a:ahLst/>
              <a:cxnLst/>
              <a:rect r="r" b="b" t="t" l="l"/>
              <a:pathLst>
                <a:path h="782620" w="1387983">
                  <a:moveTo>
                    <a:pt x="693992" y="0"/>
                  </a:moveTo>
                  <a:lnTo>
                    <a:pt x="1387983" y="782620"/>
                  </a:lnTo>
                  <a:lnTo>
                    <a:pt x="0" y="782620"/>
                  </a:lnTo>
                  <a:close/>
                </a:path>
              </a:pathLst>
            </a:custGeom>
            <a:solidFill>
              <a:srgbClr val="AFBEFF"/>
            </a:solidFill>
          </p:spPr>
        </p:sp>
        <p:sp>
          <p:nvSpPr>
            <p:cNvPr name="TextBox 23" id="23"/>
            <p:cNvSpPr txBox="true"/>
            <p:nvPr/>
          </p:nvSpPr>
          <p:spPr>
            <a:xfrm>
              <a:off x="293871" y="273721"/>
              <a:ext cx="800241" cy="508899"/>
            </a:xfrm>
            <a:prstGeom prst="rect">
              <a:avLst/>
            </a:prstGeom>
          </p:spPr>
          <p:txBody>
            <a:bodyPr anchor="ctr" rtlCol="false" tIns="33379" lIns="33379" bIns="33379" rIns="33379"/>
            <a:lstStyle/>
            <a:p>
              <a:pPr algn="ctr">
                <a:lnSpc>
                  <a:spcPts val="2660"/>
                </a:lnSpc>
                <a:spcBef>
                  <a:spcPct val="0"/>
                </a:spcBef>
              </a:pPr>
            </a:p>
          </p:txBody>
        </p:sp>
      </p:grpSp>
      <p:grpSp>
        <p:nvGrpSpPr>
          <p:cNvPr name="Group 24" id="24"/>
          <p:cNvGrpSpPr/>
          <p:nvPr/>
        </p:nvGrpSpPr>
        <p:grpSpPr>
          <a:xfrm rot="5400000">
            <a:off x="5780811" y="5004756"/>
            <a:ext cx="622999" cy="351870"/>
            <a:chOff x="0" y="0"/>
            <a:chExt cx="1387983" cy="784032"/>
          </a:xfrm>
        </p:grpSpPr>
        <p:sp>
          <p:nvSpPr>
            <p:cNvPr name="Freeform 25" id="25"/>
            <p:cNvSpPr/>
            <p:nvPr/>
          </p:nvSpPr>
          <p:spPr>
            <a:xfrm flipH="false" flipV="false" rot="0">
              <a:off x="0" y="0"/>
              <a:ext cx="1387983" cy="782620"/>
            </a:xfrm>
            <a:custGeom>
              <a:avLst/>
              <a:gdLst/>
              <a:ahLst/>
              <a:cxnLst/>
              <a:rect r="r" b="b" t="t" l="l"/>
              <a:pathLst>
                <a:path h="782620" w="1387983">
                  <a:moveTo>
                    <a:pt x="693992" y="0"/>
                  </a:moveTo>
                  <a:lnTo>
                    <a:pt x="1387983" y="782620"/>
                  </a:lnTo>
                  <a:lnTo>
                    <a:pt x="0" y="782620"/>
                  </a:lnTo>
                  <a:close/>
                </a:path>
              </a:pathLst>
            </a:custGeom>
            <a:solidFill>
              <a:srgbClr val="2B42A8"/>
            </a:solidFill>
          </p:spPr>
        </p:sp>
        <p:sp>
          <p:nvSpPr>
            <p:cNvPr name="TextBox 26" id="26"/>
            <p:cNvSpPr txBox="true"/>
            <p:nvPr/>
          </p:nvSpPr>
          <p:spPr>
            <a:xfrm>
              <a:off x="293871" y="273721"/>
              <a:ext cx="800241" cy="508899"/>
            </a:xfrm>
            <a:prstGeom prst="rect">
              <a:avLst/>
            </a:prstGeom>
          </p:spPr>
          <p:txBody>
            <a:bodyPr anchor="ctr" rtlCol="false" tIns="33379" lIns="33379" bIns="33379" rIns="33379"/>
            <a:lstStyle/>
            <a:p>
              <a:pPr algn="ctr">
                <a:lnSpc>
                  <a:spcPts val="2660"/>
                </a:lnSpc>
                <a:spcBef>
                  <a:spcPct val="0"/>
                </a:spcBef>
              </a:pPr>
            </a:p>
          </p:txBody>
        </p:sp>
      </p:grpSp>
      <p:grpSp>
        <p:nvGrpSpPr>
          <p:cNvPr name="Group 27" id="27"/>
          <p:cNvGrpSpPr/>
          <p:nvPr/>
        </p:nvGrpSpPr>
        <p:grpSpPr>
          <a:xfrm rot="5400000">
            <a:off x="8984927" y="7780405"/>
            <a:ext cx="622999" cy="351870"/>
            <a:chOff x="0" y="0"/>
            <a:chExt cx="1387983" cy="784032"/>
          </a:xfrm>
        </p:grpSpPr>
        <p:sp>
          <p:nvSpPr>
            <p:cNvPr name="Freeform 28" id="28"/>
            <p:cNvSpPr/>
            <p:nvPr/>
          </p:nvSpPr>
          <p:spPr>
            <a:xfrm flipH="false" flipV="false" rot="0">
              <a:off x="0" y="0"/>
              <a:ext cx="1387983" cy="782620"/>
            </a:xfrm>
            <a:custGeom>
              <a:avLst/>
              <a:gdLst/>
              <a:ahLst/>
              <a:cxnLst/>
              <a:rect r="r" b="b" t="t" l="l"/>
              <a:pathLst>
                <a:path h="782620" w="1387983">
                  <a:moveTo>
                    <a:pt x="693992" y="0"/>
                  </a:moveTo>
                  <a:lnTo>
                    <a:pt x="1387983" y="782620"/>
                  </a:lnTo>
                  <a:lnTo>
                    <a:pt x="0" y="782620"/>
                  </a:lnTo>
                  <a:close/>
                </a:path>
              </a:pathLst>
            </a:custGeom>
            <a:solidFill>
              <a:srgbClr val="3A58E4"/>
            </a:solidFill>
          </p:spPr>
        </p:sp>
        <p:sp>
          <p:nvSpPr>
            <p:cNvPr name="TextBox 29" id="29"/>
            <p:cNvSpPr txBox="true"/>
            <p:nvPr/>
          </p:nvSpPr>
          <p:spPr>
            <a:xfrm>
              <a:off x="293871" y="273721"/>
              <a:ext cx="800241" cy="508899"/>
            </a:xfrm>
            <a:prstGeom prst="rect">
              <a:avLst/>
            </a:prstGeom>
          </p:spPr>
          <p:txBody>
            <a:bodyPr anchor="ctr" rtlCol="false" tIns="33379" lIns="33379" bIns="33379" rIns="33379"/>
            <a:lstStyle/>
            <a:p>
              <a:pPr algn="ctr">
                <a:lnSpc>
                  <a:spcPts val="2660"/>
                </a:lnSpc>
                <a:spcBef>
                  <a:spcPct val="0"/>
                </a:spcBef>
              </a:pPr>
            </a:p>
          </p:txBody>
        </p:sp>
      </p:grpSp>
      <p:grpSp>
        <p:nvGrpSpPr>
          <p:cNvPr name="Group 30" id="30"/>
          <p:cNvGrpSpPr/>
          <p:nvPr/>
        </p:nvGrpSpPr>
        <p:grpSpPr>
          <a:xfrm rot="5400000">
            <a:off x="12179518" y="5004756"/>
            <a:ext cx="622999" cy="351870"/>
            <a:chOff x="0" y="0"/>
            <a:chExt cx="1387983" cy="784032"/>
          </a:xfrm>
        </p:grpSpPr>
        <p:sp>
          <p:nvSpPr>
            <p:cNvPr name="Freeform 31" id="31"/>
            <p:cNvSpPr/>
            <p:nvPr/>
          </p:nvSpPr>
          <p:spPr>
            <a:xfrm flipH="false" flipV="false" rot="0">
              <a:off x="0" y="0"/>
              <a:ext cx="1387983" cy="782620"/>
            </a:xfrm>
            <a:custGeom>
              <a:avLst/>
              <a:gdLst/>
              <a:ahLst/>
              <a:cxnLst/>
              <a:rect r="r" b="b" t="t" l="l"/>
              <a:pathLst>
                <a:path h="782620" w="1387983">
                  <a:moveTo>
                    <a:pt x="693992" y="0"/>
                  </a:moveTo>
                  <a:lnTo>
                    <a:pt x="1387983" y="782620"/>
                  </a:lnTo>
                  <a:lnTo>
                    <a:pt x="0" y="782620"/>
                  </a:lnTo>
                  <a:close/>
                </a:path>
              </a:pathLst>
            </a:custGeom>
            <a:solidFill>
              <a:srgbClr val="6984FE"/>
            </a:solidFill>
          </p:spPr>
        </p:sp>
        <p:sp>
          <p:nvSpPr>
            <p:cNvPr name="TextBox 32" id="32"/>
            <p:cNvSpPr txBox="true"/>
            <p:nvPr/>
          </p:nvSpPr>
          <p:spPr>
            <a:xfrm>
              <a:off x="293871" y="273721"/>
              <a:ext cx="800241" cy="508899"/>
            </a:xfrm>
            <a:prstGeom prst="rect">
              <a:avLst/>
            </a:prstGeom>
          </p:spPr>
          <p:txBody>
            <a:bodyPr anchor="ctr" rtlCol="false" tIns="33379" lIns="33379" bIns="33379" rIns="33379"/>
            <a:lstStyle/>
            <a:p>
              <a:pPr algn="ctr">
                <a:lnSpc>
                  <a:spcPts val="2660"/>
                </a:lnSpc>
                <a:spcBef>
                  <a:spcPct val="0"/>
                </a:spcBef>
              </a:pPr>
            </a:p>
          </p:txBody>
        </p:sp>
      </p:grpSp>
      <p:sp>
        <p:nvSpPr>
          <p:cNvPr name="TextBox 33" id="33"/>
          <p:cNvSpPr txBox="true"/>
          <p:nvPr/>
        </p:nvSpPr>
        <p:spPr>
          <a:xfrm rot="0">
            <a:off x="3115601" y="4114490"/>
            <a:ext cx="2499642" cy="907395"/>
          </a:xfrm>
          <a:prstGeom prst="rect">
            <a:avLst/>
          </a:prstGeom>
        </p:spPr>
        <p:txBody>
          <a:bodyPr anchor="t" rtlCol="false" tIns="0" lIns="0" bIns="0" rIns="0">
            <a:spAutoFit/>
          </a:bodyPr>
          <a:lstStyle/>
          <a:p>
            <a:pPr algn="just">
              <a:lnSpc>
                <a:spcPts val="3536"/>
              </a:lnSpc>
            </a:pPr>
            <a:r>
              <a:rPr lang="en-US" b="true" sz="2525" spc="-80">
                <a:solidFill>
                  <a:srgbClr val="FFFFFF"/>
                </a:solidFill>
                <a:latin typeface="Poppins Bold"/>
                <a:ea typeface="Poppins Bold"/>
                <a:cs typeface="Poppins Bold"/>
                <a:sym typeface="Poppins Bold"/>
              </a:rPr>
              <a:t>EXPAND DATA SOURCES</a:t>
            </a:r>
          </a:p>
        </p:txBody>
      </p:sp>
      <p:sp>
        <p:nvSpPr>
          <p:cNvPr name="TextBox 34" id="34"/>
          <p:cNvSpPr txBox="true"/>
          <p:nvPr/>
        </p:nvSpPr>
        <p:spPr>
          <a:xfrm rot="0">
            <a:off x="2907245" y="5290773"/>
            <a:ext cx="2529832" cy="2442156"/>
          </a:xfrm>
          <a:prstGeom prst="rect">
            <a:avLst/>
          </a:prstGeom>
        </p:spPr>
        <p:txBody>
          <a:bodyPr anchor="t" rtlCol="false" tIns="0" lIns="0" bIns="0" rIns="0">
            <a:spAutoFit/>
          </a:bodyPr>
          <a:lstStyle/>
          <a:p>
            <a:pPr algn="l" marL="372886" indent="-186443" lvl="1">
              <a:lnSpc>
                <a:spcPts val="2417"/>
              </a:lnSpc>
              <a:buFont typeface="Arial"/>
              <a:buChar char="•"/>
            </a:pPr>
            <a:r>
              <a:rPr lang="en-US" sz="1727" spc="-55">
                <a:solidFill>
                  <a:srgbClr val="FFFFFF"/>
                </a:solidFill>
                <a:latin typeface="Poppins"/>
                <a:ea typeface="Poppins"/>
                <a:cs typeface="Poppins"/>
                <a:sym typeface="Poppins"/>
              </a:rPr>
              <a:t>Collect job postings from additional remote job platforms to increase dataset diversity and improve market coverage.</a:t>
            </a:r>
          </a:p>
        </p:txBody>
      </p:sp>
      <p:sp>
        <p:nvSpPr>
          <p:cNvPr name="TextBox 35" id="35"/>
          <p:cNvSpPr txBox="true"/>
          <p:nvPr/>
        </p:nvSpPr>
        <p:spPr>
          <a:xfrm rot="0">
            <a:off x="3784762" y="7841945"/>
            <a:ext cx="1445813" cy="1421390"/>
          </a:xfrm>
          <a:prstGeom prst="rect">
            <a:avLst/>
          </a:prstGeom>
        </p:spPr>
        <p:txBody>
          <a:bodyPr anchor="t" rtlCol="false" tIns="0" lIns="0" bIns="0" rIns="0">
            <a:spAutoFit/>
          </a:bodyPr>
          <a:lstStyle/>
          <a:p>
            <a:pPr algn="just">
              <a:lnSpc>
                <a:spcPts val="11546"/>
              </a:lnSpc>
            </a:pPr>
            <a:r>
              <a:rPr lang="en-US" sz="8950" spc="-26">
                <a:solidFill>
                  <a:srgbClr val="FFFFFF"/>
                </a:solidFill>
                <a:latin typeface="Bricolage Grotesque"/>
                <a:ea typeface="Bricolage Grotesque"/>
                <a:cs typeface="Bricolage Grotesque"/>
                <a:sym typeface="Bricolage Grotesque"/>
              </a:rPr>
              <a:t>01</a:t>
            </a:r>
          </a:p>
        </p:txBody>
      </p:sp>
      <p:sp>
        <p:nvSpPr>
          <p:cNvPr name="TextBox 36" id="36"/>
          <p:cNvSpPr txBox="true"/>
          <p:nvPr/>
        </p:nvSpPr>
        <p:spPr>
          <a:xfrm rot="0">
            <a:off x="6473980" y="5290773"/>
            <a:ext cx="2135924" cy="2066582"/>
          </a:xfrm>
          <a:prstGeom prst="rect">
            <a:avLst/>
          </a:prstGeom>
        </p:spPr>
        <p:txBody>
          <a:bodyPr anchor="t" rtlCol="false" tIns="0" lIns="0" bIns="0" rIns="0">
            <a:spAutoFit/>
          </a:bodyPr>
          <a:lstStyle/>
          <a:p>
            <a:pPr algn="just">
              <a:lnSpc>
                <a:spcPts val="3263"/>
              </a:lnSpc>
            </a:pPr>
            <a:r>
              <a:rPr lang="en-US" b="true" sz="2529" spc="-7">
                <a:solidFill>
                  <a:srgbClr val="FFFFFF"/>
                </a:solidFill>
                <a:latin typeface="Poppins Bold"/>
                <a:ea typeface="Poppins Bold"/>
                <a:cs typeface="Poppins Bold"/>
                <a:sym typeface="Poppins Bold"/>
              </a:rPr>
              <a:t>AUTOMATE DATA COLLECTION</a:t>
            </a:r>
          </a:p>
          <a:p>
            <a:pPr algn="just">
              <a:lnSpc>
                <a:spcPts val="3263"/>
              </a:lnSpc>
            </a:pPr>
          </a:p>
          <a:p>
            <a:pPr algn="just">
              <a:lnSpc>
                <a:spcPts val="3263"/>
              </a:lnSpc>
            </a:pPr>
          </a:p>
        </p:txBody>
      </p:sp>
      <p:sp>
        <p:nvSpPr>
          <p:cNvPr name="TextBox 37" id="37"/>
          <p:cNvSpPr txBox="true"/>
          <p:nvPr/>
        </p:nvSpPr>
        <p:spPr>
          <a:xfrm rot="0">
            <a:off x="6092311" y="6648331"/>
            <a:ext cx="2494781" cy="1942409"/>
          </a:xfrm>
          <a:prstGeom prst="rect">
            <a:avLst/>
          </a:prstGeom>
        </p:spPr>
        <p:txBody>
          <a:bodyPr anchor="t" rtlCol="false" tIns="0" lIns="0" bIns="0" rIns="0">
            <a:spAutoFit/>
          </a:bodyPr>
          <a:lstStyle/>
          <a:p>
            <a:pPr algn="l" marL="372886" indent="-186443" lvl="1">
              <a:lnSpc>
                <a:spcPts val="2227"/>
              </a:lnSpc>
              <a:buFont typeface="Arial"/>
              <a:buChar char="•"/>
            </a:pPr>
            <a:r>
              <a:rPr lang="en-US" sz="1727" spc="-5">
                <a:solidFill>
                  <a:srgbClr val="FFFFFF"/>
                </a:solidFill>
                <a:latin typeface="Poppins"/>
                <a:ea typeface="Poppins"/>
                <a:cs typeface="Poppins"/>
                <a:sym typeface="Poppins"/>
              </a:rPr>
              <a:t>Develop an automated web scraping pipeline to collect and update job postings at regular intervals.</a:t>
            </a:r>
          </a:p>
        </p:txBody>
      </p:sp>
      <p:sp>
        <p:nvSpPr>
          <p:cNvPr name="TextBox 38" id="38"/>
          <p:cNvSpPr txBox="true"/>
          <p:nvPr/>
        </p:nvSpPr>
        <p:spPr>
          <a:xfrm rot="0">
            <a:off x="6268246" y="3917008"/>
            <a:ext cx="1578549" cy="1421390"/>
          </a:xfrm>
          <a:prstGeom prst="rect">
            <a:avLst/>
          </a:prstGeom>
        </p:spPr>
        <p:txBody>
          <a:bodyPr anchor="t" rtlCol="false" tIns="0" lIns="0" bIns="0" rIns="0">
            <a:spAutoFit/>
          </a:bodyPr>
          <a:lstStyle/>
          <a:p>
            <a:pPr algn="just">
              <a:lnSpc>
                <a:spcPts val="11546"/>
              </a:lnSpc>
            </a:pPr>
            <a:r>
              <a:rPr lang="en-US" sz="8950" spc="-26">
                <a:solidFill>
                  <a:srgbClr val="FFFFFF"/>
                </a:solidFill>
                <a:latin typeface="Bricolage Grotesque"/>
                <a:ea typeface="Bricolage Grotesque"/>
                <a:cs typeface="Bricolage Grotesque"/>
                <a:sym typeface="Bricolage Grotesque"/>
              </a:rPr>
              <a:t>02</a:t>
            </a:r>
          </a:p>
        </p:txBody>
      </p:sp>
      <p:sp>
        <p:nvSpPr>
          <p:cNvPr name="TextBox 39" id="39"/>
          <p:cNvSpPr txBox="true"/>
          <p:nvPr/>
        </p:nvSpPr>
        <p:spPr>
          <a:xfrm rot="0">
            <a:off x="9681859" y="4244759"/>
            <a:ext cx="2135924" cy="1247432"/>
          </a:xfrm>
          <a:prstGeom prst="rect">
            <a:avLst/>
          </a:prstGeom>
        </p:spPr>
        <p:txBody>
          <a:bodyPr anchor="t" rtlCol="false" tIns="0" lIns="0" bIns="0" rIns="0">
            <a:spAutoFit/>
          </a:bodyPr>
          <a:lstStyle/>
          <a:p>
            <a:pPr algn="just">
              <a:lnSpc>
                <a:spcPts val="3263"/>
              </a:lnSpc>
            </a:pPr>
            <a:r>
              <a:rPr lang="en-US" b="true" sz="2529" spc="-7">
                <a:solidFill>
                  <a:srgbClr val="FFFFFF"/>
                </a:solidFill>
                <a:latin typeface="Poppins Bold"/>
                <a:ea typeface="Poppins Bold"/>
                <a:cs typeface="Poppins Bold"/>
                <a:sym typeface="Poppins Bold"/>
              </a:rPr>
              <a:t>IMPROVE DATA QUALITY</a:t>
            </a:r>
          </a:p>
        </p:txBody>
      </p:sp>
      <p:sp>
        <p:nvSpPr>
          <p:cNvPr name="TextBox 40" id="40"/>
          <p:cNvSpPr txBox="true"/>
          <p:nvPr/>
        </p:nvSpPr>
        <p:spPr>
          <a:xfrm rot="0">
            <a:off x="9296427" y="5771470"/>
            <a:ext cx="3124307" cy="2218634"/>
          </a:xfrm>
          <a:prstGeom prst="rect">
            <a:avLst/>
          </a:prstGeom>
        </p:spPr>
        <p:txBody>
          <a:bodyPr anchor="t" rtlCol="false" tIns="0" lIns="0" bIns="0" rIns="0">
            <a:spAutoFit/>
          </a:bodyPr>
          <a:lstStyle/>
          <a:p>
            <a:pPr algn="l" marL="372886" indent="-186443" lvl="1">
              <a:lnSpc>
                <a:spcPts val="2227"/>
              </a:lnSpc>
              <a:buFont typeface="Arial"/>
              <a:buChar char="•"/>
            </a:pPr>
            <a:r>
              <a:rPr lang="en-US" sz="1727" spc="-5">
                <a:solidFill>
                  <a:srgbClr val="FFFFFF"/>
                </a:solidFill>
                <a:latin typeface="Poppins"/>
                <a:ea typeface="Poppins"/>
                <a:cs typeface="Poppins"/>
                <a:sym typeface="Poppins"/>
              </a:rPr>
              <a:t>Enhance data preprocessing by extracting more complete skill information and reducing missing values through improved scraping techniques.</a:t>
            </a:r>
          </a:p>
        </p:txBody>
      </p:sp>
      <p:sp>
        <p:nvSpPr>
          <p:cNvPr name="TextBox 41" id="41"/>
          <p:cNvSpPr txBox="true"/>
          <p:nvPr/>
        </p:nvSpPr>
        <p:spPr>
          <a:xfrm rot="0">
            <a:off x="9472362" y="7913904"/>
            <a:ext cx="1711285" cy="1421390"/>
          </a:xfrm>
          <a:prstGeom prst="rect">
            <a:avLst/>
          </a:prstGeom>
        </p:spPr>
        <p:txBody>
          <a:bodyPr anchor="t" rtlCol="false" tIns="0" lIns="0" bIns="0" rIns="0">
            <a:spAutoFit/>
          </a:bodyPr>
          <a:lstStyle/>
          <a:p>
            <a:pPr algn="just">
              <a:lnSpc>
                <a:spcPts val="11546"/>
              </a:lnSpc>
            </a:pPr>
            <a:r>
              <a:rPr lang="en-US" sz="8950" spc="-26">
                <a:solidFill>
                  <a:srgbClr val="FFFFFF"/>
                </a:solidFill>
                <a:latin typeface="Bricolage Grotesque"/>
                <a:ea typeface="Bricolage Grotesque"/>
                <a:cs typeface="Bricolage Grotesque"/>
                <a:sym typeface="Bricolage Grotesque"/>
              </a:rPr>
              <a:t>03</a:t>
            </a:r>
          </a:p>
        </p:txBody>
      </p:sp>
      <p:sp>
        <p:nvSpPr>
          <p:cNvPr name="TextBox 42" id="42"/>
          <p:cNvSpPr txBox="true"/>
          <p:nvPr/>
        </p:nvSpPr>
        <p:spPr>
          <a:xfrm rot="0">
            <a:off x="12886027" y="5290773"/>
            <a:ext cx="2135924" cy="837905"/>
          </a:xfrm>
          <a:prstGeom prst="rect">
            <a:avLst/>
          </a:prstGeom>
        </p:spPr>
        <p:txBody>
          <a:bodyPr anchor="t" rtlCol="false" tIns="0" lIns="0" bIns="0" rIns="0">
            <a:spAutoFit/>
          </a:bodyPr>
          <a:lstStyle/>
          <a:p>
            <a:pPr algn="just">
              <a:lnSpc>
                <a:spcPts val="3258"/>
              </a:lnSpc>
            </a:pPr>
            <a:r>
              <a:rPr lang="en-US" b="true" sz="2525" spc="-7">
                <a:solidFill>
                  <a:srgbClr val="FFFFFF"/>
                </a:solidFill>
                <a:latin typeface="Poppins Bold"/>
                <a:ea typeface="Poppins Bold"/>
                <a:cs typeface="Poppins Bold"/>
                <a:sym typeface="Poppins Bold"/>
              </a:rPr>
              <a:t>ADVANCED ANALYTICS</a:t>
            </a:r>
          </a:p>
        </p:txBody>
      </p:sp>
      <p:sp>
        <p:nvSpPr>
          <p:cNvPr name="TextBox 43" id="43"/>
          <p:cNvSpPr txBox="true"/>
          <p:nvPr/>
        </p:nvSpPr>
        <p:spPr>
          <a:xfrm rot="0">
            <a:off x="12666952" y="6233994"/>
            <a:ext cx="2135924" cy="2771084"/>
          </a:xfrm>
          <a:prstGeom prst="rect">
            <a:avLst/>
          </a:prstGeom>
        </p:spPr>
        <p:txBody>
          <a:bodyPr anchor="t" rtlCol="false" tIns="0" lIns="0" bIns="0" rIns="0">
            <a:spAutoFit/>
          </a:bodyPr>
          <a:lstStyle/>
          <a:p>
            <a:pPr algn="l" marL="372886" indent="-186443" lvl="1">
              <a:lnSpc>
                <a:spcPts val="2227"/>
              </a:lnSpc>
              <a:buFont typeface="Arial"/>
              <a:buChar char="•"/>
            </a:pPr>
            <a:r>
              <a:rPr lang="en-US" sz="1727" spc="-5">
                <a:solidFill>
                  <a:srgbClr val="FFFFFF"/>
                </a:solidFill>
                <a:latin typeface="Poppins"/>
                <a:ea typeface="Poppins"/>
                <a:cs typeface="Poppins"/>
                <a:sym typeface="Poppins"/>
              </a:rPr>
              <a:t>Integrate predictive analytics, trend forecasting, and interactive filters to provide deeper insights into future skill demand.</a:t>
            </a:r>
          </a:p>
          <a:p>
            <a:pPr algn="l" marL="372886" indent="-186443" lvl="1">
              <a:lnSpc>
                <a:spcPts val="2227"/>
              </a:lnSpc>
              <a:buFont typeface="Arial"/>
              <a:buChar char="•"/>
            </a:pPr>
          </a:p>
        </p:txBody>
      </p:sp>
      <p:sp>
        <p:nvSpPr>
          <p:cNvPr name="TextBox 44" id="44"/>
          <p:cNvSpPr txBox="true"/>
          <p:nvPr/>
        </p:nvSpPr>
        <p:spPr>
          <a:xfrm rot="0">
            <a:off x="13443402" y="3917008"/>
            <a:ext cx="1578549" cy="1421390"/>
          </a:xfrm>
          <a:prstGeom prst="rect">
            <a:avLst/>
          </a:prstGeom>
        </p:spPr>
        <p:txBody>
          <a:bodyPr anchor="t" rtlCol="false" tIns="0" lIns="0" bIns="0" rIns="0">
            <a:spAutoFit/>
          </a:bodyPr>
          <a:lstStyle/>
          <a:p>
            <a:pPr algn="just">
              <a:lnSpc>
                <a:spcPts val="11546"/>
              </a:lnSpc>
            </a:pPr>
            <a:r>
              <a:rPr lang="en-US" sz="8950" spc="-26">
                <a:solidFill>
                  <a:srgbClr val="FFFFFF"/>
                </a:solidFill>
                <a:latin typeface="Bricolage Grotesque"/>
                <a:ea typeface="Bricolage Grotesque"/>
                <a:cs typeface="Bricolage Grotesque"/>
                <a:sym typeface="Bricolage Grotesque"/>
              </a:rPr>
              <a:t>04</a:t>
            </a:r>
          </a:p>
        </p:txBody>
      </p:sp>
    </p:spTree>
  </p:cSld>
  <p:clrMapOvr>
    <a:masterClrMapping/>
  </p:clrMapOvr>
  <p:transition spd="med">
    <p:push dir="l"/>
  </p:transition>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45314"/>
            <a:ext cx="1385780" cy="1384441"/>
            <a:chOff x="0" y="0"/>
            <a:chExt cx="1847707" cy="1845922"/>
          </a:xfrm>
        </p:grpSpPr>
        <p:grpSp>
          <p:nvGrpSpPr>
            <p:cNvPr name="Group 3" id="3"/>
            <p:cNvGrpSpPr/>
            <p:nvPr/>
          </p:nvGrpSpPr>
          <p:grpSpPr>
            <a:xfrm rot="0">
              <a:off x="0" y="0"/>
              <a:ext cx="1847707" cy="1845922"/>
              <a:chOff x="0" y="0"/>
              <a:chExt cx="787566" cy="786805"/>
            </a:xfrm>
          </p:grpSpPr>
          <p:sp>
            <p:nvSpPr>
              <p:cNvPr name="Freeform 4" id="4"/>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5" id="5"/>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39082" y="522399"/>
              <a:ext cx="1369543" cy="896375"/>
            </a:xfrm>
            <a:prstGeom prst="rect">
              <a:avLst/>
            </a:prstGeom>
          </p:spPr>
          <p:txBody>
            <a:bodyPr anchor="t" rtlCol="false" tIns="0" lIns="0" bIns="0" rIns="0">
              <a:spAutoFit/>
            </a:bodyPr>
            <a:lstStyle/>
            <a:p>
              <a:pPr algn="ctr">
                <a:lnSpc>
                  <a:spcPts val="4813"/>
                </a:lnSpc>
              </a:pPr>
              <a:r>
                <a:rPr lang="en-US" sz="4911" spc="-314">
                  <a:solidFill>
                    <a:srgbClr val="FFFFFF"/>
                  </a:solidFill>
                  <a:latin typeface="Bricolage Grotesque"/>
                  <a:ea typeface="Bricolage Grotesque"/>
                  <a:cs typeface="Bricolage Grotesque"/>
                  <a:sym typeface="Bricolage Grotesque"/>
                </a:rPr>
                <a:t>09</a:t>
              </a:r>
            </a:p>
          </p:txBody>
        </p:sp>
      </p:grpSp>
      <p:grpSp>
        <p:nvGrpSpPr>
          <p:cNvPr name="Group 7" id="7"/>
          <p:cNvGrpSpPr/>
          <p:nvPr/>
        </p:nvGrpSpPr>
        <p:grpSpPr>
          <a:xfrm rot="0">
            <a:off x="211038" y="2231057"/>
            <a:ext cx="9034117" cy="7705466"/>
            <a:chOff x="0" y="0"/>
            <a:chExt cx="12045489" cy="10273955"/>
          </a:xfrm>
        </p:grpSpPr>
        <p:sp>
          <p:nvSpPr>
            <p:cNvPr name="Freeform 8" id="8"/>
            <p:cNvSpPr/>
            <p:nvPr/>
          </p:nvSpPr>
          <p:spPr>
            <a:xfrm flipH="false" flipV="false" rot="0">
              <a:off x="593483" y="601101"/>
              <a:ext cx="4472839" cy="4472839"/>
            </a:xfrm>
            <a:custGeom>
              <a:avLst/>
              <a:gdLst/>
              <a:ahLst/>
              <a:cxnLst/>
              <a:rect r="r" b="b" t="t" l="l"/>
              <a:pathLst>
                <a:path h="4472839" w="4472839">
                  <a:moveTo>
                    <a:pt x="0" y="0"/>
                  </a:moveTo>
                  <a:lnTo>
                    <a:pt x="4472839" y="0"/>
                  </a:lnTo>
                  <a:lnTo>
                    <a:pt x="4472839" y="4472838"/>
                  </a:lnTo>
                  <a:lnTo>
                    <a:pt x="0" y="44728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9" id="9"/>
            <p:cNvGrpSpPr/>
            <p:nvPr/>
          </p:nvGrpSpPr>
          <p:grpSpPr>
            <a:xfrm rot="0">
              <a:off x="0" y="83437"/>
              <a:ext cx="1521189" cy="1425697"/>
              <a:chOff x="0" y="0"/>
              <a:chExt cx="867241" cy="812800"/>
            </a:xfrm>
          </p:grpSpPr>
          <p:sp>
            <p:nvSpPr>
              <p:cNvPr name="Freeform 10" id="10"/>
              <p:cNvSpPr/>
              <p:nvPr/>
            </p:nvSpPr>
            <p:spPr>
              <a:xfrm flipH="false" flipV="false" rot="0">
                <a:off x="0" y="0"/>
                <a:ext cx="867241" cy="812800"/>
              </a:xfrm>
              <a:custGeom>
                <a:avLst/>
                <a:gdLst/>
                <a:ahLst/>
                <a:cxnLst/>
                <a:rect r="r" b="b" t="t" l="l"/>
                <a:pathLst>
                  <a:path h="812800" w="867241">
                    <a:moveTo>
                      <a:pt x="433620" y="0"/>
                    </a:moveTo>
                    <a:cubicBezTo>
                      <a:pt x="194139" y="0"/>
                      <a:pt x="0" y="181951"/>
                      <a:pt x="0" y="406400"/>
                    </a:cubicBezTo>
                    <a:cubicBezTo>
                      <a:pt x="0" y="630849"/>
                      <a:pt x="194139" y="812800"/>
                      <a:pt x="433620" y="812800"/>
                    </a:cubicBezTo>
                    <a:cubicBezTo>
                      <a:pt x="673102" y="812800"/>
                      <a:pt x="867241" y="630849"/>
                      <a:pt x="867241" y="406400"/>
                    </a:cubicBezTo>
                    <a:cubicBezTo>
                      <a:pt x="867241" y="181951"/>
                      <a:pt x="673102" y="0"/>
                      <a:pt x="43362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sq">
                <a:noFill/>
                <a:prstDash val="solid"/>
                <a:miter/>
              </a:ln>
            </p:spPr>
          </p:sp>
          <p:sp>
            <p:nvSpPr>
              <p:cNvPr name="TextBox 11" id="11"/>
              <p:cNvSpPr txBox="true"/>
              <p:nvPr/>
            </p:nvSpPr>
            <p:spPr>
              <a:xfrm>
                <a:off x="81304" y="38100"/>
                <a:ext cx="704633" cy="698500"/>
              </a:xfrm>
              <a:prstGeom prst="rect">
                <a:avLst/>
              </a:prstGeom>
            </p:spPr>
            <p:txBody>
              <a:bodyPr anchor="ctr" rtlCol="false" tIns="50800" lIns="50800" bIns="50800" rIns="50800"/>
              <a:lstStyle/>
              <a:p>
                <a:pPr algn="ctr">
                  <a:lnSpc>
                    <a:spcPts val="2660"/>
                  </a:lnSpc>
                </a:pPr>
              </a:p>
            </p:txBody>
          </p:sp>
        </p:grpSp>
        <p:sp>
          <p:nvSpPr>
            <p:cNvPr name="TextBox 12" id="12"/>
            <p:cNvSpPr txBox="true"/>
            <p:nvPr/>
          </p:nvSpPr>
          <p:spPr>
            <a:xfrm rot="0">
              <a:off x="268233" y="418020"/>
              <a:ext cx="984723" cy="699383"/>
            </a:xfrm>
            <a:prstGeom prst="rect">
              <a:avLst/>
            </a:prstGeom>
          </p:spPr>
          <p:txBody>
            <a:bodyPr anchor="t" rtlCol="false" tIns="0" lIns="0" bIns="0" rIns="0">
              <a:spAutoFit/>
            </a:bodyPr>
            <a:lstStyle/>
            <a:p>
              <a:pPr algn="ctr">
                <a:lnSpc>
                  <a:spcPts val="4112"/>
                </a:lnSpc>
              </a:pPr>
              <a:r>
                <a:rPr lang="en-US" sz="3187" spc="-9">
                  <a:solidFill>
                    <a:srgbClr val="FFFFFF"/>
                  </a:solidFill>
                  <a:latin typeface="Poppins"/>
                  <a:ea typeface="Poppins"/>
                  <a:cs typeface="Poppins"/>
                  <a:sym typeface="Poppins"/>
                </a:rPr>
                <a:t>01</a:t>
              </a:r>
            </a:p>
          </p:txBody>
        </p:sp>
        <p:sp>
          <p:nvSpPr>
            <p:cNvPr name="TextBox 13" id="13"/>
            <p:cNvSpPr txBox="true"/>
            <p:nvPr/>
          </p:nvSpPr>
          <p:spPr>
            <a:xfrm rot="0">
              <a:off x="1225089" y="1294963"/>
              <a:ext cx="10820400" cy="554723"/>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CONCLUSSION 1:-</a:t>
              </a:r>
            </a:p>
          </p:txBody>
        </p:sp>
        <p:grpSp>
          <p:nvGrpSpPr>
            <p:cNvPr name="Group 14" id="14"/>
            <p:cNvGrpSpPr/>
            <p:nvPr/>
          </p:nvGrpSpPr>
          <p:grpSpPr>
            <a:xfrm rot="0">
              <a:off x="5399944" y="156652"/>
              <a:ext cx="6289082" cy="4917287"/>
              <a:chOff x="0" y="0"/>
              <a:chExt cx="2037561" cy="1593121"/>
            </a:xfrm>
          </p:grpSpPr>
          <p:sp>
            <p:nvSpPr>
              <p:cNvPr name="Freeform 15" id="15"/>
              <p:cNvSpPr/>
              <p:nvPr/>
            </p:nvSpPr>
            <p:spPr>
              <a:xfrm flipH="false" flipV="false" rot="0">
                <a:off x="0" y="0"/>
                <a:ext cx="2037561" cy="1593121"/>
              </a:xfrm>
              <a:custGeom>
                <a:avLst/>
                <a:gdLst/>
                <a:ahLst/>
                <a:cxnLst/>
                <a:rect r="r" b="b" t="t" l="l"/>
                <a:pathLst>
                  <a:path h="1593121" w="2037561">
                    <a:moveTo>
                      <a:pt x="101029" y="0"/>
                    </a:moveTo>
                    <a:lnTo>
                      <a:pt x="1936532" y="0"/>
                    </a:lnTo>
                    <a:cubicBezTo>
                      <a:pt x="1992329" y="0"/>
                      <a:pt x="2037561" y="45232"/>
                      <a:pt x="2037561" y="101029"/>
                    </a:cubicBezTo>
                    <a:lnTo>
                      <a:pt x="2037561" y="1492093"/>
                    </a:lnTo>
                    <a:cubicBezTo>
                      <a:pt x="2037561" y="1547889"/>
                      <a:pt x="1992329" y="1593121"/>
                      <a:pt x="1936532" y="1593121"/>
                    </a:cubicBezTo>
                    <a:lnTo>
                      <a:pt x="101029" y="1593121"/>
                    </a:lnTo>
                    <a:cubicBezTo>
                      <a:pt x="45232" y="1593121"/>
                      <a:pt x="0" y="1547889"/>
                      <a:pt x="0" y="1492093"/>
                    </a:cubicBezTo>
                    <a:lnTo>
                      <a:pt x="0" y="101029"/>
                    </a:lnTo>
                    <a:cubicBezTo>
                      <a:pt x="0" y="45232"/>
                      <a:pt x="45232" y="0"/>
                      <a:pt x="101029"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16" id="16"/>
              <p:cNvSpPr txBox="true"/>
              <p:nvPr/>
            </p:nvSpPr>
            <p:spPr>
              <a:xfrm>
                <a:off x="0" y="-38100"/>
                <a:ext cx="2037561" cy="1631221"/>
              </a:xfrm>
              <a:prstGeom prst="rect">
                <a:avLst/>
              </a:prstGeom>
            </p:spPr>
            <p:txBody>
              <a:bodyPr anchor="ctr" rtlCol="false" tIns="23318" lIns="23318" bIns="23318" rIns="23318"/>
              <a:lstStyle/>
              <a:p>
                <a:pPr algn="ctr">
                  <a:lnSpc>
                    <a:spcPts val="2660"/>
                  </a:lnSpc>
                  <a:spcBef>
                    <a:spcPct val="0"/>
                  </a:spcBef>
                </a:pPr>
              </a:p>
            </p:txBody>
          </p:sp>
        </p:grpSp>
        <p:sp>
          <p:nvSpPr>
            <p:cNvPr name="Freeform 17" id="17"/>
            <p:cNvSpPr/>
            <p:nvPr/>
          </p:nvSpPr>
          <p:spPr>
            <a:xfrm flipH="false" flipV="false" rot="1619375">
              <a:off x="4537053" y="232773"/>
              <a:ext cx="1357988" cy="1384139"/>
            </a:xfrm>
            <a:custGeom>
              <a:avLst/>
              <a:gdLst/>
              <a:ahLst/>
              <a:cxnLst/>
              <a:rect r="r" b="b" t="t" l="l"/>
              <a:pathLst>
                <a:path h="1384139" w="1357988">
                  <a:moveTo>
                    <a:pt x="0" y="0"/>
                  </a:moveTo>
                  <a:lnTo>
                    <a:pt x="1357988" y="0"/>
                  </a:lnTo>
                  <a:lnTo>
                    <a:pt x="1357988" y="1384139"/>
                  </a:lnTo>
                  <a:lnTo>
                    <a:pt x="0" y="1384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8" id="18"/>
            <p:cNvSpPr txBox="true"/>
            <p:nvPr/>
          </p:nvSpPr>
          <p:spPr>
            <a:xfrm rot="0">
              <a:off x="933588" y="2027997"/>
              <a:ext cx="3792629" cy="1790292"/>
            </a:xfrm>
            <a:prstGeom prst="rect">
              <a:avLst/>
            </a:prstGeom>
          </p:spPr>
          <p:txBody>
            <a:bodyPr anchor="t" rtlCol="false" tIns="0" lIns="0" bIns="0" rIns="0">
              <a:spAutoFit/>
            </a:bodyPr>
            <a:lstStyle/>
            <a:p>
              <a:pPr algn="just">
                <a:lnSpc>
                  <a:spcPts val="3585"/>
                </a:lnSpc>
              </a:pPr>
              <a:r>
                <a:rPr lang="en-US" sz="2560" spc="-81">
                  <a:solidFill>
                    <a:srgbClr val="3A58E4"/>
                  </a:solidFill>
                  <a:latin typeface="Poppins"/>
                  <a:ea typeface="Poppins"/>
                  <a:cs typeface="Poppins"/>
                  <a:sym typeface="Poppins"/>
                </a:rPr>
                <a:t>Technical skills are the primary factor in remote hiring.</a:t>
              </a:r>
            </a:p>
          </p:txBody>
        </p:sp>
        <p:sp>
          <p:nvSpPr>
            <p:cNvPr name="TextBox 19" id="19"/>
            <p:cNvSpPr txBox="true"/>
            <p:nvPr/>
          </p:nvSpPr>
          <p:spPr>
            <a:xfrm rot="0">
              <a:off x="6086566" y="469907"/>
              <a:ext cx="4225766" cy="1046056"/>
            </a:xfrm>
            <a:prstGeom prst="rect">
              <a:avLst/>
            </a:prstGeom>
          </p:spPr>
          <p:txBody>
            <a:bodyPr anchor="t" rtlCol="false" tIns="0" lIns="0" bIns="0" rIns="0">
              <a:spAutoFit/>
            </a:bodyPr>
            <a:lstStyle/>
            <a:p>
              <a:pPr algn="ctr">
                <a:lnSpc>
                  <a:spcPts val="3220"/>
                </a:lnSpc>
                <a:spcBef>
                  <a:spcPct val="0"/>
                </a:spcBef>
              </a:pPr>
              <a:r>
                <a:rPr lang="en-US" b="true" sz="2300">
                  <a:solidFill>
                    <a:srgbClr val="FFFFFF"/>
                  </a:solidFill>
                  <a:latin typeface="Poppins Bold"/>
                  <a:ea typeface="Poppins Bold"/>
                  <a:cs typeface="Poppins Bold"/>
                  <a:sym typeface="Poppins Bold"/>
                </a:rPr>
                <a:t>Supporting Evidence:-</a:t>
              </a:r>
            </a:p>
          </p:txBody>
        </p:sp>
        <p:sp>
          <p:nvSpPr>
            <p:cNvPr name="TextBox 20" id="20"/>
            <p:cNvSpPr txBox="true"/>
            <p:nvPr/>
          </p:nvSpPr>
          <p:spPr>
            <a:xfrm rot="0">
              <a:off x="6086566" y="1792535"/>
              <a:ext cx="4939668" cy="3281404"/>
            </a:xfrm>
            <a:prstGeom prst="rect">
              <a:avLst/>
            </a:prstGeom>
          </p:spPr>
          <p:txBody>
            <a:bodyPr anchor="t" rtlCol="false" tIns="0" lIns="0" bIns="0" rIns="0">
              <a:spAutoFit/>
            </a:bodyPr>
            <a:lstStyle/>
            <a:p>
              <a:pPr algn="l" marL="436110" indent="-218055" lvl="1">
                <a:lnSpc>
                  <a:spcPts val="2827"/>
                </a:lnSpc>
                <a:buFont typeface="Arial"/>
                <a:buChar char="•"/>
              </a:pPr>
              <a:r>
                <a:rPr lang="en-US" sz="2019" spc="-50">
                  <a:solidFill>
                    <a:srgbClr val="F7F7F7"/>
                  </a:solidFill>
                  <a:latin typeface="Poppins"/>
                  <a:ea typeface="Poppins"/>
                  <a:cs typeface="Poppins"/>
                  <a:sym typeface="Poppins"/>
                </a:rPr>
                <a:t>Dashboard analysis identified the Top 10 most in-demand skills.</a:t>
              </a:r>
            </a:p>
            <a:p>
              <a:pPr algn="l" marL="436110" indent="-218055" lvl="1">
                <a:lnSpc>
                  <a:spcPts val="2827"/>
                </a:lnSpc>
                <a:buFont typeface="Arial"/>
                <a:buChar char="•"/>
              </a:pPr>
              <a:r>
                <a:rPr lang="en-US" sz="2019" spc="-50">
                  <a:solidFill>
                    <a:srgbClr val="F7F7F7"/>
                  </a:solidFill>
                  <a:latin typeface="Poppins"/>
                  <a:ea typeface="Poppins"/>
                  <a:cs typeface="Poppins"/>
                  <a:sym typeface="Poppins"/>
                </a:rPr>
                <a:t>The analysis was based on 62 verified job postings containing explicit skill requirements.</a:t>
              </a:r>
            </a:p>
          </p:txBody>
        </p:sp>
        <p:sp>
          <p:nvSpPr>
            <p:cNvPr name="Freeform 21" id="21"/>
            <p:cNvSpPr/>
            <p:nvPr/>
          </p:nvSpPr>
          <p:spPr>
            <a:xfrm flipH="false" flipV="false" rot="0">
              <a:off x="593483" y="5801116"/>
              <a:ext cx="4472839" cy="4472839"/>
            </a:xfrm>
            <a:custGeom>
              <a:avLst/>
              <a:gdLst/>
              <a:ahLst/>
              <a:cxnLst/>
              <a:rect r="r" b="b" t="t" l="l"/>
              <a:pathLst>
                <a:path h="4472839" w="4472839">
                  <a:moveTo>
                    <a:pt x="0" y="0"/>
                  </a:moveTo>
                  <a:lnTo>
                    <a:pt x="4472839" y="0"/>
                  </a:lnTo>
                  <a:lnTo>
                    <a:pt x="4472839" y="4472839"/>
                  </a:lnTo>
                  <a:lnTo>
                    <a:pt x="0" y="447283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22" id="22"/>
            <p:cNvSpPr txBox="true"/>
            <p:nvPr/>
          </p:nvSpPr>
          <p:spPr>
            <a:xfrm rot="0">
              <a:off x="1148235" y="6880335"/>
              <a:ext cx="4067812" cy="3041277"/>
            </a:xfrm>
            <a:prstGeom prst="rect">
              <a:avLst/>
            </a:prstGeom>
          </p:spPr>
          <p:txBody>
            <a:bodyPr anchor="t" rtlCol="false" tIns="0" lIns="0" bIns="0" rIns="0">
              <a:spAutoFit/>
            </a:bodyPr>
            <a:lstStyle/>
            <a:p>
              <a:pPr algn="l" marL="467915" indent="-233957" lvl="1">
                <a:lnSpc>
                  <a:spcPts val="3034"/>
                </a:lnSpc>
                <a:buFont typeface="Arial"/>
                <a:buChar char="•"/>
              </a:pPr>
              <a:r>
                <a:rPr lang="en-US" sz="2167" spc="-69">
                  <a:solidFill>
                    <a:srgbClr val="3A58E4"/>
                  </a:solidFill>
                  <a:latin typeface="Poppins"/>
                  <a:ea typeface="Poppins"/>
                  <a:cs typeface="Poppins"/>
                  <a:sym typeface="Poppins"/>
                </a:rPr>
                <a:t>Remote job opportunities are concentrated in specific regions, particularly the United States.</a:t>
              </a:r>
            </a:p>
          </p:txBody>
        </p:sp>
      </p:grpSp>
      <p:grpSp>
        <p:nvGrpSpPr>
          <p:cNvPr name="Group 23" id="23"/>
          <p:cNvGrpSpPr/>
          <p:nvPr/>
        </p:nvGrpSpPr>
        <p:grpSpPr>
          <a:xfrm rot="0">
            <a:off x="327628" y="6098622"/>
            <a:ext cx="1140892" cy="1069273"/>
            <a:chOff x="0" y="0"/>
            <a:chExt cx="867241" cy="812800"/>
          </a:xfrm>
        </p:grpSpPr>
        <p:sp>
          <p:nvSpPr>
            <p:cNvPr name="Freeform 24" id="24"/>
            <p:cNvSpPr/>
            <p:nvPr/>
          </p:nvSpPr>
          <p:spPr>
            <a:xfrm flipH="false" flipV="false" rot="0">
              <a:off x="0" y="0"/>
              <a:ext cx="867241" cy="812800"/>
            </a:xfrm>
            <a:custGeom>
              <a:avLst/>
              <a:gdLst/>
              <a:ahLst/>
              <a:cxnLst/>
              <a:rect r="r" b="b" t="t" l="l"/>
              <a:pathLst>
                <a:path h="812800" w="867241">
                  <a:moveTo>
                    <a:pt x="433620" y="0"/>
                  </a:moveTo>
                  <a:cubicBezTo>
                    <a:pt x="194139" y="0"/>
                    <a:pt x="0" y="181951"/>
                    <a:pt x="0" y="406400"/>
                  </a:cubicBezTo>
                  <a:cubicBezTo>
                    <a:pt x="0" y="630849"/>
                    <a:pt x="194139" y="812800"/>
                    <a:pt x="433620" y="812800"/>
                  </a:cubicBezTo>
                  <a:cubicBezTo>
                    <a:pt x="673102" y="812800"/>
                    <a:pt x="867241" y="630849"/>
                    <a:pt x="867241" y="406400"/>
                  </a:cubicBezTo>
                  <a:cubicBezTo>
                    <a:pt x="867241" y="181951"/>
                    <a:pt x="673102" y="0"/>
                    <a:pt x="43362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sq">
              <a:noFill/>
              <a:prstDash val="solid"/>
              <a:miter/>
            </a:ln>
          </p:spPr>
        </p:sp>
        <p:sp>
          <p:nvSpPr>
            <p:cNvPr name="TextBox 25" id="25"/>
            <p:cNvSpPr txBox="true"/>
            <p:nvPr/>
          </p:nvSpPr>
          <p:spPr>
            <a:xfrm>
              <a:off x="81304" y="19050"/>
              <a:ext cx="704633" cy="717550"/>
            </a:xfrm>
            <a:prstGeom prst="rect">
              <a:avLst/>
            </a:prstGeom>
          </p:spPr>
          <p:txBody>
            <a:bodyPr anchor="ctr" rtlCol="false" tIns="72718" lIns="72718" bIns="72718" rIns="72718"/>
            <a:lstStyle/>
            <a:p>
              <a:pPr algn="ctr">
                <a:lnSpc>
                  <a:spcPts val="2660"/>
                </a:lnSpc>
              </a:pPr>
            </a:p>
          </p:txBody>
        </p:sp>
      </p:grpSp>
      <p:sp>
        <p:nvSpPr>
          <p:cNvPr name="TextBox 26" id="26"/>
          <p:cNvSpPr txBox="true"/>
          <p:nvPr/>
        </p:nvSpPr>
        <p:spPr>
          <a:xfrm rot="0">
            <a:off x="528803" y="6335271"/>
            <a:ext cx="738542" cy="538825"/>
          </a:xfrm>
          <a:prstGeom prst="rect">
            <a:avLst/>
          </a:prstGeom>
        </p:spPr>
        <p:txBody>
          <a:bodyPr anchor="t" rtlCol="false" tIns="0" lIns="0" bIns="0" rIns="0">
            <a:spAutoFit/>
          </a:bodyPr>
          <a:lstStyle/>
          <a:p>
            <a:pPr algn="ctr">
              <a:lnSpc>
                <a:spcPts val="4112"/>
              </a:lnSpc>
            </a:pPr>
            <a:r>
              <a:rPr lang="en-US" sz="3187" spc="-9">
                <a:solidFill>
                  <a:srgbClr val="FFFFFF"/>
                </a:solidFill>
                <a:latin typeface="Poppins"/>
                <a:ea typeface="Poppins"/>
                <a:cs typeface="Poppins"/>
                <a:sym typeface="Poppins"/>
              </a:rPr>
              <a:t>02</a:t>
            </a:r>
          </a:p>
        </p:txBody>
      </p:sp>
      <p:sp>
        <p:nvSpPr>
          <p:cNvPr name="TextBox 27" id="27"/>
          <p:cNvSpPr txBox="true"/>
          <p:nvPr/>
        </p:nvSpPr>
        <p:spPr>
          <a:xfrm rot="0">
            <a:off x="1246445" y="6988216"/>
            <a:ext cx="8115300" cy="435092"/>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CONCLUSSION 2:-</a:t>
            </a:r>
          </a:p>
        </p:txBody>
      </p:sp>
      <p:grpSp>
        <p:nvGrpSpPr>
          <p:cNvPr name="Group 28" id="28"/>
          <p:cNvGrpSpPr/>
          <p:nvPr/>
        </p:nvGrpSpPr>
        <p:grpSpPr>
          <a:xfrm rot="0">
            <a:off x="4377586" y="6153533"/>
            <a:ext cx="4716812" cy="3687965"/>
            <a:chOff x="0" y="0"/>
            <a:chExt cx="2037561" cy="1593121"/>
          </a:xfrm>
        </p:grpSpPr>
        <p:sp>
          <p:nvSpPr>
            <p:cNvPr name="Freeform 29" id="29"/>
            <p:cNvSpPr/>
            <p:nvPr/>
          </p:nvSpPr>
          <p:spPr>
            <a:xfrm flipH="false" flipV="false" rot="0">
              <a:off x="0" y="0"/>
              <a:ext cx="2037561" cy="1593121"/>
            </a:xfrm>
            <a:custGeom>
              <a:avLst/>
              <a:gdLst/>
              <a:ahLst/>
              <a:cxnLst/>
              <a:rect r="r" b="b" t="t" l="l"/>
              <a:pathLst>
                <a:path h="1593121" w="2037561">
                  <a:moveTo>
                    <a:pt x="70578" y="0"/>
                  </a:moveTo>
                  <a:lnTo>
                    <a:pt x="1966983" y="0"/>
                  </a:lnTo>
                  <a:cubicBezTo>
                    <a:pt x="2005962" y="0"/>
                    <a:pt x="2037561" y="31599"/>
                    <a:pt x="2037561" y="70578"/>
                  </a:cubicBezTo>
                  <a:lnTo>
                    <a:pt x="2037561" y="1522543"/>
                  </a:lnTo>
                  <a:cubicBezTo>
                    <a:pt x="2037561" y="1561523"/>
                    <a:pt x="2005962" y="1593121"/>
                    <a:pt x="1966983" y="1593121"/>
                  </a:cubicBezTo>
                  <a:lnTo>
                    <a:pt x="70578" y="1593121"/>
                  </a:lnTo>
                  <a:cubicBezTo>
                    <a:pt x="31599" y="1593121"/>
                    <a:pt x="0" y="1561523"/>
                    <a:pt x="0" y="1522543"/>
                  </a:cubicBezTo>
                  <a:lnTo>
                    <a:pt x="0" y="70578"/>
                  </a:lnTo>
                  <a:cubicBezTo>
                    <a:pt x="0" y="31599"/>
                    <a:pt x="31599" y="0"/>
                    <a:pt x="70578"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30" id="30"/>
            <p:cNvSpPr txBox="true"/>
            <p:nvPr/>
          </p:nvSpPr>
          <p:spPr>
            <a:xfrm>
              <a:off x="0" y="-57150"/>
              <a:ext cx="2037561" cy="1650271"/>
            </a:xfrm>
            <a:prstGeom prst="rect">
              <a:avLst/>
            </a:prstGeom>
          </p:spPr>
          <p:txBody>
            <a:bodyPr anchor="ctr" rtlCol="false" tIns="33379" lIns="33379" bIns="33379" rIns="33379"/>
            <a:lstStyle/>
            <a:p>
              <a:pPr algn="ctr">
                <a:lnSpc>
                  <a:spcPts val="2660"/>
                </a:lnSpc>
                <a:spcBef>
                  <a:spcPct val="0"/>
                </a:spcBef>
              </a:pPr>
            </a:p>
          </p:txBody>
        </p:sp>
      </p:grpSp>
      <p:sp>
        <p:nvSpPr>
          <p:cNvPr name="Freeform 31" id="31"/>
          <p:cNvSpPr/>
          <p:nvPr/>
        </p:nvSpPr>
        <p:spPr>
          <a:xfrm flipH="false" flipV="false" rot="1619375">
            <a:off x="3730418" y="6210624"/>
            <a:ext cx="1018491" cy="1038105"/>
          </a:xfrm>
          <a:custGeom>
            <a:avLst/>
            <a:gdLst/>
            <a:ahLst/>
            <a:cxnLst/>
            <a:rect r="r" b="b" t="t" l="l"/>
            <a:pathLst>
              <a:path h="1038105" w="1018491">
                <a:moveTo>
                  <a:pt x="0" y="0"/>
                </a:moveTo>
                <a:lnTo>
                  <a:pt x="1018491" y="0"/>
                </a:lnTo>
                <a:lnTo>
                  <a:pt x="1018491" y="1038104"/>
                </a:lnTo>
                <a:lnTo>
                  <a:pt x="0" y="103810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2" id="32"/>
          <p:cNvSpPr txBox="true"/>
          <p:nvPr/>
        </p:nvSpPr>
        <p:spPr>
          <a:xfrm rot="0">
            <a:off x="1246445" y="8843681"/>
            <a:ext cx="2407219" cy="409701"/>
          </a:xfrm>
          <a:prstGeom prst="rect">
            <a:avLst/>
          </a:prstGeom>
        </p:spPr>
        <p:txBody>
          <a:bodyPr anchor="t" rtlCol="false" tIns="0" lIns="0" bIns="0" rIns="0">
            <a:spAutoFit/>
          </a:bodyPr>
          <a:lstStyle/>
          <a:p>
            <a:pPr algn="just">
              <a:lnSpc>
                <a:spcPts val="3174"/>
              </a:lnSpc>
            </a:pPr>
          </a:p>
        </p:txBody>
      </p:sp>
      <p:sp>
        <p:nvSpPr>
          <p:cNvPr name="TextBox 33" id="33"/>
          <p:cNvSpPr txBox="true"/>
          <p:nvPr/>
        </p:nvSpPr>
        <p:spPr>
          <a:xfrm rot="0">
            <a:off x="4892553" y="6374187"/>
            <a:ext cx="3169325" cy="798830"/>
          </a:xfrm>
          <a:prstGeom prst="rect">
            <a:avLst/>
          </a:prstGeom>
        </p:spPr>
        <p:txBody>
          <a:bodyPr anchor="t" rtlCol="false" tIns="0" lIns="0" bIns="0" rIns="0">
            <a:spAutoFit/>
          </a:bodyPr>
          <a:lstStyle/>
          <a:p>
            <a:pPr algn="ctr">
              <a:lnSpc>
                <a:spcPts val="3220"/>
              </a:lnSpc>
              <a:spcBef>
                <a:spcPct val="0"/>
              </a:spcBef>
            </a:pPr>
            <a:r>
              <a:rPr lang="en-US" b="true" sz="2300">
                <a:solidFill>
                  <a:srgbClr val="FFFFFF"/>
                </a:solidFill>
                <a:latin typeface="Poppins Bold"/>
                <a:ea typeface="Poppins Bold"/>
                <a:cs typeface="Poppins Bold"/>
                <a:sym typeface="Poppins Bold"/>
              </a:rPr>
              <a:t>Supporting Evidence:-</a:t>
            </a:r>
          </a:p>
        </p:txBody>
      </p:sp>
      <p:sp>
        <p:nvSpPr>
          <p:cNvPr name="TextBox 34" id="34"/>
          <p:cNvSpPr txBox="true"/>
          <p:nvPr/>
        </p:nvSpPr>
        <p:spPr>
          <a:xfrm rot="0">
            <a:off x="4377586" y="7375683"/>
            <a:ext cx="4579926" cy="1943735"/>
          </a:xfrm>
          <a:prstGeom prst="rect">
            <a:avLst/>
          </a:prstGeom>
        </p:spPr>
        <p:txBody>
          <a:bodyPr anchor="t" rtlCol="false" tIns="0" lIns="0" bIns="0" rIns="0">
            <a:spAutoFit/>
          </a:bodyPr>
          <a:lstStyle/>
          <a:p>
            <a:pPr algn="just" marL="399416" indent="-199708" lvl="1">
              <a:lnSpc>
                <a:spcPts val="2590"/>
              </a:lnSpc>
              <a:buFont typeface="Arial"/>
              <a:buChar char="•"/>
            </a:pPr>
            <a:r>
              <a:rPr lang="en-US" sz="1850" spc="-46">
                <a:solidFill>
                  <a:srgbClr val="F7F7F7"/>
                </a:solidFill>
                <a:latin typeface="Poppins"/>
                <a:ea typeface="Poppins"/>
                <a:cs typeface="Poppins"/>
                <a:sym typeface="Poppins"/>
              </a:rPr>
              <a:t>34.8% (16 of 46) analyzed postings originated from the United States.</a:t>
            </a:r>
          </a:p>
          <a:p>
            <a:pPr algn="just" marL="399416" indent="-199708" lvl="1">
              <a:lnSpc>
                <a:spcPts val="2590"/>
              </a:lnSpc>
              <a:buFont typeface="Arial"/>
              <a:buChar char="•"/>
            </a:pPr>
            <a:r>
              <a:rPr lang="en-US" sz="1850" spc="-46">
                <a:solidFill>
                  <a:srgbClr val="F7F7F7"/>
                </a:solidFill>
                <a:latin typeface="Poppins"/>
                <a:ea typeface="Poppins"/>
                <a:cs typeface="Poppins"/>
                <a:sym typeface="Poppins"/>
              </a:rPr>
              <a:t>Job postings were distributed across 15 countries, indicating global demand with U.S. dominance.</a:t>
            </a:r>
          </a:p>
          <a:p>
            <a:pPr algn="just">
              <a:lnSpc>
                <a:spcPts val="2590"/>
              </a:lnSpc>
            </a:pPr>
          </a:p>
        </p:txBody>
      </p:sp>
      <p:grpSp>
        <p:nvGrpSpPr>
          <p:cNvPr name="Group 35" id="35"/>
          <p:cNvGrpSpPr/>
          <p:nvPr/>
        </p:nvGrpSpPr>
        <p:grpSpPr>
          <a:xfrm rot="0">
            <a:off x="9163874" y="3284279"/>
            <a:ext cx="9034117" cy="4016308"/>
            <a:chOff x="0" y="0"/>
            <a:chExt cx="12045489" cy="5355077"/>
          </a:xfrm>
        </p:grpSpPr>
        <p:sp>
          <p:nvSpPr>
            <p:cNvPr name="Freeform 36" id="36"/>
            <p:cNvSpPr/>
            <p:nvPr/>
          </p:nvSpPr>
          <p:spPr>
            <a:xfrm flipH="false" flipV="false" rot="0">
              <a:off x="593483" y="601101"/>
              <a:ext cx="4472839" cy="4472839"/>
            </a:xfrm>
            <a:custGeom>
              <a:avLst/>
              <a:gdLst/>
              <a:ahLst/>
              <a:cxnLst/>
              <a:rect r="r" b="b" t="t" l="l"/>
              <a:pathLst>
                <a:path h="4472839" w="4472839">
                  <a:moveTo>
                    <a:pt x="0" y="0"/>
                  </a:moveTo>
                  <a:lnTo>
                    <a:pt x="4472839" y="0"/>
                  </a:lnTo>
                  <a:lnTo>
                    <a:pt x="4472839" y="4472838"/>
                  </a:lnTo>
                  <a:lnTo>
                    <a:pt x="0" y="44728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7" id="37"/>
            <p:cNvGrpSpPr/>
            <p:nvPr/>
          </p:nvGrpSpPr>
          <p:grpSpPr>
            <a:xfrm rot="0">
              <a:off x="0" y="83437"/>
              <a:ext cx="1521189" cy="1425697"/>
              <a:chOff x="0" y="0"/>
              <a:chExt cx="867241" cy="812800"/>
            </a:xfrm>
          </p:grpSpPr>
          <p:sp>
            <p:nvSpPr>
              <p:cNvPr name="Freeform 38" id="38"/>
              <p:cNvSpPr/>
              <p:nvPr/>
            </p:nvSpPr>
            <p:spPr>
              <a:xfrm flipH="false" flipV="false" rot="0">
                <a:off x="0" y="0"/>
                <a:ext cx="867241" cy="812800"/>
              </a:xfrm>
              <a:custGeom>
                <a:avLst/>
                <a:gdLst/>
                <a:ahLst/>
                <a:cxnLst/>
                <a:rect r="r" b="b" t="t" l="l"/>
                <a:pathLst>
                  <a:path h="812800" w="867241">
                    <a:moveTo>
                      <a:pt x="433620" y="0"/>
                    </a:moveTo>
                    <a:cubicBezTo>
                      <a:pt x="194139" y="0"/>
                      <a:pt x="0" y="181951"/>
                      <a:pt x="0" y="406400"/>
                    </a:cubicBezTo>
                    <a:cubicBezTo>
                      <a:pt x="0" y="630849"/>
                      <a:pt x="194139" y="812800"/>
                      <a:pt x="433620" y="812800"/>
                    </a:cubicBezTo>
                    <a:cubicBezTo>
                      <a:pt x="673102" y="812800"/>
                      <a:pt x="867241" y="630849"/>
                      <a:pt x="867241" y="406400"/>
                    </a:cubicBezTo>
                    <a:cubicBezTo>
                      <a:pt x="867241" y="181951"/>
                      <a:pt x="673102" y="0"/>
                      <a:pt x="433620"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a:ln cap="sq">
                <a:noFill/>
                <a:prstDash val="solid"/>
                <a:miter/>
              </a:ln>
            </p:spPr>
          </p:sp>
          <p:sp>
            <p:nvSpPr>
              <p:cNvPr name="TextBox 39" id="39"/>
              <p:cNvSpPr txBox="true"/>
              <p:nvPr/>
            </p:nvSpPr>
            <p:spPr>
              <a:xfrm>
                <a:off x="81304" y="38100"/>
                <a:ext cx="704633" cy="698500"/>
              </a:xfrm>
              <a:prstGeom prst="rect">
                <a:avLst/>
              </a:prstGeom>
            </p:spPr>
            <p:txBody>
              <a:bodyPr anchor="ctr" rtlCol="false" tIns="50800" lIns="50800" bIns="50800" rIns="50800"/>
              <a:lstStyle/>
              <a:p>
                <a:pPr algn="ctr">
                  <a:lnSpc>
                    <a:spcPts val="2660"/>
                  </a:lnSpc>
                </a:pPr>
              </a:p>
            </p:txBody>
          </p:sp>
        </p:grpSp>
        <p:sp>
          <p:nvSpPr>
            <p:cNvPr name="TextBox 40" id="40"/>
            <p:cNvSpPr txBox="true"/>
            <p:nvPr/>
          </p:nvSpPr>
          <p:spPr>
            <a:xfrm rot="0">
              <a:off x="268233" y="418020"/>
              <a:ext cx="984723" cy="699383"/>
            </a:xfrm>
            <a:prstGeom prst="rect">
              <a:avLst/>
            </a:prstGeom>
          </p:spPr>
          <p:txBody>
            <a:bodyPr anchor="t" rtlCol="false" tIns="0" lIns="0" bIns="0" rIns="0">
              <a:spAutoFit/>
            </a:bodyPr>
            <a:lstStyle/>
            <a:p>
              <a:pPr algn="ctr">
                <a:lnSpc>
                  <a:spcPts val="4112"/>
                </a:lnSpc>
              </a:pPr>
              <a:r>
                <a:rPr lang="en-US" sz="3187" spc="-9">
                  <a:solidFill>
                    <a:srgbClr val="FFFFFF"/>
                  </a:solidFill>
                  <a:latin typeface="Poppins"/>
                  <a:ea typeface="Poppins"/>
                  <a:cs typeface="Poppins"/>
                  <a:sym typeface="Poppins"/>
                </a:rPr>
                <a:t>01</a:t>
              </a:r>
            </a:p>
          </p:txBody>
        </p:sp>
        <p:sp>
          <p:nvSpPr>
            <p:cNvPr name="TextBox 41" id="41"/>
            <p:cNvSpPr txBox="true"/>
            <p:nvPr/>
          </p:nvSpPr>
          <p:spPr>
            <a:xfrm rot="0">
              <a:off x="1225089" y="1294963"/>
              <a:ext cx="10820400" cy="554723"/>
            </a:xfrm>
            <a:prstGeom prst="rect">
              <a:avLst/>
            </a:prstGeom>
          </p:spPr>
          <p:txBody>
            <a:bodyPr anchor="t" rtlCol="false" tIns="0" lIns="0" bIns="0" rIns="0">
              <a:spAutoFit/>
            </a:bodyPr>
            <a:lstStyle/>
            <a:p>
              <a:pPr algn="l">
                <a:lnSpc>
                  <a:spcPts val="3318"/>
                </a:lnSpc>
              </a:pPr>
              <a:r>
                <a:rPr lang="en-US" b="true" sz="2370" spc="-59">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CONCLUSSION 3:-</a:t>
              </a:r>
            </a:p>
          </p:txBody>
        </p:sp>
        <p:grpSp>
          <p:nvGrpSpPr>
            <p:cNvPr name="Group 42" id="42"/>
            <p:cNvGrpSpPr/>
            <p:nvPr/>
          </p:nvGrpSpPr>
          <p:grpSpPr>
            <a:xfrm rot="0">
              <a:off x="5399944" y="156652"/>
              <a:ext cx="6289082" cy="4917287"/>
              <a:chOff x="0" y="0"/>
              <a:chExt cx="2037561" cy="1593121"/>
            </a:xfrm>
          </p:grpSpPr>
          <p:sp>
            <p:nvSpPr>
              <p:cNvPr name="Freeform 43" id="43"/>
              <p:cNvSpPr/>
              <p:nvPr/>
            </p:nvSpPr>
            <p:spPr>
              <a:xfrm flipH="false" flipV="false" rot="0">
                <a:off x="0" y="0"/>
                <a:ext cx="2037561" cy="1593121"/>
              </a:xfrm>
              <a:custGeom>
                <a:avLst/>
                <a:gdLst/>
                <a:ahLst/>
                <a:cxnLst/>
                <a:rect r="r" b="b" t="t" l="l"/>
                <a:pathLst>
                  <a:path h="1593121" w="2037561">
                    <a:moveTo>
                      <a:pt x="101029" y="0"/>
                    </a:moveTo>
                    <a:lnTo>
                      <a:pt x="1936532" y="0"/>
                    </a:lnTo>
                    <a:cubicBezTo>
                      <a:pt x="1992329" y="0"/>
                      <a:pt x="2037561" y="45232"/>
                      <a:pt x="2037561" y="101029"/>
                    </a:cubicBezTo>
                    <a:lnTo>
                      <a:pt x="2037561" y="1492093"/>
                    </a:lnTo>
                    <a:cubicBezTo>
                      <a:pt x="2037561" y="1547889"/>
                      <a:pt x="1992329" y="1593121"/>
                      <a:pt x="1936532" y="1593121"/>
                    </a:cubicBezTo>
                    <a:lnTo>
                      <a:pt x="101029" y="1593121"/>
                    </a:lnTo>
                    <a:cubicBezTo>
                      <a:pt x="45232" y="1593121"/>
                      <a:pt x="0" y="1547889"/>
                      <a:pt x="0" y="1492093"/>
                    </a:cubicBezTo>
                    <a:lnTo>
                      <a:pt x="0" y="101029"/>
                    </a:lnTo>
                    <a:cubicBezTo>
                      <a:pt x="0" y="45232"/>
                      <a:pt x="45232" y="0"/>
                      <a:pt x="101029" y="0"/>
                    </a:cubicBezTo>
                    <a:close/>
                  </a:path>
                </a:pathLst>
              </a:custGeom>
              <a:gradFill rotWithShape="true">
                <a:gsLst>
                  <a:gs pos="0">
                    <a:srgbClr val="293E9C">
                      <a:alpha val="100000"/>
                    </a:srgbClr>
                  </a:gs>
                  <a:gs pos="100000">
                    <a:srgbClr val="3A58E4">
                      <a:alpha val="100000"/>
                    </a:srgbClr>
                  </a:gs>
                </a:gsLst>
                <a:path path="circle">
                  <a:fillToRect l="0" r="100000" t="0" b="100000"/>
                </a:path>
                <a:tileRect r="0" l="-100000" b="0" t="-100000"/>
              </a:gradFill>
            </p:spPr>
          </p:sp>
          <p:sp>
            <p:nvSpPr>
              <p:cNvPr name="TextBox 44" id="44"/>
              <p:cNvSpPr txBox="true"/>
              <p:nvPr/>
            </p:nvSpPr>
            <p:spPr>
              <a:xfrm>
                <a:off x="0" y="-38100"/>
                <a:ext cx="2037561" cy="1631221"/>
              </a:xfrm>
              <a:prstGeom prst="rect">
                <a:avLst/>
              </a:prstGeom>
            </p:spPr>
            <p:txBody>
              <a:bodyPr anchor="ctr" rtlCol="false" tIns="23318" lIns="23318" bIns="23318" rIns="23318"/>
              <a:lstStyle/>
              <a:p>
                <a:pPr algn="ctr">
                  <a:lnSpc>
                    <a:spcPts val="2660"/>
                  </a:lnSpc>
                  <a:spcBef>
                    <a:spcPct val="0"/>
                  </a:spcBef>
                </a:pPr>
              </a:p>
            </p:txBody>
          </p:sp>
        </p:grpSp>
        <p:sp>
          <p:nvSpPr>
            <p:cNvPr name="Freeform 45" id="45"/>
            <p:cNvSpPr/>
            <p:nvPr/>
          </p:nvSpPr>
          <p:spPr>
            <a:xfrm flipH="false" flipV="false" rot="1619375">
              <a:off x="4537053" y="232773"/>
              <a:ext cx="1357988" cy="1384139"/>
            </a:xfrm>
            <a:custGeom>
              <a:avLst/>
              <a:gdLst/>
              <a:ahLst/>
              <a:cxnLst/>
              <a:rect r="r" b="b" t="t" l="l"/>
              <a:pathLst>
                <a:path h="1384139" w="1357988">
                  <a:moveTo>
                    <a:pt x="0" y="0"/>
                  </a:moveTo>
                  <a:lnTo>
                    <a:pt x="1357988" y="0"/>
                  </a:lnTo>
                  <a:lnTo>
                    <a:pt x="1357988" y="1384139"/>
                  </a:lnTo>
                  <a:lnTo>
                    <a:pt x="0" y="13841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6" id="46"/>
            <p:cNvSpPr txBox="true"/>
            <p:nvPr/>
          </p:nvSpPr>
          <p:spPr>
            <a:xfrm rot="0">
              <a:off x="1225089" y="3765741"/>
              <a:ext cx="3209626" cy="524043"/>
            </a:xfrm>
            <a:prstGeom prst="rect">
              <a:avLst/>
            </a:prstGeom>
          </p:spPr>
          <p:txBody>
            <a:bodyPr anchor="t" rtlCol="false" tIns="0" lIns="0" bIns="0" rIns="0">
              <a:spAutoFit/>
            </a:bodyPr>
            <a:lstStyle/>
            <a:p>
              <a:pPr algn="just">
                <a:lnSpc>
                  <a:spcPts val="3174"/>
                </a:lnSpc>
              </a:pPr>
            </a:p>
          </p:txBody>
        </p:sp>
        <p:sp>
          <p:nvSpPr>
            <p:cNvPr name="TextBox 47" id="47"/>
            <p:cNvSpPr txBox="true"/>
            <p:nvPr/>
          </p:nvSpPr>
          <p:spPr>
            <a:xfrm rot="0">
              <a:off x="6086566" y="469907"/>
              <a:ext cx="4225766" cy="1046056"/>
            </a:xfrm>
            <a:prstGeom prst="rect">
              <a:avLst/>
            </a:prstGeom>
          </p:spPr>
          <p:txBody>
            <a:bodyPr anchor="t" rtlCol="false" tIns="0" lIns="0" bIns="0" rIns="0">
              <a:spAutoFit/>
            </a:bodyPr>
            <a:lstStyle/>
            <a:p>
              <a:pPr algn="ctr">
                <a:lnSpc>
                  <a:spcPts val="3220"/>
                </a:lnSpc>
                <a:spcBef>
                  <a:spcPct val="0"/>
                </a:spcBef>
              </a:pPr>
              <a:r>
                <a:rPr lang="en-US" b="true" sz="2300">
                  <a:solidFill>
                    <a:srgbClr val="FFFFFF"/>
                  </a:solidFill>
                  <a:latin typeface="Poppins Bold"/>
                  <a:ea typeface="Poppins Bold"/>
                  <a:cs typeface="Poppins Bold"/>
                  <a:sym typeface="Poppins Bold"/>
                </a:rPr>
                <a:t>Supporting Evidence:-</a:t>
              </a:r>
            </a:p>
          </p:txBody>
        </p:sp>
        <p:sp>
          <p:nvSpPr>
            <p:cNvPr name="TextBox 48" id="48"/>
            <p:cNvSpPr txBox="true"/>
            <p:nvPr/>
          </p:nvSpPr>
          <p:spPr>
            <a:xfrm rot="0">
              <a:off x="5427211" y="4831787"/>
              <a:ext cx="5544476" cy="523290"/>
            </a:xfrm>
            <a:prstGeom prst="rect">
              <a:avLst/>
            </a:prstGeom>
          </p:spPr>
          <p:txBody>
            <a:bodyPr anchor="t" rtlCol="false" tIns="0" lIns="0" bIns="0" rIns="0">
              <a:spAutoFit/>
            </a:bodyPr>
            <a:lstStyle/>
            <a:p>
              <a:pPr algn="just">
                <a:lnSpc>
                  <a:spcPts val="3174"/>
                </a:lnSpc>
              </a:pPr>
            </a:p>
          </p:txBody>
        </p:sp>
      </p:grpSp>
      <p:sp>
        <p:nvSpPr>
          <p:cNvPr name="Freeform 49" id="49"/>
          <p:cNvSpPr/>
          <p:nvPr/>
        </p:nvSpPr>
        <p:spPr>
          <a:xfrm flipH="false" flipV="false" rot="0">
            <a:off x="-234927" y="1339128"/>
            <a:ext cx="620452" cy="620452"/>
          </a:xfrm>
          <a:custGeom>
            <a:avLst/>
            <a:gdLst/>
            <a:ahLst/>
            <a:cxnLst/>
            <a:rect r="r" b="b" t="t" l="l"/>
            <a:pathLst>
              <a:path h="620452" w="620452">
                <a:moveTo>
                  <a:pt x="0" y="0"/>
                </a:moveTo>
                <a:lnTo>
                  <a:pt x="620452" y="0"/>
                </a:lnTo>
                <a:lnTo>
                  <a:pt x="620452" y="620452"/>
                </a:lnTo>
                <a:lnTo>
                  <a:pt x="0" y="6204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50" id="50"/>
          <p:cNvGrpSpPr/>
          <p:nvPr/>
        </p:nvGrpSpPr>
        <p:grpSpPr>
          <a:xfrm rot="0">
            <a:off x="5932078" y="0"/>
            <a:ext cx="8318524" cy="1846432"/>
            <a:chOff x="0" y="0"/>
            <a:chExt cx="11091365" cy="2461909"/>
          </a:xfrm>
        </p:grpSpPr>
        <p:sp>
          <p:nvSpPr>
            <p:cNvPr name="TextBox 51" id="51"/>
            <p:cNvSpPr txBox="true"/>
            <p:nvPr/>
          </p:nvSpPr>
          <p:spPr>
            <a:xfrm rot="0">
              <a:off x="0" y="142875"/>
              <a:ext cx="8819203" cy="1309815"/>
            </a:xfrm>
            <a:prstGeom prst="rect">
              <a:avLst/>
            </a:prstGeom>
          </p:spPr>
          <p:txBody>
            <a:bodyPr anchor="t" rtlCol="false" tIns="0" lIns="0" bIns="0" rIns="0">
              <a:spAutoFit/>
            </a:bodyPr>
            <a:lstStyle/>
            <a:p>
              <a:pPr algn="l">
                <a:lnSpc>
                  <a:spcPts val="7037"/>
                </a:lnSpc>
              </a:pPr>
              <a:r>
                <a:rPr lang="en-US" sz="7181" spc="-459">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Findings Report</a:t>
              </a:r>
            </a:p>
          </p:txBody>
        </p:sp>
        <p:sp>
          <p:nvSpPr>
            <p:cNvPr name="TextBox 52" id="52"/>
            <p:cNvSpPr txBox="true"/>
            <p:nvPr/>
          </p:nvSpPr>
          <p:spPr>
            <a:xfrm rot="0">
              <a:off x="281120" y="1349360"/>
              <a:ext cx="10810246" cy="1112549"/>
            </a:xfrm>
            <a:prstGeom prst="rect">
              <a:avLst/>
            </a:prstGeom>
          </p:spPr>
          <p:txBody>
            <a:bodyPr anchor="t" rtlCol="false" tIns="0" lIns="0" bIns="0" rIns="0">
              <a:spAutoFit/>
            </a:bodyPr>
            <a:lstStyle/>
            <a:p>
              <a:pPr algn="l">
                <a:lnSpc>
                  <a:spcPts val="3315"/>
                </a:lnSpc>
              </a:pPr>
              <a:r>
                <a:rPr lang="en-US" sz="2368" spc="-59">
                  <a:gradFill>
                    <a:gsLst>
                      <a:gs pos="0">
                        <a:srgbClr val="3A58E4">
                          <a:alpha val="100000"/>
                        </a:srgbClr>
                      </a:gs>
                      <a:gs pos="100000">
                        <a:srgbClr val="293E9C">
                          <a:alpha val="100000"/>
                        </a:srgbClr>
                      </a:gs>
                    </a:gsLst>
                    <a:path path="circle">
                      <a:fillToRect l="0" r="100000" t="0" b="100000"/>
                    </a:path>
                    <a:tileRect r="0" l="-100000" b="0" t="-100000"/>
                  </a:gradFill>
                  <a:latin typeface="Poppins"/>
                  <a:ea typeface="Poppins"/>
                  <a:cs typeface="Poppins"/>
                  <a:sym typeface="Poppins"/>
                </a:rPr>
                <a:t>SUMMARY CONCLUSIONS &amp; FINDINGS</a:t>
              </a:r>
            </a:p>
            <a:p>
              <a:pPr algn="l">
                <a:lnSpc>
                  <a:spcPts val="3315"/>
                </a:lnSpc>
              </a:pPr>
            </a:p>
          </p:txBody>
        </p:sp>
      </p:grpSp>
      <p:sp>
        <p:nvSpPr>
          <p:cNvPr name="Freeform 53" id="53"/>
          <p:cNvSpPr/>
          <p:nvPr/>
        </p:nvSpPr>
        <p:spPr>
          <a:xfrm flipH="false" flipV="false" rot="0">
            <a:off x="17977774" y="1339128"/>
            <a:ext cx="620452" cy="620452"/>
          </a:xfrm>
          <a:custGeom>
            <a:avLst/>
            <a:gdLst/>
            <a:ahLst/>
            <a:cxnLst/>
            <a:rect r="r" b="b" t="t" l="l"/>
            <a:pathLst>
              <a:path h="620452" w="620452">
                <a:moveTo>
                  <a:pt x="0" y="0"/>
                </a:moveTo>
                <a:lnTo>
                  <a:pt x="620452" y="0"/>
                </a:lnTo>
                <a:lnTo>
                  <a:pt x="620452" y="620452"/>
                </a:lnTo>
                <a:lnTo>
                  <a:pt x="0" y="62045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AutoShape 54" id="54"/>
          <p:cNvSpPr/>
          <p:nvPr/>
        </p:nvSpPr>
        <p:spPr>
          <a:xfrm>
            <a:off x="385525" y="1630304"/>
            <a:ext cx="17679515" cy="0"/>
          </a:xfrm>
          <a:prstGeom prst="line">
            <a:avLst/>
          </a:prstGeom>
          <a:ln cap="flat" w="38100">
            <a:solidFill>
              <a:srgbClr val="C6D6FF"/>
            </a:solidFill>
            <a:prstDash val="solid"/>
            <a:headEnd type="none" len="sm" w="sm"/>
            <a:tailEnd type="none" len="sm" w="sm"/>
          </a:ln>
        </p:spPr>
      </p:sp>
      <p:sp>
        <p:nvSpPr>
          <p:cNvPr name="TextBox 55" id="55"/>
          <p:cNvSpPr txBox="true"/>
          <p:nvPr/>
        </p:nvSpPr>
        <p:spPr>
          <a:xfrm rot="0">
            <a:off x="9751559" y="4813714"/>
            <a:ext cx="3196301" cy="1118235"/>
          </a:xfrm>
          <a:prstGeom prst="rect">
            <a:avLst/>
          </a:prstGeom>
        </p:spPr>
        <p:txBody>
          <a:bodyPr anchor="t" rtlCol="false" tIns="0" lIns="0" bIns="0" rIns="0">
            <a:spAutoFit/>
          </a:bodyPr>
          <a:lstStyle/>
          <a:p>
            <a:pPr algn="ctr">
              <a:lnSpc>
                <a:spcPts val="2940"/>
              </a:lnSpc>
              <a:spcBef>
                <a:spcPct val="0"/>
              </a:spcBef>
            </a:pPr>
            <a:r>
              <a:rPr lang="en-US" sz="2100">
                <a:solidFill>
                  <a:srgbClr val="3A58E4"/>
                </a:solidFill>
                <a:latin typeface="Poppins"/>
                <a:ea typeface="Poppins"/>
                <a:cs typeface="Poppins"/>
                <a:sym typeface="Poppins"/>
              </a:rPr>
              <a:t>Data quality significantly affects analytical outcomes.</a:t>
            </a:r>
          </a:p>
        </p:txBody>
      </p:sp>
      <p:sp>
        <p:nvSpPr>
          <p:cNvPr name="TextBox 56" id="56"/>
          <p:cNvSpPr txBox="true"/>
          <p:nvPr/>
        </p:nvSpPr>
        <p:spPr>
          <a:xfrm rot="0">
            <a:off x="13460467" y="4554078"/>
            <a:ext cx="4201130" cy="1943735"/>
          </a:xfrm>
          <a:prstGeom prst="rect">
            <a:avLst/>
          </a:prstGeom>
        </p:spPr>
        <p:txBody>
          <a:bodyPr anchor="t" rtlCol="false" tIns="0" lIns="0" bIns="0" rIns="0">
            <a:spAutoFit/>
          </a:bodyPr>
          <a:lstStyle/>
          <a:p>
            <a:pPr algn="l" marL="399416" indent="-199708" lvl="1">
              <a:lnSpc>
                <a:spcPts val="2590"/>
              </a:lnSpc>
              <a:buFont typeface="Arial"/>
              <a:buChar char="•"/>
            </a:pPr>
            <a:r>
              <a:rPr lang="en-US" sz="1850">
                <a:solidFill>
                  <a:srgbClr val="FFFFFF"/>
                </a:solidFill>
                <a:latin typeface="Poppins"/>
                <a:ea typeface="Poppins"/>
                <a:cs typeface="Poppins"/>
                <a:sym typeface="Poppins"/>
              </a:rPr>
              <a:t>Only 62 of 299 scraped postings included skill information.</a:t>
            </a:r>
          </a:p>
          <a:p>
            <a:pPr algn="l" marL="399416" indent="-199708" lvl="1">
              <a:lnSpc>
                <a:spcPts val="2590"/>
              </a:lnSpc>
              <a:buFont typeface="Arial"/>
              <a:buChar char="•"/>
            </a:pPr>
            <a:r>
              <a:rPr lang="en-US" sz="1850">
                <a:solidFill>
                  <a:srgbClr val="FFFFFF"/>
                </a:solidFill>
                <a:latin typeface="Poppins"/>
                <a:ea typeface="Poppins"/>
                <a:cs typeface="Poppins"/>
                <a:sym typeface="Poppins"/>
              </a:rPr>
              <a:t>Filtering incomplete records improved the reliability and consistency of the dashboard insights.</a:t>
            </a:r>
          </a:p>
        </p:txBody>
      </p:sp>
    </p:spTree>
  </p:cSld>
  <p:clrMapOvr>
    <a:masterClrMapping/>
  </p:clrMapOvr>
  <p:transition spd="med">
    <p:push dir="l"/>
  </p:transition>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784141" y="2469815"/>
            <a:ext cx="49740" cy="2131307"/>
            <a:chOff x="0" y="0"/>
            <a:chExt cx="12543" cy="537460"/>
          </a:xfrm>
        </p:grpSpPr>
        <p:sp>
          <p:nvSpPr>
            <p:cNvPr name="Freeform 3" id="3"/>
            <p:cNvSpPr/>
            <p:nvPr/>
          </p:nvSpPr>
          <p:spPr>
            <a:xfrm flipH="false" flipV="false" rot="0">
              <a:off x="0" y="0"/>
              <a:ext cx="12543" cy="537460"/>
            </a:xfrm>
            <a:custGeom>
              <a:avLst/>
              <a:gdLst/>
              <a:ahLst/>
              <a:cxnLst/>
              <a:rect r="r" b="b" t="t" l="l"/>
              <a:pathLst>
                <a:path h="537460" w="12543">
                  <a:moveTo>
                    <a:pt x="0" y="0"/>
                  </a:moveTo>
                  <a:lnTo>
                    <a:pt x="12543" y="0"/>
                  </a:lnTo>
                  <a:lnTo>
                    <a:pt x="12543" y="537460"/>
                  </a:lnTo>
                  <a:lnTo>
                    <a:pt x="0" y="537460"/>
                  </a:lnTo>
                  <a:close/>
                </a:path>
              </a:pathLst>
            </a:custGeom>
            <a:solidFill>
              <a:srgbClr val="3A58E4"/>
            </a:solidFill>
          </p:spPr>
        </p:sp>
        <p:sp>
          <p:nvSpPr>
            <p:cNvPr name="TextBox 4" id="4"/>
            <p:cNvSpPr txBox="true"/>
            <p:nvPr/>
          </p:nvSpPr>
          <p:spPr>
            <a:xfrm>
              <a:off x="0" y="-57150"/>
              <a:ext cx="12543" cy="594610"/>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8784141" y="5063185"/>
            <a:ext cx="5963604" cy="888748"/>
          </a:xfrm>
          <a:prstGeom prst="rect">
            <a:avLst/>
          </a:prstGeom>
        </p:spPr>
        <p:txBody>
          <a:bodyPr anchor="t" rtlCol="false" tIns="0" lIns="0" bIns="0" rIns="0">
            <a:spAutoFit/>
          </a:bodyPr>
          <a:lstStyle/>
          <a:p>
            <a:pPr algn="l">
              <a:lnSpc>
                <a:spcPts val="3465"/>
              </a:lnSpc>
            </a:pPr>
            <a:r>
              <a:rPr lang="en-US" b="true" sz="2475" spc="-61">
                <a:gradFill>
                  <a:gsLst>
                    <a:gs pos="0">
                      <a:srgbClr val="3A58E4">
                        <a:alpha val="100000"/>
                      </a:srgbClr>
                    </a:gs>
                    <a:gs pos="100000">
                      <a:srgbClr val="293E9C">
                        <a:alpha val="100000"/>
                      </a:srgbClr>
                    </a:gs>
                  </a:gsLst>
                  <a:path path="circle">
                    <a:fillToRect l="0" r="100000" t="0" b="100000"/>
                  </a:path>
                  <a:tileRect r="0" l="-100000" b="0" t="-100000"/>
                </a:gradFill>
                <a:latin typeface="Poppins Bold"/>
                <a:ea typeface="Poppins Bold"/>
                <a:cs typeface="Poppins Bold"/>
                <a:sym typeface="Poppins Bold"/>
              </a:rPr>
              <a:t>OPEN DISCUSSION AND FEEDBACK ON PRESENTED FINDINGS</a:t>
            </a:r>
          </a:p>
        </p:txBody>
      </p:sp>
      <p:grpSp>
        <p:nvGrpSpPr>
          <p:cNvPr name="Group 6" id="6"/>
          <p:cNvGrpSpPr/>
          <p:nvPr/>
        </p:nvGrpSpPr>
        <p:grpSpPr>
          <a:xfrm rot="0">
            <a:off x="16438046" y="0"/>
            <a:ext cx="1849954" cy="1848166"/>
            <a:chOff x="0" y="0"/>
            <a:chExt cx="2466605" cy="2464222"/>
          </a:xfrm>
        </p:grpSpPr>
        <p:grpSp>
          <p:nvGrpSpPr>
            <p:cNvPr name="Group 7" id="7"/>
            <p:cNvGrpSpPr/>
            <p:nvPr/>
          </p:nvGrpSpPr>
          <p:grpSpPr>
            <a:xfrm rot="0">
              <a:off x="0" y="0"/>
              <a:ext cx="2466605" cy="2464222"/>
              <a:chOff x="0" y="0"/>
              <a:chExt cx="787566" cy="786805"/>
            </a:xfrm>
          </p:grpSpPr>
          <p:sp>
            <p:nvSpPr>
              <p:cNvPr name="Freeform 8" id="8"/>
              <p:cNvSpPr/>
              <p:nvPr/>
            </p:nvSpPr>
            <p:spPr>
              <a:xfrm flipH="false" flipV="false" rot="0">
                <a:off x="0" y="0"/>
                <a:ext cx="787566" cy="786805"/>
              </a:xfrm>
              <a:custGeom>
                <a:avLst/>
                <a:gdLst/>
                <a:ahLst/>
                <a:cxnLst/>
                <a:rect r="r" b="b" t="t" l="l"/>
                <a:pathLst>
                  <a:path h="786805" w="787566">
                    <a:moveTo>
                      <a:pt x="0" y="0"/>
                    </a:moveTo>
                    <a:lnTo>
                      <a:pt x="787566" y="0"/>
                    </a:lnTo>
                    <a:lnTo>
                      <a:pt x="787566" y="786805"/>
                    </a:lnTo>
                    <a:lnTo>
                      <a:pt x="0" y="786805"/>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9" id="9"/>
              <p:cNvSpPr txBox="true"/>
              <p:nvPr/>
            </p:nvSpPr>
            <p:spPr>
              <a:xfrm>
                <a:off x="0" y="-38100"/>
                <a:ext cx="787566" cy="824905"/>
              </a:xfrm>
              <a:prstGeom prst="rect">
                <a:avLst/>
              </a:prstGeom>
            </p:spPr>
            <p:txBody>
              <a:bodyPr anchor="ctr" rtlCol="false" tIns="50800" lIns="50800" bIns="50800" rIns="50800"/>
              <a:lstStyle/>
              <a:p>
                <a:pPr algn="ctr">
                  <a:lnSpc>
                    <a:spcPts val="2659"/>
                  </a:lnSpc>
                  <a:spcBef>
                    <a:spcPct val="0"/>
                  </a:spcBef>
                </a:pPr>
              </a:p>
            </p:txBody>
          </p:sp>
        </p:grpSp>
        <p:sp>
          <p:nvSpPr>
            <p:cNvPr name="TextBox 10" id="10"/>
            <p:cNvSpPr txBox="true"/>
            <p:nvPr/>
          </p:nvSpPr>
          <p:spPr>
            <a:xfrm rot="0">
              <a:off x="319164" y="694049"/>
              <a:ext cx="1828278" cy="1199949"/>
            </a:xfrm>
            <a:prstGeom prst="rect">
              <a:avLst/>
            </a:prstGeom>
          </p:spPr>
          <p:txBody>
            <a:bodyPr anchor="t" rtlCol="false" tIns="0" lIns="0" bIns="0" rIns="0">
              <a:spAutoFit/>
            </a:bodyPr>
            <a:lstStyle/>
            <a:p>
              <a:pPr algn="ctr">
                <a:lnSpc>
                  <a:spcPts val="6425"/>
                </a:lnSpc>
              </a:pPr>
              <a:r>
                <a:rPr lang="en-US" sz="6557" spc="-419">
                  <a:solidFill>
                    <a:srgbClr val="FFFFFF"/>
                  </a:solidFill>
                  <a:latin typeface="Bricolage Grotesque"/>
                  <a:ea typeface="Bricolage Grotesque"/>
                  <a:cs typeface="Bricolage Grotesque"/>
                  <a:sym typeface="Bricolage Grotesque"/>
                </a:rPr>
                <a:t>11</a:t>
              </a:r>
            </a:p>
          </p:txBody>
        </p:sp>
      </p:grpSp>
      <p:sp>
        <p:nvSpPr>
          <p:cNvPr name="Freeform 11" id="11"/>
          <p:cNvSpPr/>
          <p:nvPr/>
        </p:nvSpPr>
        <p:spPr>
          <a:xfrm flipH="false" flipV="false" rot="0">
            <a:off x="1852648" y="2469815"/>
            <a:ext cx="6204329" cy="5691387"/>
          </a:xfrm>
          <a:custGeom>
            <a:avLst/>
            <a:gdLst/>
            <a:ahLst/>
            <a:cxnLst/>
            <a:rect r="r" b="b" t="t" l="l"/>
            <a:pathLst>
              <a:path h="5691387" w="6204329">
                <a:moveTo>
                  <a:pt x="0" y="0"/>
                </a:moveTo>
                <a:lnTo>
                  <a:pt x="6204329" y="0"/>
                </a:lnTo>
                <a:lnTo>
                  <a:pt x="6204329" y="5691388"/>
                </a:lnTo>
                <a:lnTo>
                  <a:pt x="0" y="569138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2" id="12"/>
          <p:cNvSpPr txBox="true"/>
          <p:nvPr/>
        </p:nvSpPr>
        <p:spPr>
          <a:xfrm rot="0">
            <a:off x="9022336" y="2335347"/>
            <a:ext cx="6037131" cy="2609793"/>
          </a:xfrm>
          <a:prstGeom prst="rect">
            <a:avLst/>
          </a:prstGeom>
        </p:spPr>
        <p:txBody>
          <a:bodyPr anchor="t" rtlCol="false" tIns="0" lIns="0" bIns="0" rIns="0">
            <a:spAutoFit/>
          </a:bodyPr>
          <a:lstStyle/>
          <a:p>
            <a:pPr algn="l">
              <a:lnSpc>
                <a:spcPts val="10029"/>
              </a:lnSpc>
            </a:pPr>
            <a:r>
              <a:rPr lang="en-US" sz="10234" spc="-654">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Feedback Session</a:t>
            </a:r>
          </a:p>
        </p:txBody>
      </p:sp>
      <p:sp>
        <p:nvSpPr>
          <p:cNvPr name="TextBox 13" id="13"/>
          <p:cNvSpPr txBox="true"/>
          <p:nvPr/>
        </p:nvSpPr>
        <p:spPr>
          <a:xfrm rot="0">
            <a:off x="8784141" y="5935362"/>
            <a:ext cx="7651211" cy="2225841"/>
          </a:xfrm>
          <a:prstGeom prst="rect">
            <a:avLst/>
          </a:prstGeom>
        </p:spPr>
        <p:txBody>
          <a:bodyPr anchor="t" rtlCol="false" tIns="0" lIns="0" bIns="0" rIns="0">
            <a:spAutoFit/>
          </a:bodyPr>
          <a:lstStyle/>
          <a:p>
            <a:pPr algn="l" marL="673276" indent="-336638" lvl="1">
              <a:lnSpc>
                <a:spcPts val="4365"/>
              </a:lnSpc>
              <a:buFont typeface="Arial"/>
              <a:buChar char="•"/>
            </a:pPr>
            <a:r>
              <a:rPr lang="en-US" b="true" sz="3118" spc="-9">
                <a:solidFill>
                  <a:srgbClr val="3A58E4"/>
                </a:solidFill>
                <a:latin typeface="Poppins Bold"/>
                <a:ea typeface="Poppins Bold"/>
                <a:cs typeface="Poppins Bold"/>
                <a:sym typeface="Poppins Bold"/>
              </a:rPr>
              <a:t>Thank you for your attention. I welcome your questions, suggestions, and feedback regarding the project.</a:t>
            </a:r>
          </a:p>
        </p:txBody>
      </p:sp>
    </p:spTree>
  </p:cSld>
  <p:clrMapOvr>
    <a:masterClrMapping/>
  </p:clrMapOvr>
  <p:transition spd="med">
    <p:push dir="l"/>
  </p:transition>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3641386" y="0"/>
            <a:ext cx="4646614" cy="10287000"/>
            <a:chOff x="0" y="0"/>
            <a:chExt cx="1223800" cy="2709333"/>
          </a:xfrm>
        </p:grpSpPr>
        <p:sp>
          <p:nvSpPr>
            <p:cNvPr name="Freeform 3" id="3"/>
            <p:cNvSpPr/>
            <p:nvPr/>
          </p:nvSpPr>
          <p:spPr>
            <a:xfrm flipH="false" flipV="false" rot="0">
              <a:off x="0" y="0"/>
              <a:ext cx="1223800" cy="2709333"/>
            </a:xfrm>
            <a:custGeom>
              <a:avLst/>
              <a:gdLst/>
              <a:ahLst/>
              <a:cxnLst/>
              <a:rect r="r" b="b" t="t" l="l"/>
              <a:pathLst>
                <a:path h="2709333" w="1223800">
                  <a:moveTo>
                    <a:pt x="0" y="0"/>
                  </a:moveTo>
                  <a:lnTo>
                    <a:pt x="1223800" y="0"/>
                  </a:lnTo>
                  <a:lnTo>
                    <a:pt x="1223800" y="2709333"/>
                  </a:lnTo>
                  <a:lnTo>
                    <a:pt x="0" y="2709333"/>
                  </a:lnTo>
                  <a:close/>
                </a:path>
              </a:pathLst>
            </a:custGeom>
            <a:gradFill rotWithShape="true">
              <a:gsLst>
                <a:gs pos="0">
                  <a:srgbClr val="3A58E4">
                    <a:alpha val="100000"/>
                  </a:srgbClr>
                </a:gs>
                <a:gs pos="100000">
                  <a:srgbClr val="293E9C">
                    <a:alpha val="100000"/>
                  </a:srgbClr>
                </a:gs>
              </a:gsLst>
              <a:path path="circle">
                <a:fillToRect l="0" r="100000" t="0" b="100000"/>
              </a:path>
              <a:tileRect r="0" l="-100000" b="0" t="-100000"/>
            </a:gradFill>
          </p:spPr>
        </p:sp>
        <p:sp>
          <p:nvSpPr>
            <p:cNvPr name="TextBox 4" id="4"/>
            <p:cNvSpPr txBox="true"/>
            <p:nvPr/>
          </p:nvSpPr>
          <p:spPr>
            <a:xfrm>
              <a:off x="0" y="-57150"/>
              <a:ext cx="1223800" cy="2766483"/>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5112607" y="9087221"/>
            <a:ext cx="1704171" cy="342158"/>
          </a:xfrm>
          <a:prstGeom prst="rect">
            <a:avLst/>
          </a:prstGeom>
        </p:spPr>
        <p:txBody>
          <a:bodyPr anchor="t" rtlCol="false" tIns="0" lIns="0" bIns="0" rIns="0">
            <a:spAutoFit/>
          </a:bodyPr>
          <a:lstStyle/>
          <a:p>
            <a:pPr algn="ctr">
              <a:lnSpc>
                <a:spcPts val="2421"/>
              </a:lnSpc>
            </a:pPr>
            <a:r>
              <a:rPr lang="en-US" sz="2262" b="true">
                <a:solidFill>
                  <a:srgbClr val="FFFFFF"/>
                </a:solidFill>
                <a:latin typeface="Poppins Bold"/>
                <a:ea typeface="Poppins Bold"/>
                <a:cs typeface="Poppins Bold"/>
                <a:sym typeface="Poppins Bold"/>
              </a:rPr>
              <a:t>2026</a:t>
            </a:r>
          </a:p>
        </p:txBody>
      </p:sp>
      <p:sp>
        <p:nvSpPr>
          <p:cNvPr name="TextBox 6" id="6"/>
          <p:cNvSpPr txBox="true"/>
          <p:nvPr/>
        </p:nvSpPr>
        <p:spPr>
          <a:xfrm rot="0">
            <a:off x="15093141" y="9563250"/>
            <a:ext cx="1704171" cy="342158"/>
          </a:xfrm>
          <a:prstGeom prst="rect">
            <a:avLst/>
          </a:prstGeom>
        </p:spPr>
        <p:txBody>
          <a:bodyPr anchor="t" rtlCol="false" tIns="0" lIns="0" bIns="0" rIns="0">
            <a:spAutoFit/>
          </a:bodyPr>
          <a:lstStyle/>
          <a:p>
            <a:pPr algn="ctr">
              <a:lnSpc>
                <a:spcPts val="2421"/>
              </a:lnSpc>
            </a:pPr>
            <a:r>
              <a:rPr lang="en-US" sz="2262">
                <a:solidFill>
                  <a:srgbClr val="FFFFFF"/>
                </a:solidFill>
                <a:latin typeface="Poppins"/>
                <a:ea typeface="Poppins"/>
                <a:cs typeface="Poppins"/>
                <a:sym typeface="Poppins"/>
              </a:rPr>
              <a:t>Insights</a:t>
            </a:r>
          </a:p>
        </p:txBody>
      </p:sp>
      <p:grpSp>
        <p:nvGrpSpPr>
          <p:cNvPr name="Group 7" id="7"/>
          <p:cNvGrpSpPr/>
          <p:nvPr/>
        </p:nvGrpSpPr>
        <p:grpSpPr>
          <a:xfrm rot="0">
            <a:off x="8986465" y="0"/>
            <a:ext cx="4378150" cy="10287000"/>
            <a:chOff x="0" y="0"/>
            <a:chExt cx="678290" cy="1593725"/>
          </a:xfrm>
        </p:grpSpPr>
        <p:sp>
          <p:nvSpPr>
            <p:cNvPr name="Freeform 8" id="8"/>
            <p:cNvSpPr/>
            <p:nvPr/>
          </p:nvSpPr>
          <p:spPr>
            <a:xfrm flipH="false" flipV="false" rot="0">
              <a:off x="0" y="0"/>
              <a:ext cx="678290" cy="1593725"/>
            </a:xfrm>
            <a:custGeom>
              <a:avLst/>
              <a:gdLst/>
              <a:ahLst/>
              <a:cxnLst/>
              <a:rect r="r" b="b" t="t" l="l"/>
              <a:pathLst>
                <a:path h="1593725" w="678290">
                  <a:moveTo>
                    <a:pt x="0" y="0"/>
                  </a:moveTo>
                  <a:lnTo>
                    <a:pt x="678290" y="0"/>
                  </a:lnTo>
                  <a:lnTo>
                    <a:pt x="678290" y="1593725"/>
                  </a:lnTo>
                  <a:lnTo>
                    <a:pt x="0" y="1593725"/>
                  </a:lnTo>
                  <a:close/>
                </a:path>
              </a:pathLst>
            </a:custGeom>
            <a:blipFill>
              <a:blip r:embed="rId2"/>
              <a:stretch>
                <a:fillRect l="-140465" t="0" r="-177245" b="0"/>
              </a:stretch>
            </a:blipFill>
          </p:spPr>
        </p:sp>
      </p:grpSp>
      <p:sp>
        <p:nvSpPr>
          <p:cNvPr name="AutoShape 9" id="9"/>
          <p:cNvSpPr/>
          <p:nvPr/>
        </p:nvSpPr>
        <p:spPr>
          <a:xfrm>
            <a:off x="13503000" y="0"/>
            <a:ext cx="0" cy="10287000"/>
          </a:xfrm>
          <a:prstGeom prst="line">
            <a:avLst/>
          </a:prstGeom>
          <a:ln cap="rnd" w="19050">
            <a:solidFill>
              <a:srgbClr val="3A58E4"/>
            </a:solidFill>
            <a:prstDash val="solid"/>
            <a:headEnd type="none" len="sm" w="sm"/>
            <a:tailEnd type="none" len="sm" w="sm"/>
          </a:ln>
        </p:spPr>
      </p:sp>
      <p:sp>
        <p:nvSpPr>
          <p:cNvPr name="TextBox 10" id="10"/>
          <p:cNvSpPr txBox="true"/>
          <p:nvPr/>
        </p:nvSpPr>
        <p:spPr>
          <a:xfrm rot="0">
            <a:off x="1390670" y="206157"/>
            <a:ext cx="6671890" cy="1536445"/>
          </a:xfrm>
          <a:prstGeom prst="rect">
            <a:avLst/>
          </a:prstGeom>
        </p:spPr>
        <p:txBody>
          <a:bodyPr anchor="t" rtlCol="false" tIns="0" lIns="0" bIns="0" rIns="0">
            <a:spAutoFit/>
          </a:bodyPr>
          <a:lstStyle/>
          <a:p>
            <a:pPr algn="l">
              <a:lnSpc>
                <a:spcPts val="11914"/>
              </a:lnSpc>
              <a:spcBef>
                <a:spcPct val="0"/>
              </a:spcBef>
            </a:pPr>
            <a:r>
              <a:rPr lang="en-US" b="true" sz="8510" spc="-544">
                <a:gradFill>
                  <a:gsLst>
                    <a:gs pos="0">
                      <a:srgbClr val="293E9C">
                        <a:alpha val="100000"/>
                      </a:srgbClr>
                    </a:gs>
                    <a:gs pos="100000">
                      <a:srgbClr val="3A58E4">
                        <a:alpha val="100000"/>
                      </a:srgbClr>
                    </a:gs>
                  </a:gsLst>
                  <a:path path="circle">
                    <a:fillToRect l="0" r="100000" t="0" b="100000"/>
                  </a:path>
                  <a:tileRect r="0" l="-100000" b="0" t="-100000"/>
                </a:gradFill>
                <a:latin typeface="Poppins Bold"/>
                <a:ea typeface="Poppins Bold"/>
                <a:cs typeface="Poppins Bold"/>
                <a:sym typeface="Poppins Bold"/>
              </a:rPr>
              <a:t>Thank You!</a:t>
            </a:r>
          </a:p>
        </p:txBody>
      </p:sp>
      <p:sp>
        <p:nvSpPr>
          <p:cNvPr name="TextBox 11" id="11"/>
          <p:cNvSpPr txBox="true"/>
          <p:nvPr/>
        </p:nvSpPr>
        <p:spPr>
          <a:xfrm rot="0">
            <a:off x="600115" y="1714027"/>
            <a:ext cx="7462445" cy="5736590"/>
          </a:xfrm>
          <a:prstGeom prst="rect">
            <a:avLst/>
          </a:prstGeom>
        </p:spPr>
        <p:txBody>
          <a:bodyPr anchor="t" rtlCol="false" tIns="0" lIns="0" bIns="0" rIns="0">
            <a:spAutoFit/>
          </a:bodyPr>
          <a:lstStyle/>
          <a:p>
            <a:pPr algn="just">
              <a:lnSpc>
                <a:spcPts val="5079"/>
              </a:lnSpc>
            </a:pPr>
            <a:r>
              <a:rPr lang="en-US" sz="3999">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Thank you for your time and attention. I hope this project has demonstrated how data analytics can transform raw job market data into actionable insights, helping learners make informed decisions about the skills they should prioritize in today's remote job market.</a:t>
            </a:r>
          </a:p>
        </p:txBody>
      </p:sp>
      <p:sp>
        <p:nvSpPr>
          <p:cNvPr name="Freeform 12" id="12"/>
          <p:cNvSpPr/>
          <p:nvPr/>
        </p:nvSpPr>
        <p:spPr>
          <a:xfrm flipH="false" flipV="false" rot="0">
            <a:off x="15037206" y="972660"/>
            <a:ext cx="1793786" cy="1565486"/>
          </a:xfrm>
          <a:custGeom>
            <a:avLst/>
            <a:gdLst/>
            <a:ahLst/>
            <a:cxnLst/>
            <a:rect r="r" b="b" t="t" l="l"/>
            <a:pathLst>
              <a:path h="1565486" w="1793786">
                <a:moveTo>
                  <a:pt x="0" y="0"/>
                </a:moveTo>
                <a:lnTo>
                  <a:pt x="1793787" y="0"/>
                </a:lnTo>
                <a:lnTo>
                  <a:pt x="1793787" y="1565486"/>
                </a:lnTo>
                <a:lnTo>
                  <a:pt x="0" y="156548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3" id="13"/>
          <p:cNvSpPr txBox="true"/>
          <p:nvPr/>
        </p:nvSpPr>
        <p:spPr>
          <a:xfrm rot="0">
            <a:off x="14880048" y="2746308"/>
            <a:ext cx="2192239" cy="430626"/>
          </a:xfrm>
          <a:prstGeom prst="rect">
            <a:avLst/>
          </a:prstGeom>
        </p:spPr>
        <p:txBody>
          <a:bodyPr anchor="t" rtlCol="false" tIns="0" lIns="0" bIns="0" rIns="0">
            <a:spAutoFit/>
          </a:bodyPr>
          <a:lstStyle/>
          <a:p>
            <a:pPr algn="ctr">
              <a:lnSpc>
                <a:spcPts val="3114"/>
              </a:lnSpc>
            </a:pPr>
            <a:r>
              <a:rPr lang="en-US" b="true" sz="2910">
                <a:solidFill>
                  <a:srgbClr val="FFFFFF"/>
                </a:solidFill>
                <a:latin typeface="Poppins Bold"/>
                <a:ea typeface="Poppins Bold"/>
                <a:cs typeface="Poppins Bold"/>
                <a:sym typeface="Poppins Bold"/>
              </a:rPr>
              <a:t>EVOASTRA</a:t>
            </a:r>
          </a:p>
        </p:txBody>
      </p:sp>
      <p:sp>
        <p:nvSpPr>
          <p:cNvPr name="TextBox 14" id="14"/>
          <p:cNvSpPr txBox="true"/>
          <p:nvPr/>
        </p:nvSpPr>
        <p:spPr>
          <a:xfrm rot="0">
            <a:off x="14873765" y="3334109"/>
            <a:ext cx="2192239" cy="430626"/>
          </a:xfrm>
          <a:prstGeom prst="rect">
            <a:avLst/>
          </a:prstGeom>
        </p:spPr>
        <p:txBody>
          <a:bodyPr anchor="t" rtlCol="false" tIns="0" lIns="0" bIns="0" rIns="0">
            <a:spAutoFit/>
          </a:bodyPr>
          <a:lstStyle/>
          <a:p>
            <a:pPr algn="ctr">
              <a:lnSpc>
                <a:spcPts val="3114"/>
              </a:lnSpc>
            </a:pPr>
            <a:r>
              <a:rPr lang="en-US" sz="2910">
                <a:solidFill>
                  <a:srgbClr val="FFFFFF"/>
                </a:solidFill>
                <a:latin typeface="Poppins"/>
                <a:ea typeface="Poppins"/>
                <a:cs typeface="Poppins"/>
                <a:sym typeface="Poppins"/>
              </a:rPr>
              <a:t>VENTURES</a:t>
            </a:r>
          </a:p>
        </p:txBody>
      </p:sp>
    </p:spTree>
  </p:cSld>
  <p:clrMapOvr>
    <a:masterClrMapping/>
  </p:clrMapOvr>
  <p:transition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DAHPK6U648Y</dc:identifier>
  <dcterms:modified xsi:type="dcterms:W3CDTF">2011-08-01T06:04:30Z</dcterms:modified>
  <cp:revision>1</cp:revision>
  <dc:title>Blue and White Modern Data Analytics Presentation</dc:title>
</cp:coreProperties>
</file>