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8288000" cy="10287000"/>
  <p:notesSz cx="6858000" cy="9144000"/>
  <p:embeddedFontLst>
    <p:embeddedFont>
      <p:font typeface="Bricolage Grotesque" charset="1" panose="020B0605040402000204"/>
      <p:regular r:id="rId7"/>
    </p:embeddedFont>
    <p:embeddedFont>
      <p:font typeface="Poppins" charset="1" panose="00000500000000000000"/>
      <p:regular r:id="rId8"/>
    </p:embeddedFont>
    <p:embeddedFont>
      <p:font typeface="Poppins Bold" charset="1" panose="00000800000000000000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360518" y="123349"/>
            <a:ext cx="3827461" cy="1837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44"/>
              </a:lnSpc>
            </a:pPr>
            <a:r>
              <a:rPr lang="en-US" sz="7188" spc="-460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Findings Report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2065243" y="8366"/>
            <a:ext cx="47625" cy="2040668"/>
            <a:chOff x="0" y="0"/>
            <a:chExt cx="12543" cy="5374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543" cy="537460"/>
            </a:xfrm>
            <a:custGeom>
              <a:avLst/>
              <a:gdLst/>
              <a:ahLst/>
              <a:cxnLst/>
              <a:rect r="r" b="b" t="t" l="l"/>
              <a:pathLst>
                <a:path h="537460" w="12543">
                  <a:moveTo>
                    <a:pt x="0" y="0"/>
                  </a:moveTo>
                  <a:lnTo>
                    <a:pt x="12543" y="0"/>
                  </a:lnTo>
                  <a:lnTo>
                    <a:pt x="12543" y="537460"/>
                  </a:lnTo>
                  <a:lnTo>
                    <a:pt x="0" y="537460"/>
                  </a:lnTo>
                  <a:close/>
                </a:path>
              </a:pathLst>
            </a:custGeom>
            <a:solidFill>
              <a:srgbClr val="3A58E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2543" cy="5755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6438046" y="0"/>
            <a:ext cx="1849954" cy="1848166"/>
            <a:chOff x="0" y="0"/>
            <a:chExt cx="2466605" cy="2464222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2466605" cy="2464222"/>
              <a:chOff x="0" y="0"/>
              <a:chExt cx="787566" cy="786805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787566" cy="786805"/>
              </a:xfrm>
              <a:custGeom>
                <a:avLst/>
                <a:gdLst/>
                <a:ahLst/>
                <a:cxnLst/>
                <a:rect r="r" b="b" t="t" l="l"/>
                <a:pathLst>
                  <a:path h="786805" w="787566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86805"/>
                    </a:lnTo>
                    <a:lnTo>
                      <a:pt x="0" y="786805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3A58E4">
                      <a:alpha val="100000"/>
                    </a:srgbClr>
                  </a:gs>
                  <a:gs pos="100000">
                    <a:srgbClr val="293E9C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787566" cy="82490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319164" y="694049"/>
              <a:ext cx="1828278" cy="11999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425"/>
                </a:lnSpc>
              </a:pPr>
              <a:r>
                <a:rPr lang="en-US" sz="6557" spc="-419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09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0" y="8366"/>
            <a:ext cx="8863483" cy="4303567"/>
            <a:chOff x="0" y="0"/>
            <a:chExt cx="11817977" cy="5738089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1968057" y="642187"/>
              <a:ext cx="9698398" cy="10581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174"/>
                </a:lnSpc>
              </a:pPr>
              <a:r>
                <a:rPr lang="en-US" sz="2267" spc="-56">
                  <a:solidFill>
                    <a:srgbClr val="3A58E4"/>
                  </a:solidFill>
                  <a:latin typeface="Poppins"/>
                  <a:ea typeface="Poppins"/>
                  <a:cs typeface="Poppins"/>
                  <a:sym typeface="Poppins"/>
                </a:rPr>
                <a:t>Technical skills are the primary factor in remote hiring.</a:t>
              </a:r>
            </a:p>
          </p:txBody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52095" cy="652095"/>
            </a:xfrm>
            <a:custGeom>
              <a:avLst/>
              <a:gdLst/>
              <a:ahLst/>
              <a:cxnLst/>
              <a:rect r="r" b="b" t="t" l="l"/>
              <a:pathLst>
                <a:path h="652095" w="652095">
                  <a:moveTo>
                    <a:pt x="0" y="0"/>
                  </a:moveTo>
                  <a:lnTo>
                    <a:pt x="652095" y="0"/>
                  </a:lnTo>
                  <a:lnTo>
                    <a:pt x="652095" y="652095"/>
                  </a:lnTo>
                  <a:lnTo>
                    <a:pt x="0" y="6520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 rot="0">
              <a:off x="997577" y="-49061"/>
              <a:ext cx="10820400" cy="5547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18"/>
                </a:lnSpc>
              </a:pPr>
              <a:r>
                <a:rPr lang="en-US" b="true" sz="2370" spc="-59">
                  <a:gradFill>
                    <a:gsLst>
                      <a:gs pos="0">
                        <a:srgbClr val="3A58E4">
                          <a:alpha val="100000"/>
                        </a:srgbClr>
                      </a:gs>
                      <a:gs pos="100000">
                        <a:srgbClr val="293E9C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Poppins Bold"/>
                  <a:ea typeface="Poppins Bold"/>
                  <a:cs typeface="Poppins Bold"/>
                  <a:sym typeface="Poppins Bold"/>
                </a:rPr>
                <a:t>CONCLUSSION 1:-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997577" y="1827384"/>
              <a:ext cx="10820400" cy="11135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18"/>
                </a:lnSpc>
              </a:pPr>
              <a:r>
                <a:rPr lang="en-US" b="true" sz="2370" spc="-59">
                  <a:gradFill>
                    <a:gsLst>
                      <a:gs pos="0">
                        <a:srgbClr val="3A58E4">
                          <a:alpha val="100000"/>
                        </a:srgbClr>
                      </a:gs>
                      <a:gs pos="100000">
                        <a:srgbClr val="293E9C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Poppins Bold"/>
                  <a:ea typeface="Poppins Bold"/>
                  <a:cs typeface="Poppins Bold"/>
                  <a:sym typeface="Poppins Bold"/>
                </a:rPr>
                <a:t>SUPPORTING EVIDENCE:-</a:t>
              </a:r>
            </a:p>
            <a:p>
              <a:pPr algn="l">
                <a:lnSpc>
                  <a:spcPts val="3318"/>
                </a:lnSpc>
              </a:pP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1968057" y="3077432"/>
              <a:ext cx="9698398" cy="26606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489505" indent="-244753" lvl="1">
                <a:lnSpc>
                  <a:spcPts val="3174"/>
                </a:lnSpc>
                <a:buFont typeface="Arial"/>
                <a:buChar char="•"/>
              </a:pPr>
              <a:r>
                <a:rPr lang="en-US" sz="2267" spc="-56">
                  <a:solidFill>
                    <a:srgbClr val="3A58E4"/>
                  </a:solidFill>
                  <a:latin typeface="Poppins"/>
                  <a:ea typeface="Poppins"/>
                  <a:cs typeface="Poppins"/>
                  <a:sym typeface="Poppins"/>
                </a:rPr>
                <a:t>Dashboard analysis identified the Top 10 most in-demand skills.</a:t>
              </a:r>
            </a:p>
            <a:p>
              <a:pPr algn="just" marL="489505" indent="-244753" lvl="1">
                <a:lnSpc>
                  <a:spcPts val="3174"/>
                </a:lnSpc>
                <a:buFont typeface="Arial"/>
                <a:buChar char="•"/>
              </a:pPr>
              <a:r>
                <a:rPr lang="en-US" sz="2267" spc="-56">
                  <a:solidFill>
                    <a:srgbClr val="3A58E4"/>
                  </a:solidFill>
                  <a:latin typeface="Poppins"/>
                  <a:ea typeface="Poppins"/>
                  <a:cs typeface="Poppins"/>
                  <a:sym typeface="Poppins"/>
                </a:rPr>
                <a:t>The analysis was based on 62 verified job postings containing explicit skill requirements.</a:t>
              </a:r>
            </a:p>
            <a:p>
              <a:pPr algn="just">
                <a:lnSpc>
                  <a:spcPts val="3174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0" y="4202464"/>
            <a:ext cx="489071" cy="489071"/>
          </a:xfrm>
          <a:custGeom>
            <a:avLst/>
            <a:gdLst/>
            <a:ahLst/>
            <a:cxnLst/>
            <a:rect r="r" b="b" t="t" l="l"/>
            <a:pathLst>
              <a:path h="489071" w="489071">
                <a:moveTo>
                  <a:pt x="0" y="0"/>
                </a:moveTo>
                <a:lnTo>
                  <a:pt x="489071" y="0"/>
                </a:lnTo>
                <a:lnTo>
                  <a:pt x="489071" y="489071"/>
                </a:lnTo>
                <a:lnTo>
                  <a:pt x="0" y="4890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748183" y="4222818"/>
            <a:ext cx="8115300" cy="3670272"/>
            <a:chOff x="0" y="0"/>
            <a:chExt cx="10820400" cy="4893697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970480" y="615048"/>
              <a:ext cx="9216605" cy="10581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174"/>
                </a:lnSpc>
              </a:pPr>
              <a:r>
                <a:rPr lang="en-US" sz="2267" spc="-56">
                  <a:solidFill>
                    <a:srgbClr val="3A58E4"/>
                  </a:solidFill>
                  <a:latin typeface="Poppins"/>
                  <a:ea typeface="Poppins"/>
                  <a:cs typeface="Poppins"/>
                  <a:sym typeface="Poppins"/>
                </a:rPr>
                <a:t>Remote job opportunities are concentrated in specific regions, particularly the United States.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-76200"/>
              <a:ext cx="10820400" cy="5547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18"/>
                </a:lnSpc>
              </a:pPr>
              <a:r>
                <a:rPr lang="en-US" b="true" sz="2370" spc="-59">
                  <a:gradFill>
                    <a:gsLst>
                      <a:gs pos="0">
                        <a:srgbClr val="3A58E4">
                          <a:alpha val="100000"/>
                        </a:srgbClr>
                      </a:gs>
                      <a:gs pos="100000">
                        <a:srgbClr val="293E9C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Poppins Bold"/>
                  <a:ea typeface="Poppins Bold"/>
                  <a:cs typeface="Poppins Bold"/>
                  <a:sym typeface="Poppins Bold"/>
                </a:rPr>
                <a:t>CONCLUSSION 2:-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0" y="1800245"/>
              <a:ext cx="10820400" cy="11135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18"/>
                </a:lnSpc>
              </a:pPr>
              <a:r>
                <a:rPr lang="en-US" b="true" sz="2370" spc="-59">
                  <a:gradFill>
                    <a:gsLst>
                      <a:gs pos="0">
                        <a:srgbClr val="3A58E4">
                          <a:alpha val="100000"/>
                        </a:srgbClr>
                      </a:gs>
                      <a:gs pos="100000">
                        <a:srgbClr val="293E9C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Poppins Bold"/>
                  <a:ea typeface="Poppins Bold"/>
                  <a:cs typeface="Poppins Bold"/>
                  <a:sym typeface="Poppins Bold"/>
                </a:rPr>
                <a:t>SUPPORTING EVIDENCE:-</a:t>
              </a:r>
            </a:p>
            <a:p>
              <a:pPr algn="l">
                <a:lnSpc>
                  <a:spcPts val="3318"/>
                </a:lnSpc>
              </a:pP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970480" y="2647774"/>
              <a:ext cx="8219009" cy="22459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414836" indent="-207418" lvl="1">
                <a:lnSpc>
                  <a:spcPts val="2689"/>
                </a:lnSpc>
                <a:buFont typeface="Arial"/>
                <a:buChar char="•"/>
              </a:pPr>
              <a:r>
                <a:rPr lang="en-US" sz="1921" spc="-48">
                  <a:solidFill>
                    <a:srgbClr val="3A58E4"/>
                  </a:solidFill>
                  <a:latin typeface="Poppins"/>
                  <a:ea typeface="Poppins"/>
                  <a:cs typeface="Poppins"/>
                  <a:sym typeface="Poppins"/>
                </a:rPr>
                <a:t>34.8% (16 of 46) analyzed postings originated from the United States.</a:t>
              </a:r>
            </a:p>
            <a:p>
              <a:pPr algn="just" marL="414836" indent="-207418" lvl="1">
                <a:lnSpc>
                  <a:spcPts val="2689"/>
                </a:lnSpc>
                <a:buFont typeface="Arial"/>
                <a:buChar char="•"/>
              </a:pPr>
              <a:r>
                <a:rPr lang="en-US" sz="1921" spc="-48">
                  <a:solidFill>
                    <a:srgbClr val="3A58E4"/>
                  </a:solidFill>
                  <a:latin typeface="Poppins"/>
                  <a:ea typeface="Poppins"/>
                  <a:cs typeface="Poppins"/>
                  <a:sym typeface="Poppins"/>
                </a:rPr>
                <a:t>Job postings were distributed across 15 countries, indicating global demand with U.S. dominance.</a:t>
              </a:r>
            </a:p>
            <a:p>
              <a:pPr algn="just">
                <a:lnSpc>
                  <a:spcPts val="268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0810224" y="3377923"/>
            <a:ext cx="6912454" cy="810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74"/>
              </a:lnSpc>
            </a:pPr>
            <a:r>
              <a:rPr lang="en-US" sz="2267" spc="-56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Data quality significantly affects analytical outcomes.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9334181" y="2912951"/>
            <a:ext cx="489071" cy="489071"/>
          </a:xfrm>
          <a:custGeom>
            <a:avLst/>
            <a:gdLst/>
            <a:ahLst/>
            <a:cxnLst/>
            <a:rect r="r" b="b" t="t" l="l"/>
            <a:pathLst>
              <a:path h="489071" w="489071">
                <a:moveTo>
                  <a:pt x="0" y="0"/>
                </a:moveTo>
                <a:lnTo>
                  <a:pt x="489071" y="0"/>
                </a:lnTo>
                <a:lnTo>
                  <a:pt x="489071" y="489072"/>
                </a:lnTo>
                <a:lnTo>
                  <a:pt x="0" y="4890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0082364" y="2857106"/>
            <a:ext cx="8115300" cy="435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8"/>
              </a:lnSpc>
            </a:pPr>
            <a:r>
              <a:rPr lang="en-US" b="true" sz="2370" spc="-59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Poppins Bold"/>
                <a:ea typeface="Poppins Bold"/>
                <a:cs typeface="Poppins Bold"/>
                <a:sym typeface="Poppins Bold"/>
              </a:rPr>
              <a:t>CONCLUSSION 3:-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082364" y="4264439"/>
            <a:ext cx="8115300" cy="854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8"/>
              </a:lnSpc>
            </a:pPr>
            <a:r>
              <a:rPr lang="en-US" b="true" sz="2370" spc="-59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Poppins Bold"/>
                <a:ea typeface="Poppins Bold"/>
                <a:cs typeface="Poppins Bold"/>
                <a:sym typeface="Poppins Bold"/>
              </a:rPr>
              <a:t>SUPPORTING EVIDENCE:-</a:t>
            </a:r>
          </a:p>
          <a:p>
            <a:pPr algn="l">
              <a:lnSpc>
                <a:spcPts val="3318"/>
              </a:lnSpc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10810224" y="4907641"/>
            <a:ext cx="6164257" cy="2035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14836" indent="-207418" lvl="1">
              <a:lnSpc>
                <a:spcPts val="2689"/>
              </a:lnSpc>
              <a:buFont typeface="Arial"/>
              <a:buChar char="•"/>
            </a:pPr>
            <a:r>
              <a:rPr lang="en-US" sz="1921" spc="-48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Only 62 of 299 scraped postings included skill information.</a:t>
            </a:r>
          </a:p>
          <a:p>
            <a:pPr algn="just" marL="414836" indent="-207418" lvl="1">
              <a:lnSpc>
                <a:spcPts val="2689"/>
              </a:lnSpc>
              <a:buFont typeface="Arial"/>
              <a:buChar char="•"/>
            </a:pPr>
            <a:r>
              <a:rPr lang="en-US" sz="1921" spc="-48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Filtering incomplete records improved the reliability and consistency of the dashboard insights.</a:t>
            </a:r>
          </a:p>
          <a:p>
            <a:pPr algn="just">
              <a:lnSpc>
                <a:spcPts val="2689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825303" y="8371270"/>
            <a:ext cx="8115300" cy="854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8"/>
              </a:lnSpc>
            </a:pPr>
            <a:r>
              <a:rPr lang="en-US" b="true" sz="2370" spc="-59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Poppins Bold"/>
                <a:ea typeface="Poppins Bold"/>
                <a:cs typeface="Poppins Bold"/>
                <a:sym typeface="Poppins Bold"/>
              </a:rPr>
              <a:t>SUMMARY:-</a:t>
            </a:r>
          </a:p>
          <a:p>
            <a:pPr algn="l">
              <a:lnSpc>
                <a:spcPts val="3318"/>
              </a:lnSpc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3269551" y="8841661"/>
            <a:ext cx="6164257" cy="1356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89"/>
              </a:lnSpc>
            </a:pPr>
            <a:r>
              <a:rPr lang="en-US" sz="1921" spc="-48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The analysis of RemoteOK job postings identified the most in-demand skills, hiring trends, job categories, and geographic distribution using a filtered dataset containing valid skill information.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DAHPK6U648Y</dc:identifier>
  <dcterms:modified xsi:type="dcterms:W3CDTF">2011-08-01T06:04:30Z</dcterms:modified>
  <cp:revision>1</cp:revision>
  <dc:title>Blue and White Modern Data Analytics Presentation</dc:title>
</cp:coreProperties>
</file>